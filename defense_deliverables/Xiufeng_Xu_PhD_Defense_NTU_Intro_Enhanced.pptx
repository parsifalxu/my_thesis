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emf" ContentType="image/x-em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8bdb41fc694348" /><Relationship Type="http://schemas.openxmlformats.org/officeDocument/2006/relationships/extended-properties" Target="/docProps/app.xml" Id="Rf00dec4303cc4b5d" /><Relationship Type="http://schemas.openxmlformats.org/officeDocument/2006/relationships/officeDocument" Target="/ppt/presentation.xml" Id="R9662abd2641642ae" /></Relationships>
</file>

<file path=ppt/presentation.xml><?xml version="1.0" encoding="utf-8"?>
<p:presentation xmlns:p="http://schemas.openxmlformats.org/presentationml/2006/main">
  <p:sldMasterIdLst>
    <p:sldMasterId xmlns:r="http://schemas.openxmlformats.org/officeDocument/2006/relationships" id="2147483648" r:id="R5e939e52231345ec"/>
  </p:sldMasterIdLst>
  <p:notesMasterIdLst>
    <p:notesMasterId xmlns:r="http://schemas.openxmlformats.org/officeDocument/2006/relationships" r:id="Rb7ade451447b476e"/>
  </p:notesMasterIdLst>
  <p:sldIdLst>
    <p:sldId xmlns:r="http://schemas.openxmlformats.org/officeDocument/2006/relationships" id="256" r:id="R731fd73913004667"/>
    <p:sldId xmlns:r="http://schemas.openxmlformats.org/officeDocument/2006/relationships" id="257" r:id="Rd1a3cde0c5c645cd"/>
    <p:sldId xmlns:r="http://schemas.openxmlformats.org/officeDocument/2006/relationships" id="258" r:id="Rfb3edcc9f1f04298"/>
    <p:sldId xmlns:r="http://schemas.openxmlformats.org/officeDocument/2006/relationships" id="259" r:id="Rbcba55dcd48d4a1e"/>
    <p:sldId xmlns:r="http://schemas.openxmlformats.org/officeDocument/2006/relationships" id="260" r:id="Ra77b47b1b11c4c8d"/>
    <p:sldId xmlns:r="http://schemas.openxmlformats.org/officeDocument/2006/relationships" id="261" r:id="R5890626c7f944256"/>
    <p:sldId xmlns:r="http://schemas.openxmlformats.org/officeDocument/2006/relationships" id="262" r:id="R7efed767d9574b7f"/>
    <p:sldId xmlns:r="http://schemas.openxmlformats.org/officeDocument/2006/relationships" id="263" r:id="R8431a17842984a7e"/>
    <p:sldId xmlns:r="http://schemas.openxmlformats.org/officeDocument/2006/relationships" id="264" r:id="Ra16b23608d4844f6"/>
    <p:sldId xmlns:r="http://schemas.openxmlformats.org/officeDocument/2006/relationships" id="265" r:id="R4eecdcef4d3244bf"/>
    <p:sldId xmlns:r="http://schemas.openxmlformats.org/officeDocument/2006/relationships" id="266" r:id="R8863f3073da94380"/>
    <p:sldId xmlns:r="http://schemas.openxmlformats.org/officeDocument/2006/relationships" id="267" r:id="Rbd9a7a9843a5408d"/>
    <p:sldId xmlns:r="http://schemas.openxmlformats.org/officeDocument/2006/relationships" id="268" r:id="Rc43aa95a94d34a9c"/>
    <p:sldId xmlns:r="http://schemas.openxmlformats.org/officeDocument/2006/relationships" id="269" r:id="R180f22496a104fca"/>
    <p:sldId xmlns:r="http://schemas.openxmlformats.org/officeDocument/2006/relationships" id="270" r:id="R65fd95f403b54f33"/>
    <p:sldId xmlns:r="http://schemas.openxmlformats.org/officeDocument/2006/relationships" id="271" r:id="R508e3cb354224765"/>
    <p:sldId xmlns:r="http://schemas.openxmlformats.org/officeDocument/2006/relationships" id="272" r:id="R00c50891370e408a"/>
    <p:sldId xmlns:r="http://schemas.openxmlformats.org/officeDocument/2006/relationships" id="273" r:id="R39c8a5904c544593"/>
    <p:sldId xmlns:r="http://schemas.openxmlformats.org/officeDocument/2006/relationships" id="274" r:id="R8c16c1a0d6e24cec"/>
    <p:sldId xmlns:r="http://schemas.openxmlformats.org/officeDocument/2006/relationships" id="275" r:id="Rcd278e3f95e74384"/>
    <p:sldId xmlns:r="http://schemas.openxmlformats.org/officeDocument/2006/relationships" id="276" r:id="R8d93375e98b94dae"/>
    <p:sldId xmlns:r="http://schemas.openxmlformats.org/officeDocument/2006/relationships" id="277" r:id="R0c234b4626c24431"/>
    <p:sldId xmlns:r="http://schemas.openxmlformats.org/officeDocument/2006/relationships" id="278" r:id="R37588749b1f24eb8"/>
    <p:sldId xmlns:r="http://schemas.openxmlformats.org/officeDocument/2006/relationships" id="279" r:id="Red10095029dd48cb"/>
    <p:sldId xmlns:r="http://schemas.openxmlformats.org/officeDocument/2006/relationships" id="280" r:id="Rec6c9431b6e0488a"/>
    <p:sldId xmlns:r="http://schemas.openxmlformats.org/officeDocument/2006/relationships" id="281" r:id="R5eb1319ad6864429"/>
    <p:sldId xmlns:r="http://schemas.openxmlformats.org/officeDocument/2006/relationships" id="282" r:id="R8604d063fd9a4400"/>
    <p:sldId xmlns:r="http://schemas.openxmlformats.org/officeDocument/2006/relationships" id="283" r:id="Rdce93d0973834c83"/>
    <p:sldId xmlns:r="http://schemas.openxmlformats.org/officeDocument/2006/relationships" id="284" r:id="Rb668c46f31e140e7"/>
    <p:sldId xmlns:r="http://schemas.openxmlformats.org/officeDocument/2006/relationships" id="285" r:id="R4ffaa51fcc534484"/>
    <p:sldId xmlns:r="http://schemas.openxmlformats.org/officeDocument/2006/relationships" id="286" r:id="R698872ad96a34cec"/>
    <p:sldId xmlns:r="http://schemas.openxmlformats.org/officeDocument/2006/relationships" id="287" r:id="R49e716b4d54149af"/>
    <p:sldId xmlns:r="http://schemas.openxmlformats.org/officeDocument/2006/relationships" id="288" r:id="R5d274922e16c411b"/>
    <p:sldId xmlns:r="http://schemas.openxmlformats.org/officeDocument/2006/relationships" id="289" r:id="Rf28b5a329dec41c1"/>
    <p:sldId xmlns:r="http://schemas.openxmlformats.org/officeDocument/2006/relationships" id="290" r:id="Re21e7e3adab54c74"/>
    <p:sldId xmlns:r="http://schemas.openxmlformats.org/officeDocument/2006/relationships" id="291" r:id="R8647e1e450aa4497"/>
    <p:sldId xmlns:r="http://schemas.openxmlformats.org/officeDocument/2006/relationships" id="292" r:id="R08f06b1521cf4fdc"/>
    <p:sldId xmlns:r="http://schemas.openxmlformats.org/officeDocument/2006/relationships" id="293" r:id="Rae7c25c7460a4747"/>
    <p:sldId xmlns:r="http://schemas.openxmlformats.org/officeDocument/2006/relationships" id="294" r:id="R3b1fb6a39e874271"/>
    <p:sldId xmlns:r="http://schemas.openxmlformats.org/officeDocument/2006/relationships" id="295" r:id="R5fbb027d2bf448e6"/>
    <p:sldId xmlns:r="http://schemas.openxmlformats.org/officeDocument/2006/relationships" id="296" r:id="Rdf138db64db64205"/>
    <p:sldId xmlns:r="http://schemas.openxmlformats.org/officeDocument/2006/relationships" id="297" r:id="Rd2454fdba11b4e2f"/>
    <p:sldId xmlns:r="http://schemas.openxmlformats.org/officeDocument/2006/relationships" id="298" r:id="Rfada8296f43a4fc4"/>
    <p:sldId xmlns:r="http://schemas.openxmlformats.org/officeDocument/2006/relationships" id="299" r:id="R78c9ee11d84b4105"/>
    <p:sldId xmlns:r="http://schemas.openxmlformats.org/officeDocument/2006/relationships" id="300" r:id="R7bc864143d66490c"/>
    <p:sldId xmlns:r="http://schemas.openxmlformats.org/officeDocument/2006/relationships" id="301" r:id="R48de2684573b4173"/>
    <p:sldId xmlns:r="http://schemas.openxmlformats.org/officeDocument/2006/relationships" id="302" r:id="R2d5de1ffc8b247f8"/>
    <p:sldId xmlns:r="http://schemas.openxmlformats.org/officeDocument/2006/relationships" id="303" r:id="R39fc00652752406f"/>
    <p:sldId xmlns:r="http://schemas.openxmlformats.org/officeDocument/2006/relationships" id="304" r:id="Rbfcd7634549d4829"/>
    <p:sldId xmlns:r="http://schemas.openxmlformats.org/officeDocument/2006/relationships" id="305" r:id="R25ef3f6723ee4285"/>
    <p:sldId xmlns:r="http://schemas.openxmlformats.org/officeDocument/2006/relationships" id="306" r:id="R01af81ac5aac460b"/>
    <p:sldId xmlns:r="http://schemas.openxmlformats.org/officeDocument/2006/relationships" id="307" r:id="R438aaac0065d4d46"/>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a45acdebc654533" /><Relationship Type="http://schemas.openxmlformats.org/officeDocument/2006/relationships/slideMaster" Target="/ppt/slideMasters/slideMaster1.xml" Id="R5e939e52231345ec" /><Relationship Type="http://schemas.openxmlformats.org/officeDocument/2006/relationships/notesMaster" Target="/ppt/notesMasters/notesMaster1.xml" Id="Rb7ade451447b476e" /><Relationship Type="http://schemas.openxmlformats.org/officeDocument/2006/relationships/presProps" Target="/ppt/presProps.xml" Id="Re2f79665e6474a47" /><Relationship Type="http://schemas.openxmlformats.org/officeDocument/2006/relationships/viewProps" Target="/ppt/viewProps.xml" Id="Rb1744c3cdc3c4bbc" /><Relationship Type="http://schemas.openxmlformats.org/officeDocument/2006/relationships/tableStyles" Target="/ppt/tableStyles.xml" Id="R65cbc3d0c40e4b2f" /><Relationship Type="http://schemas.openxmlformats.org/officeDocument/2006/relationships/slide" Target="/ppt/slides/slide1.xml" Id="R731fd73913004667" /><Relationship Type="http://schemas.openxmlformats.org/officeDocument/2006/relationships/slide" Target="/ppt/slides/slide2.xml" Id="Rd1a3cde0c5c645cd" /><Relationship Type="http://schemas.openxmlformats.org/officeDocument/2006/relationships/slide" Target="/ppt/slides/slide3.xml" Id="Rfb3edcc9f1f04298" /><Relationship Type="http://schemas.openxmlformats.org/officeDocument/2006/relationships/slide" Target="/ppt/slides/slide4.xml" Id="Rbcba55dcd48d4a1e" /><Relationship Type="http://schemas.openxmlformats.org/officeDocument/2006/relationships/slide" Target="/ppt/slides/slide5.xml" Id="Ra77b47b1b11c4c8d" /><Relationship Type="http://schemas.openxmlformats.org/officeDocument/2006/relationships/slide" Target="/ppt/slides/slide6.xml" Id="R5890626c7f944256" /><Relationship Type="http://schemas.openxmlformats.org/officeDocument/2006/relationships/slide" Target="/ppt/slides/slide7.xml" Id="R7efed767d9574b7f" /><Relationship Type="http://schemas.openxmlformats.org/officeDocument/2006/relationships/slide" Target="/ppt/slides/slide8.xml" Id="R8431a17842984a7e" /><Relationship Type="http://schemas.openxmlformats.org/officeDocument/2006/relationships/slide" Target="/ppt/slides/slide9.xml" Id="Ra16b23608d4844f6" /><Relationship Type="http://schemas.openxmlformats.org/officeDocument/2006/relationships/slide" Target="/ppt/slides/slide10.xml" Id="R4eecdcef4d3244bf" /><Relationship Type="http://schemas.openxmlformats.org/officeDocument/2006/relationships/slide" Target="/ppt/slides/slide11.xml" Id="R8863f3073da94380" /><Relationship Type="http://schemas.openxmlformats.org/officeDocument/2006/relationships/slide" Target="/ppt/slides/slide12.xml" Id="Rbd9a7a9843a5408d" /><Relationship Type="http://schemas.openxmlformats.org/officeDocument/2006/relationships/slide" Target="/ppt/slides/slide13.xml" Id="Rc43aa95a94d34a9c" /><Relationship Type="http://schemas.openxmlformats.org/officeDocument/2006/relationships/slide" Target="/ppt/slides/slide14.xml" Id="R180f22496a104fca" /><Relationship Type="http://schemas.openxmlformats.org/officeDocument/2006/relationships/slide" Target="/ppt/slides/slide15.xml" Id="R65fd95f403b54f33" /><Relationship Type="http://schemas.openxmlformats.org/officeDocument/2006/relationships/slide" Target="/ppt/slides/slide16.xml" Id="R508e3cb354224765" /><Relationship Type="http://schemas.openxmlformats.org/officeDocument/2006/relationships/slide" Target="/ppt/slides/slide17.xml" Id="R00c50891370e408a" /><Relationship Type="http://schemas.openxmlformats.org/officeDocument/2006/relationships/slide" Target="/ppt/slides/slide18.xml" Id="R39c8a5904c544593" /><Relationship Type="http://schemas.openxmlformats.org/officeDocument/2006/relationships/slide" Target="/ppt/slides/slide19.xml" Id="R8c16c1a0d6e24cec" /><Relationship Type="http://schemas.openxmlformats.org/officeDocument/2006/relationships/slide" Target="/ppt/slides/slide20.xml" Id="Rcd278e3f95e74384" /><Relationship Type="http://schemas.openxmlformats.org/officeDocument/2006/relationships/slide" Target="/ppt/slides/slide21.xml" Id="R8d93375e98b94dae" /><Relationship Type="http://schemas.openxmlformats.org/officeDocument/2006/relationships/slide" Target="/ppt/slides/slide22.xml" Id="R0c234b4626c24431" /><Relationship Type="http://schemas.openxmlformats.org/officeDocument/2006/relationships/slide" Target="/ppt/slides/slide23.xml" Id="R37588749b1f24eb8" /><Relationship Type="http://schemas.openxmlformats.org/officeDocument/2006/relationships/slide" Target="/ppt/slides/slide24.xml" Id="Red10095029dd48cb" /><Relationship Type="http://schemas.openxmlformats.org/officeDocument/2006/relationships/slide" Target="/ppt/slides/slide25.xml" Id="Rec6c9431b6e0488a" /><Relationship Type="http://schemas.openxmlformats.org/officeDocument/2006/relationships/slide" Target="/ppt/slides/slide26.xml" Id="R5eb1319ad6864429" /><Relationship Type="http://schemas.openxmlformats.org/officeDocument/2006/relationships/slide" Target="/ppt/slides/slide27.xml" Id="R8604d063fd9a4400" /><Relationship Type="http://schemas.openxmlformats.org/officeDocument/2006/relationships/slide" Target="/ppt/slides/slide28.xml" Id="Rdce93d0973834c83" /><Relationship Type="http://schemas.openxmlformats.org/officeDocument/2006/relationships/slide" Target="/ppt/slides/slide29.xml" Id="Rb668c46f31e140e7" /><Relationship Type="http://schemas.openxmlformats.org/officeDocument/2006/relationships/slide" Target="/ppt/slides/slide30.xml" Id="R4ffaa51fcc534484" /><Relationship Type="http://schemas.openxmlformats.org/officeDocument/2006/relationships/slide" Target="/ppt/slides/slide31.xml" Id="R698872ad96a34cec" /><Relationship Type="http://schemas.openxmlformats.org/officeDocument/2006/relationships/slide" Target="/ppt/slides/slide32.xml" Id="R49e716b4d54149af" /><Relationship Type="http://schemas.openxmlformats.org/officeDocument/2006/relationships/slide" Target="/ppt/slides/slide33.xml" Id="R5d274922e16c411b" /><Relationship Type="http://schemas.openxmlformats.org/officeDocument/2006/relationships/slide" Target="/ppt/slides/slide34.xml" Id="Rf28b5a329dec41c1" /><Relationship Type="http://schemas.openxmlformats.org/officeDocument/2006/relationships/slide" Target="/ppt/slides/slide35.xml" Id="Re21e7e3adab54c74" /><Relationship Type="http://schemas.openxmlformats.org/officeDocument/2006/relationships/slide" Target="/ppt/slides/slide36.xml" Id="R8647e1e450aa4497" /><Relationship Type="http://schemas.openxmlformats.org/officeDocument/2006/relationships/slide" Target="/ppt/slides/slide37.xml" Id="R08f06b1521cf4fdc" /><Relationship Type="http://schemas.openxmlformats.org/officeDocument/2006/relationships/slide" Target="/ppt/slides/slide38.xml" Id="Rae7c25c7460a4747" /><Relationship Type="http://schemas.openxmlformats.org/officeDocument/2006/relationships/slide" Target="/ppt/slides/slide39.xml" Id="R3b1fb6a39e874271" /><Relationship Type="http://schemas.openxmlformats.org/officeDocument/2006/relationships/slide" Target="/ppt/slides/slide40.xml" Id="R5fbb027d2bf448e6" /><Relationship Type="http://schemas.openxmlformats.org/officeDocument/2006/relationships/slide" Target="/ppt/slides/slide41.xml" Id="Rdf138db64db64205" /><Relationship Type="http://schemas.openxmlformats.org/officeDocument/2006/relationships/slide" Target="/ppt/slides/slide42.xml" Id="Rd2454fdba11b4e2f" /><Relationship Type="http://schemas.openxmlformats.org/officeDocument/2006/relationships/slide" Target="/ppt/slides/slide43.xml" Id="Rfada8296f43a4fc4" /><Relationship Type="http://schemas.openxmlformats.org/officeDocument/2006/relationships/slide" Target="/ppt/slides/slide44.xml" Id="R78c9ee11d84b4105" /><Relationship Type="http://schemas.openxmlformats.org/officeDocument/2006/relationships/slide" Target="/ppt/slides/slide45.xml" Id="R7bc864143d66490c" /><Relationship Type="http://schemas.openxmlformats.org/officeDocument/2006/relationships/slide" Target="/ppt/slides/slide46.xml" Id="R48de2684573b4173" /><Relationship Type="http://schemas.openxmlformats.org/officeDocument/2006/relationships/slide" Target="/ppt/slides/slide47.xml" Id="R2d5de1ffc8b247f8" /><Relationship Type="http://schemas.openxmlformats.org/officeDocument/2006/relationships/slide" Target="/ppt/slides/slide48.xml" Id="R39fc00652752406f" /><Relationship Type="http://schemas.openxmlformats.org/officeDocument/2006/relationships/slide" Target="/ppt/slides/slide49.xml" Id="Rbfcd7634549d4829" /><Relationship Type="http://schemas.openxmlformats.org/officeDocument/2006/relationships/slide" Target="/ppt/slides/slide50.xml" Id="R25ef3f6723ee4285" /><Relationship Type="http://schemas.openxmlformats.org/officeDocument/2006/relationships/slide" Target="/ppt/slides/slide51.xml" Id="R01af81ac5aac460b" /><Relationship Type="http://schemas.openxmlformats.org/officeDocument/2006/relationships/slide" Target="/ppt/slides/slide52.xml" Id="R438aaac0065d4d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15674355db40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b68dda53b743b0" /><Relationship Type="http://schemas.openxmlformats.org/officeDocument/2006/relationships/notesMaster" Target="/ppt/notesMasters/notesMaster1.xml" Id="R464b82c21f6149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4e147d4bc54746" /><Relationship Type="http://schemas.openxmlformats.org/officeDocument/2006/relationships/notesMaster" Target="/ppt/notesMasters/notesMaster1.xml" Id="R61136b63914749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f78e39d4b3484f" /><Relationship Type="http://schemas.openxmlformats.org/officeDocument/2006/relationships/notesMaster" Target="/ppt/notesMasters/notesMaster1.xml" Id="R08512109e88a44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6d7deb632148c6" /><Relationship Type="http://schemas.openxmlformats.org/officeDocument/2006/relationships/notesMaster" Target="/ppt/notesMasters/notesMaster1.xml" Id="R1192ff66f3634b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28db570e79478f" /><Relationship Type="http://schemas.openxmlformats.org/officeDocument/2006/relationships/notesMaster" Target="/ppt/notesMasters/notesMaster1.xml" Id="Rb3e9f499969641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fe2913253b4408" /><Relationship Type="http://schemas.openxmlformats.org/officeDocument/2006/relationships/notesMaster" Target="/ppt/notesMasters/notesMaster1.xml" Id="R7922f74ac7124d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9f183b64ad4c24" /><Relationship Type="http://schemas.openxmlformats.org/officeDocument/2006/relationships/notesMaster" Target="/ppt/notesMasters/notesMaster1.xml" Id="Rfe27f21a54af42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9f857747184e23" /><Relationship Type="http://schemas.openxmlformats.org/officeDocument/2006/relationships/notesMaster" Target="/ppt/notesMasters/notesMaster1.xml" Id="Rffbd3c3d92a241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80e227643d4c9e" /><Relationship Type="http://schemas.openxmlformats.org/officeDocument/2006/relationships/notesMaster" Target="/ppt/notesMasters/notesMaster1.xml" Id="R99f7c5204e1b40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706d184231417b" /><Relationship Type="http://schemas.openxmlformats.org/officeDocument/2006/relationships/notesMaster" Target="/ppt/notesMasters/notesMaster1.xml" Id="R1db7db70437c44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5d4107445564b7f" /><Relationship Type="http://schemas.openxmlformats.org/officeDocument/2006/relationships/notesMaster" Target="/ppt/notesMasters/notesMaster1.xml" Id="R4acb36c92bc94b8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f1c3fecda14818" /><Relationship Type="http://schemas.openxmlformats.org/officeDocument/2006/relationships/notesMaster" Target="/ppt/notesMasters/notesMaster1.xml" Id="Re09f84b363bd4a9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0ecd89dff24f3c" /><Relationship Type="http://schemas.openxmlformats.org/officeDocument/2006/relationships/notesMaster" Target="/ppt/notesMasters/notesMaster1.xml" Id="R833d43d55e1646c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653ea872194d95" /><Relationship Type="http://schemas.openxmlformats.org/officeDocument/2006/relationships/notesMaster" Target="/ppt/notesMasters/notesMaster1.xml" Id="Redbef906c383479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cfba5c51a264961" /><Relationship Type="http://schemas.openxmlformats.org/officeDocument/2006/relationships/notesMaster" Target="/ppt/notesMasters/notesMaster1.xml" Id="R1824b7192e504fc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77f83d90fdd4f77" /><Relationship Type="http://schemas.openxmlformats.org/officeDocument/2006/relationships/notesMaster" Target="/ppt/notesMasters/notesMaster1.xml" Id="Rbad697ad34ce478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2efb81ad1c4084" /><Relationship Type="http://schemas.openxmlformats.org/officeDocument/2006/relationships/notesMaster" Target="/ppt/notesMasters/notesMaster1.xml" Id="R991c7eb1e5394e0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8ba0ae8ed1344d9" /><Relationship Type="http://schemas.openxmlformats.org/officeDocument/2006/relationships/notesMaster" Target="/ppt/notesMasters/notesMaster1.xml" Id="Re1d7d615a8284f8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2524c156b1b454e" /><Relationship Type="http://schemas.openxmlformats.org/officeDocument/2006/relationships/notesMaster" Target="/ppt/notesMasters/notesMaster1.xml" Id="R2f37ca0e2f664bf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39f678c73e248ae" /><Relationship Type="http://schemas.openxmlformats.org/officeDocument/2006/relationships/notesMaster" Target="/ppt/notesMasters/notesMaster1.xml" Id="R6665271d6bf0491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f30583a0d82427b" /><Relationship Type="http://schemas.openxmlformats.org/officeDocument/2006/relationships/notesMaster" Target="/ppt/notesMasters/notesMaster1.xml" Id="R9a3bad9ded894c0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f7a2f2e95fe453c" /><Relationship Type="http://schemas.openxmlformats.org/officeDocument/2006/relationships/notesMaster" Target="/ppt/notesMasters/notesMaster1.xml" Id="R2270719d8238472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77fc47e8a73442c" /><Relationship Type="http://schemas.openxmlformats.org/officeDocument/2006/relationships/notesMaster" Target="/ppt/notesMasters/notesMaster1.xml" Id="Re17c133a1ddd40d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c68cfbb9fbc4b30" /><Relationship Type="http://schemas.openxmlformats.org/officeDocument/2006/relationships/notesMaster" Target="/ppt/notesMasters/notesMaster1.xml" Id="Rb0391bc32dca42d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589984aea6e4d5e" /><Relationship Type="http://schemas.openxmlformats.org/officeDocument/2006/relationships/notesMaster" Target="/ppt/notesMasters/notesMaster1.xml" Id="Re145b73b74e6435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769591593984dbb" /><Relationship Type="http://schemas.openxmlformats.org/officeDocument/2006/relationships/notesMaster" Target="/ppt/notesMasters/notesMaster1.xml" Id="Rdb4bb4c7ab6a451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08c3e2ba8674ba9" /><Relationship Type="http://schemas.openxmlformats.org/officeDocument/2006/relationships/notesMaster" Target="/ppt/notesMasters/notesMaster1.xml" Id="R842cad762036486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ef4d90e8e424056" /><Relationship Type="http://schemas.openxmlformats.org/officeDocument/2006/relationships/notesMaster" Target="/ppt/notesMasters/notesMaster1.xml" Id="Rfea2170a56ea4f1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9d1cd84e67249bb" /><Relationship Type="http://schemas.openxmlformats.org/officeDocument/2006/relationships/notesMaster" Target="/ppt/notesMasters/notesMaster1.xml" Id="R4430a54c5e9244b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8914538c6ef4e7e" /><Relationship Type="http://schemas.openxmlformats.org/officeDocument/2006/relationships/notesMaster" Target="/ppt/notesMasters/notesMaster1.xml" Id="R0732b9decf7b41e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45ef3f49119452c" /><Relationship Type="http://schemas.openxmlformats.org/officeDocument/2006/relationships/notesMaster" Target="/ppt/notesMasters/notesMaster1.xml" Id="R2034660a127a409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88bba9a090a4eb8" /><Relationship Type="http://schemas.openxmlformats.org/officeDocument/2006/relationships/notesMaster" Target="/ppt/notesMasters/notesMaster1.xml" Id="Rb19e7d29af3444d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50b506f4f194833" /><Relationship Type="http://schemas.openxmlformats.org/officeDocument/2006/relationships/notesMaster" Target="/ppt/notesMasters/notesMaster1.xml" Id="R74d660bbb7724a8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795f6449adf4596" /><Relationship Type="http://schemas.openxmlformats.org/officeDocument/2006/relationships/notesMaster" Target="/ppt/notesMasters/notesMaster1.xml" Id="R55550a4c034f487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2be62ee38924dff" /><Relationship Type="http://schemas.openxmlformats.org/officeDocument/2006/relationships/notesMaster" Target="/ppt/notesMasters/notesMaster1.xml" Id="R5fcd333aa512444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54ed3f6c2c44893" /><Relationship Type="http://schemas.openxmlformats.org/officeDocument/2006/relationships/notesMaster" Target="/ppt/notesMasters/notesMaster1.xml" Id="Rdb5a9c0e1e31409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adb8121616e4776" /><Relationship Type="http://schemas.openxmlformats.org/officeDocument/2006/relationships/notesMaster" Target="/ppt/notesMasters/notesMaster1.xml" Id="R4dabee56cc3840b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e8e34f623d44efb" /><Relationship Type="http://schemas.openxmlformats.org/officeDocument/2006/relationships/notesMaster" Target="/ppt/notesMasters/notesMaster1.xml" Id="Rc5c25345522b48a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44c83e6792745e6" /><Relationship Type="http://schemas.openxmlformats.org/officeDocument/2006/relationships/notesMaster" Target="/ppt/notesMasters/notesMaster1.xml" Id="R6fd4adfdb7964b9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dd13e2cd3454b8e" /><Relationship Type="http://schemas.openxmlformats.org/officeDocument/2006/relationships/notesMaster" Target="/ppt/notesMasters/notesMaster1.xml" Id="Rce575ddcedc54fb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9f275dd9aaa44e0" /><Relationship Type="http://schemas.openxmlformats.org/officeDocument/2006/relationships/notesMaster" Target="/ppt/notesMasters/notesMaster1.xml" Id="R45cc02f72cc0426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bb2e6d493a54a5a" /><Relationship Type="http://schemas.openxmlformats.org/officeDocument/2006/relationships/notesMaster" Target="/ppt/notesMasters/notesMaster1.xml" Id="R9281eb9b831c4ab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f12b6f4a33b445c" /><Relationship Type="http://schemas.openxmlformats.org/officeDocument/2006/relationships/notesMaster" Target="/ppt/notesMasters/notesMaster1.xml" Id="R3b5cc6883ccc4f8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4fb6aa7c2d44380" /><Relationship Type="http://schemas.openxmlformats.org/officeDocument/2006/relationships/notesMaster" Target="/ppt/notesMasters/notesMaster1.xml" Id="R6f4705d07c19418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98b246e9c7e48e7" /><Relationship Type="http://schemas.openxmlformats.org/officeDocument/2006/relationships/notesMaster" Target="/ppt/notesMasters/notesMaster1.xml" Id="Reba7759c5cbf442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5e19ef6d74f4d96" /><Relationship Type="http://schemas.openxmlformats.org/officeDocument/2006/relationships/notesMaster" Target="/ppt/notesMasters/notesMaster1.xml" Id="R11fc9eb0d60740e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d78230e692c4e99" /><Relationship Type="http://schemas.openxmlformats.org/officeDocument/2006/relationships/notesMaster" Target="/ppt/notesMasters/notesMaster1.xml" Id="Ra148b11c16b54d00"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95109e535664cc1" /><Relationship Type="http://schemas.openxmlformats.org/officeDocument/2006/relationships/notesMaster" Target="/ppt/notesMasters/notesMaster1.xml" Id="R6e741a3f367d402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c5a89a4cc3b4731" /><Relationship Type="http://schemas.openxmlformats.org/officeDocument/2006/relationships/notesMaster" Target="/ppt/notesMasters/notesMaster1.xml" Id="R54c392366f3b4a9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78efda3fbaa4404" /><Relationship Type="http://schemas.openxmlformats.org/officeDocument/2006/relationships/notesMaster" Target="/ppt/notesMasters/notesMaster1.xml" Id="Rd77cf1a8f2584c5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2f22995ae7843d2" /><Relationship Type="http://schemas.openxmlformats.org/officeDocument/2006/relationships/notesMaster" Target="/ppt/notesMasters/notesMaster1.xml" Id="Rfaa055630d5a401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3c5d236c2184a96" /><Relationship Type="http://schemas.openxmlformats.org/officeDocument/2006/relationships/notesMaster" Target="/ppt/notesMasters/notesMaster1.xml" Id="Rbcc19bc6d83f4f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afternoon, distinguished members of the committee,</a:t>
            </a:r>
            <a:r>
              <a:rPr b="1"/>
              <a:t> </a:t>
            </a:r>
            <a:r>
              <a:rPr b="1"/>
              <a:t>professors, colleagues, friends, and everyone joining us today. Thank you very much for being here.</a:t>
            </a:r>
          </a:p>
          <a:p xmlns:a="http://schemas.openxmlformats.org/drawingml/2006/main">
            <a:r>
              <a:rPr b="1"/>
              <a:t>Before</a:t>
            </a:r>
            <a:r>
              <a:rPr b="1"/>
              <a:t> </a:t>
            </a:r>
            <a:r>
              <a:rPr b="1"/>
              <a:t>I</a:t>
            </a:r>
            <a:r>
              <a:rPr b="1"/>
              <a:t> </a:t>
            </a:r>
            <a:r>
              <a:rPr b="1"/>
              <a:t>begin, </a:t>
            </a:r>
            <a:r>
              <a:rPr b="1"/>
              <a:t>I would like to thank my supervisor, Professor Yi Li, for his invaluable guidance and support throughout my PhD journey.</a:t>
            </a:r>
          </a:p>
          <a:p xmlns:a="http://schemas.openxmlformats.org/drawingml/2006/main">
            <a:r>
              <a:rPr b="1"/>
              <a:t>My name is </a:t>
            </a:r>
            <a:r>
              <a:rPr b="1"/>
              <a:t>Xiufeng</a:t>
            </a:r>
            <a:r>
              <a:rPr b="1"/>
              <a:t> Xu, and it is my great </a:t>
            </a:r>
            <a:r>
              <a:rPr b="1"/>
              <a:t>honor</a:t>
            </a:r>
            <a:r>
              <a:rPr b="1"/>
              <a:t> to present my doctoral research entitled “Enhancing Software Evolution Reliability through </a:t>
            </a:r>
            <a:r>
              <a:rPr b="1"/>
              <a:t>Neurosymbolic</a:t>
            </a:r>
            <a:r>
              <a:rPr b="1"/>
              <a:t> Reasoning.”</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Software systems are not built once and finished forever. A useful and reliable system must continuously evolve to meet new requirements, address security threats, fix defects, and adapt to changing environments. This continuous process is known as software evolution.</a:t>
            </a:r>
          </a:p>
          <a:p xmlns:a="http://schemas.openxmlformats.org/drawingml/2006/main"/>
          <a:p xmlns:a="http://schemas.openxmlformats.org/drawingml/2006/main">
            <a:r>
              <a:t>However,</a:t>
            </a:r>
            <a:r>
              <a:t> </a:t>
            </a:r>
            <a:r>
              <a:t>modern software systems have become increasingly large and complex. More importantly, They are no longer isolated nodes but are deeply embedded in a highly interconnected software ecosystems. While this level of interconnection enables rapid development through code reuse, it also introduces significant challenges for software evolution. </a:t>
            </a:r>
            <a:r>
              <a:rPr b="0"/>
              <a:t>A study of 380,000 </a:t>
            </a:r>
            <a:r>
              <a:rPr b="0"/>
              <a:t>PyPI</a:t>
            </a:r>
            <a:r>
              <a:rPr b="0"/>
              <a:t> packages reveals that each package has 2.6 direct dependencies and 129.6 transitive dependencies on average. Which means, a</a:t>
            </a:r>
            <a:r>
              <a:t> small change in one component can propagate through complex dependency chains, potentially causing compatibility issues, performance degradation, or security vulnerabilities across numerous downstream projects.</a:t>
            </a:r>
          </a:p>
          <a:p xmlns:a="http://schemas.openxmlformats.org/drawingml/2006/main"/>
          <a:p xmlns:a="http://schemas.openxmlformats.org/drawingml/2006/main">
            <a:r>
              <a:t>So, long-term reliable evolution depends on continuous </a:t>
            </a:r>
            <a:r>
              <a:t>maintainance</a:t>
            </a:r>
            <a:r>
              <a:t>. It</a:t>
            </a:r>
            <a:r>
              <a:t> </a:t>
            </a:r>
            <a:r>
              <a:t>primarily includes two ways: reactive adaptation to external changes and proactive improvement of internal quality.</a:t>
            </a:r>
            <a:r>
              <a:t> </a:t>
            </a:r>
            <a:r>
              <a:t>Both </a:t>
            </a:r>
            <a:r>
              <a:t>of them</a:t>
            </a:r>
            <a:r>
              <a:t> create the same reliability question: how </a:t>
            </a:r>
            <a:r>
              <a:t>to</a:t>
            </a:r>
            <a:r>
              <a:t> </a:t>
            </a:r>
            <a:r>
              <a:t>evolve</a:t>
            </a:r>
            <a:r>
              <a:t> software without losing control of its behavior?</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I model this process in three phases. First, perceive its environment changes, manage risks from external changes like API deprecations and security vulnerabilities, and enhance internal quality like bug fixing and new features. Second, locate relevant </a:t>
            </a:r>
            <a:r>
              <a:rPr sz="1200"/>
              <a:t>code snippets and implement logic modification, and then validate its </a:t>
            </a:r>
            <a:r>
              <a:rPr sz="1200"/>
              <a:t>behavior</a:t>
            </a:r>
            <a:r>
              <a:rPr sz="1200"/>
              <a:t>. Third, deliver the evolved artifacts and keep the documentation describing the code accurately.</a:t>
            </a:r>
          </a:p>
          <a:p xmlns:a="http://schemas.openxmlformats.org/drawingml/2006/main">
            <a:pPr marL="0" marR="0" lvl="0" indent="0" algn="l" defTabSz="914400">
              <a:lnSpc>
                <a:spcPct val="100000"/>
              </a:lnSpc>
              <a:spcBef>
                <a:spcPts val="0"/>
              </a:spcBef>
              <a:spcAft>
                <a:spcPts val="0"/>
              </a:spcAft>
              <a:buClrTx/>
              <a:buSzTx/>
              <a:buFontTx/>
              <a:buNone/>
            </a:pPr>
            <a:r>
              <a:t> </a:t>
            </a:r>
          </a:p>
          <a:p xmlns:a="http://schemas.openxmlformats.org/drawingml/2006/main">
            <a:pPr marL="0" marR="0" lvl="0" indent="0" algn="l" defTabSz="914400">
              <a:lnSpc>
                <a:spcPct val="100000"/>
              </a:lnSpc>
              <a:spcBef>
                <a:spcPts val="0"/>
              </a:spcBef>
              <a:spcAft>
                <a:spcPts val="0"/>
              </a:spcAft>
              <a:buClrTx/>
              <a:buSzTx/>
              <a:buFontTx/>
              <a:buNone/>
            </a:pPr>
            <a:r>
              <a:t>First, the system must perceive its environment and identify the need for evolution. Second, it must locate and modify the relevant logic, and then validate </a:t>
            </a:r>
            <a:r>
              <a:t>behavior</a:t>
            </a:r>
            <a:r>
              <a:t>. Third, it must deliver the evolved artifacts, including documentation that accurately communicates the new </a:t>
            </a:r>
            <a:r>
              <a:t>behavior</a:t>
            </a:r>
            <a:r>
              <a:t>.</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Large language models have transformed software evolution. They can interpret natural-language requirements, generate code, explore repositories, and update documentation. These capabilities reduce the manual burden of maintenance and make increasingly autonomous evolution possible.</a:t>
            </a:r>
          </a:p>
          <a:p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However, capability is not the same as reliability. A plausible generated answer is not a correctness guarantee. </a:t>
            </a:r>
            <a:r>
              <a:t>There are two core limitations that make reliable fully AI-driven software evolution a challenging task: First, the inevitable hallucination problem; Second, The lack of genuine logical reasoning capabilities. </a:t>
            </a:r>
            <a:r>
              <a:t>The reason behind is that</a:t>
            </a:r>
            <a:r>
              <a:t> </a:t>
            </a:r>
            <a:r>
              <a:rPr sz="1200">
                <a:solidFill>
                  <a:srgbClr val="20252C"/>
                </a:solidFill>
              </a:rPr>
              <a:t>e</a:t>
            </a:r>
            <a:r>
              <a:rPr sz="1200">
                <a:solidFill>
                  <a:srgbClr val="20252C"/>
                </a:solidFill>
              </a:rPr>
              <a:t>very computational model is a simplified representation of reality. And </a:t>
            </a:r>
            <a:r>
              <a:rPr sz="1200"/>
              <a:t>Explicit symbolic reasoning compensates for information omitted during model construction.</a:t>
            </a:r>
          </a:p>
          <a:p xmlns:a="http://schemas.openxmlformats.org/drawingml/2006/main"/>
          <a:p xmlns:a="http://schemas.openxmlformats.org/drawingml/2006/main">
            <a:r>
              <a:t>This motivates a </a:t>
            </a:r>
            <a:r>
              <a:t>neurosymbolic</a:t>
            </a:r>
            <a:r>
              <a:t> approach that combines the adaptive learning capabilities of Large Language Models with the formal rigor of symbolic reasoning. By integrating these complementary strengths, we aim to enable reliable AI-driven software evolution, where software modifications are not only context-aware but also logically verifiable.</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central research question of this thesis is: how can we combine empirical software data, large language models, and formal reasoning to improve the reliability of software evolution throughout its lifecycle?</a:t>
            </a:r>
          </a:p>
          <a:p xmlns:a="http://schemas.openxmlformats.org/drawingml/2006/main">
            <a:r>
              <a:rPr b="1"/>
              <a:t>To answer this question, I will present three core studies.</a:t>
            </a:r>
          </a:p>
          <a:p xmlns:a="http://schemas.openxmlformats.org/drawingml/2006/main">
            <a:r>
              <a:rPr b="1"/>
              <a:t>The first study is </a:t>
            </a:r>
            <a:r>
              <a:rPr b="1"/>
              <a:t>CompSuite</a:t>
            </a:r>
            <a:r>
              <a:rPr b="1"/>
              <a:t>.</a:t>
            </a:r>
            <a:r>
              <a:t> It focuses on environment perception by transforming external evolution risks into executable evidence through reproducible client–library incompatibilities.</a:t>
            </a:r>
          </a:p>
          <a:p xmlns:a="http://schemas.openxmlformats.org/drawingml/2006/main">
            <a:r>
              <a:rPr b="1"/>
              <a:t>The second study is </a:t>
            </a:r>
            <a:r>
              <a:rPr b="1"/>
              <a:t>DataLoc</a:t>
            </a:r>
            <a:r>
              <a:rPr b="1"/>
              <a:t>.</a:t>
            </a:r>
            <a:r>
              <a:t> It addresses the logic implementation phase. We first reveal the issue of keyword shortcut bias and introduce a diagnostic benchmark. Based on these findings, we further propose a </a:t>
            </a:r>
            <a:r>
              <a:t>neurosymbolic</a:t>
            </a:r>
            <a:r>
              <a:t> agent framework for repository-level code localization.</a:t>
            </a:r>
          </a:p>
          <a:p xmlns:a="http://schemas.openxmlformats.org/drawingml/2006/main">
            <a:r>
              <a:rPr b="1"/>
              <a:t>The third study is </a:t>
            </a:r>
            <a:r>
              <a:rPr b="1"/>
              <a:t>MPChecker</a:t>
            </a:r>
            <a:r>
              <a:rPr b="1"/>
              <a:t>.</a:t>
            </a:r>
            <a:r>
              <a:t> It focuses on artifact delivery and documentation alignment by proposing an automated approach to detect inconsistencies between multi-parameter code </a:t>
            </a:r>
            <a:r>
              <a:t>behavior</a:t>
            </a:r>
            <a:r>
              <a:t> and documentation.</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Reliable evolution begins before repair: we first need evidence that an external change has broken a client. The first core study, </a:t>
            </a:r>
            <a:r>
              <a:t>CompSuite</a:t>
            </a:r>
            <a:r>
              <a:t>, asks how a client-specific library-upgrade failure can become an isolated, manually validated, reproducible, and executable benchmark instance.</a:t>
            </a:r>
          </a:p>
          <a:p xmlns:a="http://schemas.openxmlformats.org/drawingml/2006/main"/>
          <a:p xmlns:a="http://schemas.openxmlformats.org/drawingml/2006/main">
            <a:r>
              <a:t>[Timing] 5:20–5:40</a:t>
            </a:r>
          </a:p>
          <a:p xmlns:a="http://schemas.openxmlformats.org/drawingml/2006/main"/>
          <a:p xmlns:a="http://schemas.openxmlformats.org/drawingml/2006/main">
            <a:r>
              <a:t>[Sources]</a:t>
            </a:r>
          </a:p>
          <a:p xmlns:a="http://schemas.openxmlformats.org/drawingml/2006/main">
            <a:r>
              <a:t>- PhD thesis, Chapter 3, Sections 3.1–3.2.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reliable evolutionary process must first know what can break. Library upgrades are an important but difficult example.</a:t>
            </a:r>
          </a:p>
          <a:p xmlns:a="http://schemas.openxmlformats.org/drawingml/2006/main"/>
          <a:p xmlns:a="http://schemas.openxmlformats.org/drawingml/2006/main">
            <a:r>
              <a:t>An upgrade may preserve every public method name and type signature while changing behavior. For example, a library function may return an empty string in one version and null in </a:t>
            </a:r>
            <a:r>
              <a:t>the next version</a:t>
            </a:r>
            <a:r>
              <a:t>. One client may safely handle both values, while another triggers a null-pointer exception. The incompatibility is therefore behavioral and client-specific; it may not be visible through API comparison or compilation.</a:t>
            </a:r>
          </a:p>
          <a:p xmlns:a="http://schemas.openxmlformats.org/drawingml/2006/main"/>
          <a:p xmlns:a="http://schemas.openxmlformats.org/drawingml/2006/main">
            <a:r>
              <a:t>Existing datasets mainly capture defects internal to one project. Upgrade failures are harder to collect because they involve two independently evolving components, a particular dependency version pair, a specific environment, and a test that exposes the changed behavior.</a:t>
            </a:r>
          </a:p>
          <a:p xmlns:a="http://schemas.openxmlformats.org/drawingml/2006/main"/>
          <a:p xmlns:a="http://schemas.openxmlformats.org/drawingml/2006/main">
            <a:r>
              <a:t>Without reproducible examples, it is difficult to train or compare compatibility checkers, debugging methods, regression-test selection tools, or future AI repair systems.</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CompSuite</a:t>
            </a:r>
            <a:r>
              <a:t> turns upgrade failures into controlled experiments.</a:t>
            </a:r>
          </a:p>
          <a:p xmlns:a="http://schemas.openxmlformats.org/drawingml/2006/main"/>
          <a:p xmlns:a="http://schemas.openxmlformats.org/drawingml/2006/main">
            <a:r>
              <a:t>We first selected popular open-source Java clients that use Maven, because Maven provides standardized dependency declarations, compilation, and test execution. We retained projects only when a fixed base commit compiled successfully and all tests passed.</a:t>
            </a:r>
          </a:p>
          <a:p xmlns:a="http://schemas.openxmlformats.org/drawingml/2006/main"/>
          <a:p xmlns:a="http://schemas.openxmlformats.org/drawingml/2006/main">
            <a:r>
              <a:t>For each eligible client, we identified dependencies with newer versions available on Maven Central. We upgraded one library at a time and reran the client’s tests. This isolation is important: if several libraries were upgraded together, we could not attribute a failure to one dependency.</a:t>
            </a:r>
          </a:p>
          <a:p xmlns:a="http://schemas.openxmlformats.org/drawingml/2006/main"/>
          <a:p xmlns:a="http://schemas.openxmlformats.org/drawingml/2006/main">
            <a:r>
              <a:t>When a test changed from passing to failing, we treated it as a candidate incompatibility-revealing test. We then manually examined the failure report and execution behavior to verify that the upgrade was the cause.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For every accepted client–library pair, </a:t>
            </a:r>
            <a:r>
              <a:rPr b="0" i="0">
                <a:solidFill>
                  <a:srgbClr val="425E6E"/>
                </a:solidFill>
                <a:latin typeface="Arial"/>
                <a:ea typeface="Arial"/>
                <a:cs typeface="Arial"/>
              </a:rPr>
              <a:t>the data schema includes the ID of the issue, client</a:t>
            </a:r>
            <a:r>
              <a:rPr b="0" i="0">
                <a:solidFill>
                  <a:srgbClr val="425E6E"/>
                </a:solidFill>
                <a:latin typeface="Lato"/>
                <a:ea typeface="Lato"/>
                <a:cs typeface="Lato"/>
              </a:rPr>
              <a:t> </a:t>
            </a:r>
            <a:r>
              <a:rPr b="0" i="0">
                <a:solidFill>
                  <a:srgbClr val="425E6E"/>
                </a:solidFill>
                <a:latin typeface="Arial"/>
                <a:ea typeface="Arial"/>
                <a:cs typeface="Arial"/>
              </a:rPr>
              <a:t>project name, SHA of the client base version, URL of the</a:t>
            </a:r>
            <a:r>
              <a:rPr b="0" i="0">
                <a:solidFill>
                  <a:srgbClr val="425E6E"/>
                </a:solidFill>
                <a:latin typeface="Lato"/>
                <a:ea typeface="Lato"/>
                <a:cs typeface="Lato"/>
              </a:rPr>
              <a:t> </a:t>
            </a:r>
            <a:r>
              <a:rPr b="0" i="0">
                <a:solidFill>
                  <a:srgbClr val="425E6E"/>
                </a:solidFill>
                <a:latin typeface="Arial"/>
                <a:ea typeface="Arial"/>
                <a:cs typeface="Arial"/>
              </a:rPr>
              <a:t>client project, library name, versions of the old and new </a:t>
            </a:r>
            <a:r>
              <a:rPr b="0" i="0">
                <a:latin typeface="Arial"/>
                <a:ea typeface="Arial"/>
                <a:cs typeface="Arial"/>
              </a:rPr>
              <a:t>libraries, the name of the incompatibility-revealing test, the submodule containing the test, and the command to run the test</a:t>
            </a:r>
            <a:r>
              <a:rPr b="0" i="0">
                <a:solidFill>
                  <a:srgbClr val="425E6E"/>
                </a:solidFill>
                <a:latin typeface="Lato"/>
                <a:ea typeface="Lato"/>
                <a:cs typeface="Lato"/>
              </a:rP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create </a:t>
            </a:r>
            <a:r>
              <a:rPr>
                <a:latin typeface="Helvetica Neue"/>
                <a:ea typeface="Helvetica Neue"/>
                <a:cs typeface="Helvetica Neue"/>
              </a:rPr>
              <a:t>separate branch with library name and tagged base version and incompatible version with library name and version. It is worth noting that we have isolated each versions, which means the only difference between the two tagged versions is the library version. </a:t>
            </a:r>
          </a:p>
          <a:p xmlns:a="http://schemas.openxmlformats.org/drawingml/2006/main"/>
          <a:p xmlns:a="http://schemas.openxmlformats.org/drawingml/2006/main">
            <a:r>
              <a:t>CompRunner</a:t>
            </a:r>
            <a:r>
              <a:t> automates downloading, checkout, compilation, testing, upgrading, retesting, and log collection.</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dataset contains 123 reproducible, real-world client–library pairs, drawn from 88 distinct clients and 104 libraries. Every accepted instance was manually validated. The key contribution is not only the number 123. It is the experimental contract attached to every instance: a known-good state, a single controlled dependency change, an incompatible state, and a developer-authored test that demonstrates the failure.</a:t>
            </a:r>
          </a:p>
          <a:p xmlns:a="http://schemas.openxmlformats.org/drawingml/2006/main"/>
          <a:p xmlns:a="http://schemas.openxmlformats.org/drawingml/2006/main">
            <a:r>
              <a:t>This supports several uses. Compatibility tools can measure whether they detect known upgrade failures. Regression-test selection techniques can check whether they select the revealing test. Debugging tools can try to identify the responsible library change. AI systems can be evaluated on diagnosis and repair while using a real executable test as the oracle.</a:t>
            </a:r>
          </a:p>
          <a:p xmlns:a="http://schemas.openxmlformats.org/drawingml/2006/main"/>
          <a:p xmlns:a="http://schemas.openxmlformats.org/drawingml/2006/main">
            <a:r>
              <a:t>CompSuite</a:t>
            </a:r>
            <a:r>
              <a:t> provides the empirical foundation of the thesis: it makes external evolution risk reproducible and measurable before AI reasoning begins.</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core study, </a:t>
            </a:r>
            <a:r>
              <a:t>DataLoc</a:t>
            </a:r>
            <a:r>
              <a:t>, addresses that localization problem without relying on naming hints.</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code localization asks: given a natural language request, where is the relevant code exactly in a large repository?</a:t>
            </a:r>
          </a:p>
          <a:p xmlns:a="http://schemas.openxmlformats.org/drawingml/2006/main"/>
          <a:p xmlns:a="http://schemas.openxmlformats.org/drawingml/2006/main">
            <a:r>
              <a:t>This question is becoming increasingly important because modern AI coding agents are no longer only answering questions. They are expected to inspect repositories, fix bugs, implement features, and reason across complex software architectures. So Code localization is not just a retrieval problem. In real software engineering, it needs to map a high-level intent to implementation logic scattered across multiple files, classes, and functions.</a:t>
            </a:r>
          </a:p>
          <a:p xmlns:a="http://schemas.openxmlformats.org/drawingml/2006/main"/>
          <a:p xmlns:a="http://schemas.openxmlformats.org/drawingml/2006/main">
            <a:r>
              <a:t>Which means, before an agent can modify code correctly, it must first locate the right code. If localization fails, then every later step — repair, refactoring, testing, or verification — is built on the wrong context.</a:t>
            </a:r>
            <a:r>
              <a:t> </a:t>
            </a:r>
            <a:r>
              <a:t>OR</a:t>
            </a:r>
            <a:r>
              <a:t> </a:t>
            </a:r>
            <a:r>
              <a:t>it</a:t>
            </a:r>
            <a:r>
              <a:t> </a:t>
            </a:r>
            <a:r>
              <a:t>requires significant extra costs to relocate.</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SOTA code localization agent basically uses </a:t>
            </a:r>
            <a:r>
              <a:t>swebench</a:t>
            </a:r>
            <a:r>
              <a:t> as a benchmark and reports strong results. But </a:t>
            </a:r>
            <a:r>
              <a:t>swebench</a:t>
            </a:r>
            <a:r>
              <a:t>-like benchmarks are predominantly curated from GitHub issues, many of them contain clear error traces or even verbatim code snippets.</a:t>
            </a:r>
          </a:p>
          <a:p xmlns:a="http://schemas.openxmlformats.org/drawingml/2006/main"/>
          <a:p xmlns:a="http://schemas.openxmlformats.org/drawingml/2006/main">
            <a:r>
              <a:t>For example, an issue may include a stack trace, a file path, a class name, a function name, or even code snippets. These keywords act as anchors. A retrieval system or an agent can use superficial lexical matching to find the target code.</a:t>
            </a:r>
          </a:p>
          <a:p xmlns:a="http://schemas.openxmlformats.org/drawingml/2006/main"/>
          <a:p xmlns:a="http://schemas.openxmlformats.org/drawingml/2006/main">
            <a:r>
              <a:t>We call this phenomenon the Keyword Shortcut.</a:t>
            </a:r>
          </a:p>
          <a:p xmlns:a="http://schemas.openxmlformats.org/drawingml/2006/main"/>
          <a:p xmlns:a="http://schemas.openxmlformats.org/drawingml/2006/main">
            <a:r>
              <a:t>The key problem is that this may make localization appear easier than it really is. The model may not be performing deep structural reasoning. It may simply be following textual clues.</a:t>
            </a:r>
          </a:p>
          <a:p xmlns:a="http://schemas.openxmlformats.org/drawingml/2006/main"/>
          <a:p xmlns:a="http://schemas.openxmlformats.org/drawingml/2006/main">
            <a:r>
              <a:t>Our preliminary study shows that once these keyword hints are removed, the performance of existing approaches drops sharply. This suggests that current systems are highly dependent on naming cues.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motivates our new task: Keyword-Agnostic Logical Code Localization, or KA-LCL.</a:t>
            </a:r>
          </a:p>
          <a:p xmlns:a="http://schemas.openxmlformats.org/drawingml/2006/main"/>
          <a:p xmlns:a="http://schemas.openxmlformats.org/drawingml/2006/main">
            <a:r>
              <a:t>In KA-LCL, the query does not provide direct keyword anchors. Instead, it describes logical or structural constraints over the codebase.</a:t>
            </a:r>
          </a:p>
          <a:p xmlns:a="http://schemas.openxmlformats.org/drawingml/2006/main"/>
          <a:p xmlns:a="http://schemas.openxmlformats.org/drawingml/2006/main">
            <a:r>
              <a:t>A simple example is: “Find all functions where the function has more than fifteen parameters, and the function is not an __</a:t>
            </a:r>
            <a:r>
              <a:t>init</a:t>
            </a:r>
            <a:r>
              <a:t>__ method.”</a:t>
            </a:r>
          </a:p>
          <a:p xmlns:a="http://schemas.openxmlformats.org/drawingml/2006/main"/>
          <a:p xmlns:a="http://schemas.openxmlformats.org/drawingml/2006/main">
            <a:r>
              <a:t>Toaddress</a:t>
            </a:r>
            <a:r>
              <a:t> this, we introduce KA-</a:t>
            </a:r>
            <a:r>
              <a:t>LogicQuery</a:t>
            </a:r>
            <a:r>
              <a:t>, a diagnostic benchmark specifically designed for Keyword-Agnostic Logical Code Localization (KA-LCL). It contains 225 high-quality from 9 open-source repositories purely logical queries with precise ground-truth locations, providing a rigorous testing ground for evaluating the structural reasoning capabilities of LLMs and AI agents.</a:t>
            </a:r>
          </a:p>
          <a:p xmlns:a="http://schemas.openxmlformats.org/drawingml/2006/main"/>
          <a:p xmlns:a="http://schemas.openxmlformats.org/drawingml/2006/main">
            <a:r>
              <a:t>Notice that this query does not tell us the file name, class name, or function name. A model cannot solve it by searching for a keyword. It must inspect the structure of the program and reason over function definitions and their attributes.</a:t>
            </a:r>
          </a:p>
          <a:p xmlns:a="http://schemas.openxmlformats.org/drawingml/2006/main"/>
          <a:p xmlns:a="http://schemas.openxmlformats.org/drawingml/2006/main">
            <a:r>
              <a:t>Its purpose is not to replace issue-driven benchmarks, but to diagnose a missing capability: whether an AI localization system can perform deterministic structural reasoning when naming hints are absent.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From our perspective, an effective repository-level code localization engine requires a robust intermediate representation, or IR, that can bridge the semantic gap between natural language intent and implementation logic. This IR should be able to encode code entities, their complex inter-relationships, and structural hierarchies, while remaining interpretable and actionable for LLM-based agents.</a:t>
            </a:r>
          </a:p>
          <a:p xmlns:a="http://schemas.openxmlformats.org/drawingml/2006/main">
            <a:pPr marL="0" marR="0" lvl="0" indent="0" algn="l" defTabSz="914400">
              <a:lnSpc>
                <a:spcPct val="100000"/>
              </a:lnSpc>
              <a:spcBef>
                <a:spcPts val="0"/>
              </a:spcBef>
              <a:spcAft>
                <a:spcPts val="0"/>
              </a:spcAft>
              <a:buClrTx/>
              <a:buSzTx/>
              <a:buFontTx/>
              <a:buNone/>
            </a:pPr>
          </a:p>
          <a:p xmlns:a="http://schemas.openxmlformats.org/drawingml/2006/main">
            <a:pPr marL="0" marR="0" lvl="0" indent="0" algn="l" defTabSz="914400">
              <a:lnSpc>
                <a:spcPct val="100000"/>
              </a:lnSpc>
              <a:spcBef>
                <a:spcPts val="0"/>
              </a:spcBef>
              <a:spcAft>
                <a:spcPts val="0"/>
              </a:spcAft>
              <a:buClrTx/>
              <a:buSzTx/>
              <a:buFontTx/>
              <a:buNone/>
            </a:pPr>
            <a:r>
              <a:t>To address this challenge, we propose **</a:t>
            </a:r>
            <a:r>
              <a:t>DataLoc</a:t>
            </a:r>
            <a:r>
              <a:t>**, a novel agentic framework that combines the symbolic reasoning capability of </a:t>
            </a:r>
            <a:r>
              <a:t>Datalog</a:t>
            </a:r>
            <a:r>
              <a:t> with the semantic understanding of large language models for precise repository-level code localization.</a:t>
            </a:r>
          </a:p>
          <a:p xmlns:a="http://schemas.openxmlformats.org/drawingml/2006/main">
            <a:pPr marL="0" marR="0" lvl="0" indent="0" algn="l" defTabSz="914400">
              <a:lnSpc>
                <a:spcPct val="100000"/>
              </a:lnSpc>
              <a:spcBef>
                <a:spcPts val="0"/>
              </a:spcBef>
              <a:spcAft>
                <a:spcPts val="0"/>
              </a:spcAft>
              <a:buClrTx/>
              <a:buSzTx/>
              <a:buFontTx/>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DataLoc</a:t>
            </a:r>
            <a:r>
              <a:t> starts with an offline</a:t>
            </a:r>
            <a:r>
              <a:t> </a:t>
            </a:r>
            <a:r>
              <a:t>program</a:t>
            </a:r>
            <a:r>
              <a:t> fact extraction stage. Given a software repository, the system performs static analysis to parse the source code and extract structured program facts for the purpose of automated reasoning and analysis. These facts describe code entities, like files,, classes, functions, parameters, attributes like locations, modifiers, relationships like containment or </a:t>
            </a:r>
            <a:r>
              <a:t>inheritence</a:t>
            </a:r>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At query time, the user provides a natural language localization request. Instead of directly searching through the repository, the LLM agent interprets the user’s intent and synthesizes a </a:t>
            </a:r>
            <a:r>
              <a:t>Datalog</a:t>
            </a:r>
            <a:r>
              <a:t> program that captures the corresponding logical constraints.</a:t>
            </a:r>
          </a:p>
          <a:p xmlns:a="http://schemas.openxmlformats.org/drawingml/2006/main">
            <a:pPr marL="0" marR="0" lvl="0" indent="0" algn="l" defTabSz="914400">
              <a:lnSpc>
                <a:spcPct val="100000"/>
              </a:lnSpc>
              <a:spcBef>
                <a:spcPts val="0"/>
              </a:spcBef>
              <a:spcAft>
                <a:spcPts val="0"/>
              </a:spcAft>
              <a:buClrTx/>
              <a:buSzTx/>
              <a:buFontTx/>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DataLoc</a:t>
            </a:r>
            <a:r>
              <a:t> starts with an offline</a:t>
            </a:r>
            <a:r>
              <a:t> </a:t>
            </a:r>
            <a:r>
              <a:t>program</a:t>
            </a:r>
            <a:r>
              <a:t> fact extraction stage. Given a software repository, the system performs static analysis to parse the source code and extract structured program facts for the purpose of automated reasoning and analysis. These facts describe code entities, like files,, classes, functions, parameters, attributes like locations, modifiers, relationships like containment or </a:t>
            </a:r>
            <a:r>
              <a:t>inheritence</a:t>
            </a:r>
            <a:r>
              <a:t>.</a:t>
            </a:r>
          </a:p>
          <a:p xmlns:a="http://schemas.openxmlformats.org/drawingml/2006/main">
            <a:pPr marL="0" marR="0" lvl="0" indent="0" algn="l" defTabSz="914400">
              <a:lnSpc>
                <a:spcPct val="100000"/>
              </a:lnSpc>
              <a:spcBef>
                <a:spcPts val="0"/>
              </a:spcBef>
              <a:spcAft>
                <a:spcPts val="0"/>
              </a:spcAft>
              <a:buClrTx/>
              <a:buSzTx/>
              <a:buFontTx/>
              <a:buNone/>
            </a:pPr>
          </a:p>
          <a:p xmlns:a="http://schemas.openxmlformats.org/drawingml/2006/main">
            <a:pPr marL="0" marR="0" lvl="0" indent="0" algn="l" defTabSz="914400">
              <a:lnSpc>
                <a:spcPct val="100000"/>
              </a:lnSpc>
              <a:spcBef>
                <a:spcPts val="0"/>
              </a:spcBef>
              <a:spcAft>
                <a:spcPts val="0"/>
              </a:spcAft>
              <a:buClrTx/>
              <a:buSzTx/>
              <a:buFontTx/>
              <a:buNone/>
            </a:pPr>
            <a:r>
              <a:t>At query time, the user provides a natural language localization request. Instead of directly searching through the repository, the LLM agent interprets the user’s intent and synthesizes a </a:t>
            </a:r>
            <a:r>
              <a:t>Datalog</a:t>
            </a:r>
            <a:r>
              <a:t> program that captures the corresponding logical constraints.</a:t>
            </a:r>
          </a:p>
          <a:p xmlns:a="http://schemas.openxmlformats.org/drawingml/2006/main">
            <a:pPr marL="0" marR="0" lvl="0" indent="0" algn="l" defTabSz="914400">
              <a:lnSpc>
                <a:spcPct val="100000"/>
              </a:lnSpc>
              <a:spcBef>
                <a:spcPts val="0"/>
              </a:spcBef>
              <a:spcAft>
                <a:spcPts val="0"/>
              </a:spcAft>
              <a:buClrTx/>
              <a:buSzTx/>
              <a:buFontTx/>
              <a:buNone/>
            </a:pPr>
          </a:p>
          <a:p xmlns:a="http://schemas.openxmlformats.org/drawingml/2006/main">
            <a:pPr marL="0" marR="0" lvl="0" indent="0" algn="l" defTabSz="914400">
              <a:lnSpc>
                <a:spcPct val="100000"/>
              </a:lnSpc>
              <a:spcBef>
                <a:spcPts val="0"/>
              </a:spcBef>
              <a:spcAft>
                <a:spcPts val="0"/>
              </a:spcAft>
              <a:buClrTx/>
              <a:buSzTx/>
              <a:buFontTx/>
              <a:buNone/>
            </a:pPr>
            <a:r>
              <a:t>However, </a:t>
            </a:r>
            <a:r>
              <a:t>DataLoc</a:t>
            </a:r>
            <a:r>
              <a:t> does not blindly trust the first generated program. It applies parser-gated validation to ensure that the generated </a:t>
            </a:r>
            <a:r>
              <a:t>Datalog</a:t>
            </a:r>
            <a:r>
              <a:t> program is syntactically valid and executable. If the parser reports an error, the system feeds this diagnostic information back to the LLM, allowing it to repair the program.</a:t>
            </a:r>
          </a:p>
          <a:p xmlns:a="http://schemas.openxmlformats.org/drawingml/2006/main">
            <a:pPr marL="0" marR="0" lvl="0" indent="0" algn="l" defTabSz="914400">
              <a:lnSpc>
                <a:spcPct val="100000"/>
              </a:lnSpc>
              <a:spcBef>
                <a:spcPts val="0"/>
              </a:spcBef>
              <a:spcAft>
                <a:spcPts val="0"/>
              </a:spcAft>
              <a:buClrTx/>
              <a:buSzTx/>
              <a:buFontTx/>
              <a:buNone/>
            </a:pPr>
          </a:p>
          <a:p xmlns:a="http://schemas.openxmlformats.org/drawingml/2006/main">
            <a:pPr marL="0" marR="0" lvl="0" indent="0" algn="l" defTabSz="914400">
              <a:lnSpc>
                <a:spcPct val="100000"/>
              </a:lnSpc>
              <a:spcBef>
                <a:spcPts val="0"/>
              </a:spcBef>
              <a:spcAft>
                <a:spcPts val="0"/>
              </a:spcAft>
              <a:buClrTx/>
              <a:buSzTx/>
              <a:buFontTx/>
              <a:buNone/>
            </a:pPr>
            <a:r>
              <a:t>Once the program passes validation, it is executed by **Soufflé**, a high-performance </a:t>
            </a:r>
            <a:r>
              <a:t>Datalog</a:t>
            </a:r>
            <a:r>
              <a:t> engine. Soufflé evaluates the logical rules over the extracted program facts and returns candidate code locations that satisfy the query constraints.</a:t>
            </a:r>
          </a:p>
          <a:p xmlns:a="http://schemas.openxmlformats.org/drawingml/2006/main">
            <a:pPr marL="0" marR="0" lvl="0" indent="0" algn="l" defTabSz="914400">
              <a:lnSpc>
                <a:spcPct val="100000"/>
              </a:lnSpc>
              <a:spcBef>
                <a:spcPts val="0"/>
              </a:spcBef>
              <a:spcAft>
                <a:spcPts val="0"/>
              </a:spcAft>
              <a:buClrTx/>
              <a:buSzTx/>
              <a:buFontTx/>
              <a:buNone/>
            </a:pPr>
          </a:p>
          <a:p xmlns:a="http://schemas.openxmlformats.org/drawingml/2006/main">
            <a:pPr marL="0" marR="0" lvl="0" indent="0" algn="l" defTabSz="914400">
              <a:lnSpc>
                <a:spcPct val="100000"/>
              </a:lnSpc>
              <a:spcBef>
                <a:spcPts val="0"/>
              </a:spcBef>
              <a:spcAft>
                <a:spcPts val="0"/>
              </a:spcAft>
              <a:buClrTx/>
              <a:buSzTx/>
              <a:buFontTx/>
              <a:buNone/>
            </a:pPr>
            <a:r>
              <a:t>To further improve robustness, </a:t>
            </a:r>
            <a:r>
              <a:t>DataLoc</a:t>
            </a:r>
            <a:r>
              <a:t> introduces a neuro-symbolic feedback loop with mutation-based repair. If the execution result is empty, overly broad, or inconsistent with expectations, the LLM can iteratively refine the generated </a:t>
            </a:r>
            <a:r>
              <a:t>Datalog</a:t>
            </a:r>
            <a:r>
              <a:t> rules based on execution feedback. The mutation-based repair mechanism also helps diagnose which logic clause may be responsible for producing empty or incorrect results.</a:t>
            </a:r>
          </a:p>
          <a:p xmlns:a="http://schemas.openxmlformats.org/drawingml/2006/main">
            <a:pPr marL="0" marR="0" lvl="0" indent="0" algn="l" defTabSz="914400">
              <a:lnSpc>
                <a:spcPct val="100000"/>
              </a:lnSpc>
              <a:spcBef>
                <a:spcPts val="0"/>
              </a:spcBef>
              <a:spcAft>
                <a:spcPts val="0"/>
              </a:spcAft>
              <a:buClrTx/>
              <a:buSzTx/>
              <a:buFontTx/>
              <a:buNone/>
            </a:pPr>
          </a:p>
          <a:p xmlns:a="http://schemas.openxmlformats.org/drawingml/2006/main">
            <a:pPr marL="0" marR="0" lvl="0" indent="0" algn="l" defTabSz="914400">
              <a:lnSpc>
                <a:spcPct val="100000"/>
              </a:lnSpc>
              <a:spcBef>
                <a:spcPts val="0"/>
              </a:spcBef>
              <a:spcAft>
                <a:spcPts val="0"/>
              </a:spcAft>
              <a:buClrTx/>
              <a:buSzTx/>
              <a:buFontTx/>
              <a:buNone/>
            </a:pPr>
            <a:r>
              <a:t>Finally, </a:t>
            </a:r>
            <a:r>
              <a:t>DataLoc</a:t>
            </a:r>
            <a:r>
              <a:t> retrieves the corresponding code snippets and performs a final verification step before returning standardized localization results, such as file paths, class names, method names, and line ranges.</a:t>
            </a:r>
          </a:p>
          <a:p xmlns:a="http://schemas.openxmlformats.org/drawingml/2006/main">
            <a:pPr marL="0" marR="0" lvl="0" indent="0" algn="l" defTabSz="914400">
              <a:lnSpc>
                <a:spcPct val="100000"/>
              </a:lnSpc>
              <a:spcBef>
                <a:spcPts val="0"/>
              </a:spcBef>
              <a:spcAft>
                <a:spcPts val="0"/>
              </a:spcAft>
              <a:buClrTx/>
              <a:buSzTx/>
              <a:buFontTx/>
              <a:buNone/>
            </a:pPr>
          </a:p>
          <a:p xmlns:a="http://schemas.openxmlformats.org/drawingml/2006/main">
            <a:pPr marL="0" marR="0" lvl="0" indent="0" algn="l" defTabSz="914400">
              <a:lnSpc>
                <a:spcPct val="100000"/>
              </a:lnSpc>
              <a:spcBef>
                <a:spcPts val="0"/>
              </a:spcBef>
              <a:spcAft>
                <a:spcPts val="0"/>
              </a:spcAft>
              <a:buClrTx/>
              <a:buSzTx/>
              <a:buFontTx/>
              <a:buNone/>
            </a:pPr>
            <a:r>
              <a:t>Overall, in this workflow, the LLM is not browsing the repository blindly. Instead, it controls a formal reasoning process over a structured representation of the codebase, enabling more precise, interpretable, and reliable repository-level localization.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However, </a:t>
            </a:r>
            <a:r>
              <a:t>DataLoc</a:t>
            </a:r>
            <a:r>
              <a:t> does not blindly trust the first generated program. It applies parser-gated validation to ensure that the generated </a:t>
            </a:r>
            <a:r>
              <a:t>Datalog</a:t>
            </a:r>
            <a:r>
              <a:t> program is syntactically valid and executable. If the parser reports an error, the system feeds this diagnostic information back to the LLM, allowing it to repair the program.</a:t>
            </a:r>
          </a:p>
          <a:p xmlns:a="http://schemas.openxmlformats.org/drawingml/2006/main">
            <a:pPr marL="0" marR="0" lvl="0" indent="0" algn="l" defTabSz="914400">
              <a:lnSpc>
                <a:spcPct val="100000"/>
              </a:lnSpc>
              <a:spcBef>
                <a:spcPts val="0"/>
              </a:spcBef>
              <a:spcAft>
                <a:spcPts val="0"/>
              </a:spcAft>
              <a:buClrTx/>
              <a:buSzTx/>
              <a:buFontTx/>
              <a:buNone/>
            </a:pPr>
          </a:p>
          <a:p xmlns:a="http://schemas.openxmlformats.org/drawingml/2006/main">
            <a:pPr marL="0" marR="0" lvl="0" indent="0" algn="l" defTabSz="914400">
              <a:lnSpc>
                <a:spcPct val="100000"/>
              </a:lnSpc>
              <a:spcBef>
                <a:spcPts val="0"/>
              </a:spcBef>
              <a:spcAft>
                <a:spcPts val="0"/>
              </a:spcAft>
              <a:buClrTx/>
              <a:buSzTx/>
              <a:buFontTx/>
              <a:buNone/>
            </a:pPr>
            <a:r>
              <a:t>Once the program passes validation, it is executed by **Soufflé**, a high-performance </a:t>
            </a:r>
            <a:r>
              <a:t>Datalog</a:t>
            </a:r>
            <a:r>
              <a:t> engine. Soufflé evaluates the logical rules over the extracted program facts and returns candidate code locations that satisfy the query constraints.</a:t>
            </a:r>
          </a:p>
          <a:p xmlns:a="http://schemas.openxmlformats.org/drawingml/2006/main">
            <a:pPr marL="0" marR="0" lvl="0" indent="0" algn="l" defTabSz="914400">
              <a:lnSpc>
                <a:spcPct val="100000"/>
              </a:lnSpc>
              <a:spcBef>
                <a:spcPts val="0"/>
              </a:spcBef>
              <a:spcAft>
                <a:spcPts val="0"/>
              </a:spcAft>
              <a:buClrTx/>
              <a:buSzTx/>
              <a:buFontTx/>
              <a:buNone/>
            </a:pPr>
          </a:p>
          <a:p xmlns:a="http://schemas.openxmlformats.org/drawingml/2006/main">
            <a:pPr marL="0" marR="0" lvl="0" indent="0" algn="l" defTabSz="914400">
              <a:lnSpc>
                <a:spcPct val="100000"/>
              </a:lnSpc>
              <a:spcBef>
                <a:spcPts val="0"/>
              </a:spcBef>
              <a:spcAft>
                <a:spcPts val="0"/>
              </a:spcAft>
              <a:buClrTx/>
              <a:buSzTx/>
              <a:buFontTx/>
              <a:buNone/>
            </a:pPr>
            <a:r>
              <a:t>To further improve robustness, </a:t>
            </a:r>
            <a:r>
              <a:t>DataLoc</a:t>
            </a:r>
            <a:r>
              <a:t> introduces a neuro-symbolic feedback loop with mutation-based repair. If the execution result is empty, overly broad, or inconsistent with expectations, the LLM can iteratively refine the generated </a:t>
            </a:r>
            <a:r>
              <a:t>Datalog</a:t>
            </a:r>
            <a:r>
              <a:t> rules based on execution feedback. The mutation-based repair mechanism also helps diagnose which logic clause may be responsible for producing empty or incorrect results.</a:t>
            </a:r>
          </a:p>
          <a:p xmlns:a="http://schemas.openxmlformats.org/drawingml/2006/main">
            <a:pPr marL="0" marR="0" lvl="0" indent="0" algn="l" defTabSz="914400">
              <a:lnSpc>
                <a:spcPct val="100000"/>
              </a:lnSpc>
              <a:spcBef>
                <a:spcPts val="0"/>
              </a:spcBef>
              <a:spcAft>
                <a:spcPts val="0"/>
              </a:spcAft>
              <a:buClrTx/>
              <a:buSzTx/>
              <a:buFontTx/>
              <a:buNone/>
            </a:pPr>
          </a:p>
          <a:p xmlns:a="http://schemas.openxmlformats.org/drawingml/2006/main">
            <a:pPr marL="0" marR="0" lvl="0" indent="0" algn="l" defTabSz="914400">
              <a:lnSpc>
                <a:spcPct val="100000"/>
              </a:lnSpc>
              <a:spcBef>
                <a:spcPts val="0"/>
              </a:spcBef>
              <a:spcAft>
                <a:spcPts val="0"/>
              </a:spcAft>
              <a:buClrTx/>
              <a:buSzTx/>
              <a:buFontTx/>
              <a:buNone/>
            </a:pPr>
            <a:r>
              <a:t>Finally, </a:t>
            </a:r>
            <a:r>
              <a:t>DataLoc</a:t>
            </a:r>
            <a:r>
              <a:t> retrieves the corresponding code snippets and performs a final verification step before returning standardized localization results, such as file paths, class names, method names, and line ranges.</a:t>
            </a:r>
          </a:p>
          <a:p xmlns:a="http://schemas.openxmlformats.org/drawingml/2006/main">
            <a:pPr marL="0" marR="0" lvl="0" indent="0" algn="l" defTabSz="914400">
              <a:lnSpc>
                <a:spcPct val="100000"/>
              </a:lnSpc>
              <a:spcBef>
                <a:spcPts val="0"/>
              </a:spcBef>
              <a:spcAft>
                <a:spcPts val="0"/>
              </a:spcAft>
              <a:buClrTx/>
              <a:buSzTx/>
              <a:buFontTx/>
              <a:buNone/>
            </a:pPr>
          </a:p>
          <a:p xmlns:a="http://schemas.openxmlformats.org/drawingml/2006/main">
            <a:pPr marL="0" marR="0" lvl="0" indent="0" algn="l" defTabSz="914400">
              <a:lnSpc>
                <a:spcPct val="100000"/>
              </a:lnSpc>
              <a:spcBef>
                <a:spcPts val="0"/>
              </a:spcBef>
              <a:spcAft>
                <a:spcPts val="0"/>
              </a:spcAft>
              <a:buClrTx/>
              <a:buSzTx/>
              <a:buFontTx/>
              <a:buNone/>
            </a:pPr>
            <a:r>
              <a:t>Overall, in this workflow, the LLM is not browsing the repository blindly. Instead, it controls a formal reasoning process over a structured representation of the codebase, enabling more precise, interpretable, and reliable repository-level localization.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Finally, </a:t>
            </a:r>
            <a:r>
              <a:t>DataLoc</a:t>
            </a:r>
            <a:r>
              <a:t> retrieves the corresponding code snippets and performs a final verification step before returning standardized localization results, such as file paths, class names, method names, and line ranges.</a:t>
            </a:r>
          </a:p>
          <a:p xmlns:a="http://schemas.openxmlformats.org/drawingml/2006/main">
            <a:pPr marL="0" marR="0" lvl="0" indent="0" algn="l" defTabSz="914400">
              <a:lnSpc>
                <a:spcPct val="100000"/>
              </a:lnSpc>
              <a:spcBef>
                <a:spcPts val="0"/>
              </a:spcBef>
              <a:spcAft>
                <a:spcPts val="0"/>
              </a:spcAft>
              <a:buClrTx/>
              <a:buSzTx/>
              <a:buFontTx/>
              <a:buNone/>
            </a:pPr>
          </a:p>
          <a:p xmlns:a="http://schemas.openxmlformats.org/drawingml/2006/main">
            <a:pPr marL="0" marR="0" lvl="0" indent="0" algn="l" defTabSz="914400">
              <a:lnSpc>
                <a:spcPct val="100000"/>
              </a:lnSpc>
              <a:spcBef>
                <a:spcPts val="0"/>
              </a:spcBef>
              <a:spcAft>
                <a:spcPts val="0"/>
              </a:spcAft>
              <a:buClrTx/>
              <a:buSzTx/>
              <a:buFontTx/>
              <a:buNone/>
            </a:pPr>
            <a:r>
              <a:t>Overall, in this workflow, the LLM is not browsing the repository blindly. Instead, it controls a formal reasoning process over a structured representation of the codebase, enabling more precise, interpretable, and reliable repository-level localization.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result is on KA-</a:t>
            </a:r>
            <a:r>
              <a:t>LogicQuery</a:t>
            </a:r>
            <a:r>
              <a:t>, the keyword-agnostic benchmark.</a:t>
            </a:r>
          </a:p>
          <a:p xmlns:a="http://schemas.openxmlformats.org/drawingml/2006/main"/>
          <a:p xmlns:a="http://schemas.openxmlformats.org/drawingml/2006/main">
            <a:r>
              <a:t>The main finding is very clear: without keyword shortcuts, existing baselines struggle significantly. This confirms that strong performance on issue-driven benchmarks does not necessarily imply strong structural reasoning ability.</a:t>
            </a:r>
          </a:p>
          <a:p xmlns:a="http://schemas.openxmlformats.org/drawingml/2006/main"/>
          <a:p xmlns:a="http://schemas.openxmlformats.org/drawingml/2006/main">
            <a:r>
              <a:t>On the slide, we compare the best baseline with </a:t>
            </a:r>
            <a:r>
              <a:t>DataLoc</a:t>
            </a:r>
            <a:r>
              <a:t> using Qwen3-Max. Across different granularities, </a:t>
            </a:r>
            <a:r>
              <a:t>DataLoc</a:t>
            </a:r>
            <a:r>
              <a:t> achieves much higher precision.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question is whether this approach is only useful for synthetic logical queries, or whether it remains practical on standard issue benchmarks.</a:t>
            </a:r>
          </a:p>
          <a:p xmlns:a="http://schemas.openxmlformats.org/drawingml/2006/main"/>
          <a:p xmlns:a="http://schemas.openxmlformats.org/drawingml/2006/main">
            <a:r>
              <a:t>The answer is that </a:t>
            </a:r>
            <a:r>
              <a:t>DataLoc</a:t>
            </a:r>
            <a:r>
              <a:t> remains competitive on SWE-bench Lite while using a much more compact candidate set.</a:t>
            </a:r>
          </a:p>
          <a:p xmlns:a="http://schemas.openxmlformats.org/drawingml/2006/main"/>
          <a:p xmlns:a="http://schemas.openxmlformats.org/drawingml/2006/main">
            <a:r>
              <a:t>Some existing systems return top-five or even top-one-hundred candidate locations. </a:t>
            </a:r>
            <a:r>
              <a:t>DataLoc</a:t>
            </a:r>
            <a:r>
              <a:t> typically returns around two candidates per issue. This is useful because downstream repair agents benefit from concise and precise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component analysis also supports the design. Parser-gated validation, execution feedback, and mutation-based diagnostics all contribute to robustness.</a:t>
            </a:r>
          </a:p>
          <a:p xmlns:a="http://schemas.openxmlformats.org/drawingml/2006/main"/>
          <a:p xmlns:a="http://schemas.openxmlformats.org/drawingml/2006/main">
            <a:r>
              <a:t>Validation and repair (VAL) substantially improves the robustness of </a:t>
            </a:r>
            <a:r>
              <a:t>LLMgenerated</a:t>
            </a:r>
            <a:r>
              <a:t> </a:t>
            </a:r>
            <a:r>
              <a:t>Datalog</a:t>
            </a:r>
            <a:r>
              <a:t>, with particularly large gains for weaker models by increasing non-empty result rates and reducing execution cost. Intermediate-rule feedback (INT) complements VAL by guiding targeted revisions of logically unproductive rules, occasionally incurring additional diagnostic cost but improving final answer correctness across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DataLoc</a:t>
            </a:r>
            <a:r>
              <a:t> reaches competitive metrics compared with strong baselines, while offering additional advantages in token consumption and execution time.</a:t>
            </a:r>
          </a:p>
          <a:p xmlns:a="http://schemas.openxmlformats.org/drawingml/2006/main"/>
          <a:p xmlns:a="http://schemas.openxmlformats.org/drawingml/2006/main">
            <a:r>
              <a:t>The reason is that </a:t>
            </a:r>
            <a:r>
              <a:t>DataLoc</a:t>
            </a:r>
            <a:r>
              <a:t> offloads structural traversal to </a:t>
            </a:r>
            <a:r>
              <a:t>Datalog</a:t>
            </a:r>
            <a:r>
              <a:t>. Instead of repeatedly asking an LLM to inspect large chunks of repository text, it uses the symbolic engine to evaluate rules over compact facts.</a:t>
            </a:r>
          </a:p>
          <a:p xmlns:a="http://schemas.openxmlformats.org/drawingml/2006/main"/>
          <a:p xmlns:a="http://schemas.openxmlformats.org/drawingml/2006/main">
            <a:r>
              <a:t>This creates a better efficiency frontier: fewer tokens, faster execution, and more verifiable localization.</a:t>
            </a:r>
          </a:p>
          <a:p xmlns:a="http://schemas.openxmlformats.org/drawingml/2006/main"/>
          <a:p xmlns:a="http://schemas.openxmlformats.org/drawingml/2006/main">
            <a:r>
              <a:t>The component analysis also supports the design. Parser-gated validation, execution feedback, and mutation-based diagnostics all contribute to robustness.</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still an important neural–symbolic boundary: an LLM may generate invalid or over-constrained Datalog. DataLoc therefore uses a synthesize–check–refine loop.</a:t>
            </a:r>
          </a:p>
          <a:p xmlns:a="http://schemas.openxmlformats.org/drawingml/2006/main"/>
          <a:p xmlns:a="http://schemas.openxmlformats.org/drawingml/2006/main">
            <a:r>
              <a:t>First, parser-gated validation prevents malformed programs from reaching execution. Unambiguous errors, such as reserved-name collisions, are repaired conservatively; otherwise, parser diagnostics are returned to the LLM.</a:t>
            </a:r>
          </a:p>
          <a:p xmlns:a="http://schemas.openxmlformats.org/drawingml/2006/main"/>
          <a:p xmlns:a="http://schemas.openxmlformats.org/drawingml/2006/main">
            <a:r>
              <a:t>Second, DataLoc observes row counts for intermediate relations. If a relation is empty, small diagnostic mutations test whether the emptiness is fragile—possibly caused by one incorrect constraint—or stable under conservative relaxation. These mutations are probes, not patches; their results are never returned as final answers.</a:t>
            </a:r>
          </a:p>
          <a:p xmlns:a="http://schemas.openxmlformats.org/drawingml/2006/main"/>
          <a:p xmlns:a="http://schemas.openxmlformats.org/drawingml/2006/main">
            <a:r>
              <a:t>After execution, the agent retrieves candidate source snippets and verifies them against the original request. If the result is excessively broad, the query is refined. If no location satisfies a valid rule, the system can return no match rather than manufacturing a recommendation.</a:t>
            </a:r>
          </a:p>
          <a:p xmlns:a="http://schemas.openxmlformats.org/drawingml/2006/main"/>
          <a:p xmlns:a="http://schemas.openxmlformats.org/drawingml/2006/main">
            <a:r>
              <a:t>The inference is verifiable relative to the extracted facts and synthesized rule. End-to-end errors remain possible, but they become visible and testable rather than hidden inside free-form generation.</a:t>
            </a:r>
          </a:p>
          <a:p xmlns:a="http://schemas.openxmlformats.org/drawingml/2006/main"/>
          <a:p xmlns:a="http://schemas.openxmlformats.org/drawingml/2006/main">
            <a:r>
              <a:t>[Section] 02 / DATALOC · LOCATE</a:t>
            </a:r>
          </a:p>
          <a:p xmlns:a="http://schemas.openxmlformats.org/drawingml/2006/main"/>
          <a:p xmlns:a="http://schemas.openxmlformats.org/drawingml/2006/main">
            <a:r>
              <a:t>[Timing] 13:40–14:55</a:t>
            </a:r>
          </a:p>
          <a:p xmlns:a="http://schemas.openxmlformats.org/drawingml/2006/main"/>
          <a:p xmlns:a="http://schemas.openxmlformats.org/drawingml/2006/main">
            <a:r>
              <a:t>[Sources]</a:t>
            </a:r>
          </a:p>
          <a:p xmlns:a="http://schemas.openxmlformats.org/drawingml/2006/main">
            <a:r>
              <a:t>- PhD thesis, Chapter 5, Sections 5.3.2.2, 5.3.3, and 5.3.4.</a:t>
            </a:r>
          </a:p>
          <a:p xmlns:a="http://schemas.openxmlformats.org/drawingml/2006/main">
            <a:r>
              <a:t>- Figure: Figures/Chapter5/mutate.pdf.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KA-</a:t>
            </a:r>
            <a:r>
              <a:t>LogicQuery</a:t>
            </a:r>
            <a:r>
              <a:t>, </a:t>
            </a:r>
            <a:r>
              <a:t>DataLoc</a:t>
            </a:r>
            <a:r>
              <a:t> substantially outperforms embedding-based, pipeline-based, and agent-based baselines.</a:t>
            </a:r>
          </a:p>
          <a:p xmlns:a="http://schemas.openxmlformats.org/drawingml/2006/main"/>
          <a:p xmlns:a="http://schemas.openxmlformats.org/drawingml/2006/main">
            <a:r>
              <a:t>Using Qwen3-Max, </a:t>
            </a:r>
            <a:r>
              <a:t>DataLoc</a:t>
            </a:r>
            <a:r>
              <a:t> reaches 73.35 percent file-level precision. Its file-level Perfect Localization Rate is 48.44 percent. This strict metric requires the predicted set to exactly equal the ground truth, without either missing or extra locations.</a:t>
            </a:r>
          </a:p>
          <a:p xmlns:a="http://schemas.openxmlformats.org/drawingml/2006/main"/>
          <a:p xmlns:a="http://schemas.openxmlformats.org/drawingml/2006/main">
            <a:r>
              <a:t>At function level, </a:t>
            </a:r>
            <a:r>
              <a:t>DataLoc</a:t>
            </a:r>
            <a:r>
              <a:t> still achieves a Perfect Localization Rate of 38.27 percent. Every evaluated baseline falls to zero on this metric. This matters because a long recommendation list can obtain a hit while still leaving a developer or repair agent with substantial noise.</a:t>
            </a:r>
          </a:p>
          <a:p xmlns:a="http://schemas.openxmlformats.org/drawingml/2006/main"/>
          <a:p xmlns:a="http://schemas.openxmlformats.org/drawingml/2006/main">
            <a:r>
              <a:t>The negative benchmark reveals another distinction. Existing systems generally continue returning top-n candidates even when no location satisfies the query. </a:t>
            </a:r>
            <a:r>
              <a:t>DataLoc</a:t>
            </a:r>
            <a:r>
              <a:t> returns a correct no-match answer for more than 70 percent of negative queries. It is not yet perfect, but it demonstrates that formal execution creates a meaningful abstention mechanism.</a:t>
            </a:r>
          </a:p>
          <a:p xmlns:a="http://schemas.openxmlformats.org/drawingml/2006/main"/>
          <a:p xmlns:a="http://schemas.openxmlformats.org/drawingml/2006/main">
            <a:r>
              <a:t>I also evaluated </a:t>
            </a:r>
            <a:r>
              <a:t>DataLoc</a:t>
            </a:r>
            <a:r>
              <a:t> on 274 retained SWE-bench Lite instances. On this conventional, keyword-rich benchmark, </a:t>
            </a:r>
            <a:r>
              <a:t>DataLoc</a:t>
            </a:r>
            <a:r>
              <a:t> is competitive rather than universally superior. With Claude 3.5, file-level Acc@5 is 81.02 percent, while </a:t>
            </a:r>
            <a:r>
              <a:t>DataLoc</a:t>
            </a:r>
            <a:r>
              <a:t> returns only about two candidate locations per issue on average. The trade-off is a smaller, more precise result set rather than maximal top-k coverage.</a:t>
            </a:r>
          </a:p>
          <a:p xmlns:a="http://schemas.openxmlformats.org/drawingml/2006/main"/>
          <a:p xmlns:a="http://schemas.openxmlformats.org/drawingml/2006/main">
            <a:r>
              <a:t>[Section] 02 / DATALOC · LOCATE</a:t>
            </a:r>
          </a:p>
          <a:p xmlns:a="http://schemas.openxmlformats.org/drawingml/2006/main"/>
          <a:p xmlns:a="http://schemas.openxmlformats.org/drawingml/2006/main">
            <a:r>
              <a:t>[Timing] 14:55–16:35</a:t>
            </a:r>
          </a:p>
          <a:p xmlns:a="http://schemas.openxmlformats.org/drawingml/2006/main"/>
          <a:p xmlns:a="http://schemas.openxmlformats.org/drawingml/2006/main">
            <a:r>
              <a:t>[Sources]</a:t>
            </a:r>
          </a:p>
          <a:p xmlns:a="http://schemas.openxmlformats.org/drawingml/2006/main">
            <a:r>
              <a:t>- PhD thesis, Chapter 5, Section 5.4.3.1 Effectiveness for logic query.</a:t>
            </a:r>
          </a:p>
          <a:p xmlns:a="http://schemas.openxmlformats.org/drawingml/2006/main">
            <a:r>
              <a:t>- PhD thesis, Chapter 5, Section 5.4.3.2 Effectiveness for general issues.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also changes the cost profile. With Claude 3.5 on KA-LogicQuery, DataLoc averages 39.3 seconds and 16.2 thousand tokens per query. On SWE-bench Lite, it reaches 81.02 percent file-level Acc@5 while returning about two candidate locations per issue on average, reducing the amount of downstream code a repair system must inspect.</a:t>
            </a:r>
          </a:p>
          <a:p xmlns:a="http://schemas.openxmlformats.org/drawingml/2006/main"/>
          <a:p xmlns:a="http://schemas.openxmlformats.org/drawingml/2006/main">
            <a:r>
              <a:t>The ablation study helps explain why the feedback mechanisms matter. On the representative first-25-query ablation subset, Qwen3-Max function-level precision rises from 18.20 percent in the Base configuration, to 38.93 percent with validation and repair, and to 55.20 percent in the Full configuration with intermediate-rule feedback. The exact values matter because they show that each verification layer contributes incrementally within this ablation setting.</a:t>
            </a:r>
          </a:p>
          <a:p xmlns:a="http://schemas.openxmlformats.org/drawingml/2006/main"/>
          <a:p xmlns:a="http://schemas.openxmlformats.org/drawingml/2006/main">
            <a:r>
              <a:t>The broader result is not simply that Datalog is fast. It is that the model is assigned a narrower role: interpret intent, synthesize a formal query, and verify candidates. Repetitive repository-scale traversal is assigned to a specialized engine.</a:t>
            </a:r>
          </a:p>
          <a:p xmlns:a="http://schemas.openxmlformats.org/drawingml/2006/main"/>
          <a:p xmlns:a="http://schemas.openxmlformats.org/drawingml/2006/main">
            <a:r>
              <a:t>This contribution therefore exposes a benchmark bias, supplies a diagnostic benchmark, and demonstrates that explicit intermediate reasoning can improve precision, efficiency, inspectability, and the ability to abstain.</a:t>
            </a:r>
          </a:p>
          <a:p xmlns:a="http://schemas.openxmlformats.org/drawingml/2006/main"/>
          <a:p xmlns:a="http://schemas.openxmlformats.org/drawingml/2006/main">
            <a:r>
              <a:t>[Section] 02 / DATALOC · LOCATE</a:t>
            </a:r>
          </a:p>
          <a:p xmlns:a="http://schemas.openxmlformats.org/drawingml/2006/main"/>
          <a:p xmlns:a="http://schemas.openxmlformats.org/drawingml/2006/main">
            <a:r>
              <a:t>[Timing] 16:35–17:55</a:t>
            </a:r>
          </a:p>
          <a:p xmlns:a="http://schemas.openxmlformats.org/drawingml/2006/main"/>
          <a:p xmlns:a="http://schemas.openxmlformats.org/drawingml/2006/main">
            <a:r>
              <a:t>[Sources]</a:t>
            </a:r>
          </a:p>
          <a:p xmlns:a="http://schemas.openxmlformats.org/drawingml/2006/main">
            <a:r>
              <a:t>- PhD thesis, Chapter 5, Section 5.4.3.3 Efficiency.</a:t>
            </a:r>
          </a:p>
          <a:p xmlns:a="http://schemas.openxmlformats.org/drawingml/2006/main">
            <a:r>
              <a:t>- PhD thesis, Chapter 5, Section 5.4.3.4 Ablation Study,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DataLoc</a:t>
            </a:r>
            <a:r>
              <a:t> narrows the search to the logic that should change. Yet even a correct code change can be delivered with an incorrect public contract. The third core study, </a:t>
            </a:r>
            <a:r>
              <a:t>MPChecker</a:t>
            </a:r>
            <a:r>
              <a:t>, asks whether documentation still agrees with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Modern AI and data-intensive software systems rely heavily on third party libraries like Scikit-Learn, NumPy, SciPy to help users focus on domain-specific problems rather than recreate wheels. The development team will provide a comprehensive documentation with dozens of APIs and configurable parameters, and there are complex constraints among these parameters that need to be followed.</a:t>
            </a:r>
          </a:p>
          <a:p xmlns:a="http://schemas.openxmlformats.org/drawingml/2006/main">
            <a:r>
              <a:t>An example from scikit-</a:t>
            </a:r>
            <a:r>
              <a:t>learn’s</a:t>
            </a:r>
            <a:r>
              <a:t> issue. In the doc of </a:t>
            </a:r>
            <a:r>
              <a:t>LogisticRegression</a:t>
            </a:r>
            <a:r>
              <a:t>, the "penalty" parameter states that "The ‘newton-cg’, ‘sag’ and ‘</a:t>
            </a:r>
            <a:r>
              <a:t>lbfgs</a:t>
            </a:r>
            <a:r>
              <a:t>’ solvers support only L2 penalties," while the "solver" parameter states that "‘newton-cg’, ‘</a:t>
            </a:r>
            <a:r>
              <a:t>lbfgs</a:t>
            </a:r>
            <a:r>
              <a:t>’, ‘sag’ and ‘saga’ handle L2 or no penalty". A confusion occurs here, can the solver, newton-cg, sag, </a:t>
            </a:r>
            <a:r>
              <a:t>lbfgs</a:t>
            </a:r>
            <a:r>
              <a:t> work with no penalty? In actual code execution, these three solvers support not only L2 solver but also support no penalty. So basically, if a user blindly follows inaccurate documentation and applies L2 regularization everywhere, the code won't throw any errors—but it could hurt model training performance, possibly leading to underfitting. That’s because in some cases, adding a penalty isn’t necessary.</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another simple example from </a:t>
            </a:r>
            <a:r>
              <a:t>statsmodels</a:t>
            </a:r>
            <a:r>
              <a:t>, The line highlighted in purple describes a constraint about two parameters, </a:t>
            </a:r>
            <a:r>
              <a:rPr b="1"/>
              <a:t>trend</a:t>
            </a:r>
            <a:r>
              <a:t> and </a:t>
            </a:r>
            <a:r>
              <a:rPr b="1"/>
              <a:t>seasonal</a:t>
            </a:r>
            <a:r>
              <a:t>. “A warning raised if trend is not n </a:t>
            </a:r>
            <a:r>
              <a:rPr b="1"/>
              <a:t>and~!</a:t>
            </a:r>
            <a:r>
              <a:t> seasonal is not False ”. But, the actual code logic implements 'or' rather than ‘and’.</a:t>
            </a:r>
          </a:p>
          <a:p xmlns:a="http://schemas.openxmlformats.org/drawingml/2006/main">
            <a:r>
              <a:t>These inconsistencies happens because </a:t>
            </a:r>
            <a:r>
              <a:rPr b="1"/>
              <a:t>API documentation and code always evolve at different speeds.</a:t>
            </a:r>
            <a:r>
              <a:t> Such drift create multi-parameter Code-Documentation Inconsistencies. Even worse, there are lots of multi-parameter constraints in data science libraries, but currently there is no tool that can do a good job of checking multi-parameter code-documentation inconsistency.</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is this challenging?</a:t>
            </a:r>
          </a:p>
          <a:p xmlns:a="http://schemas.openxmlformats.org/drawingml/2006/main">
            <a:r>
              <a:t>First, modern APIs often involve numerous parameters with complex interdependencies. Second, constraint violations may occur silently, leading to unexpected </a:t>
            </a:r>
            <a:r>
              <a:t>behaviors</a:t>
            </a:r>
            <a:r>
              <a:t> without triggering any explicit exceptions. Additionally, there is no fixed format for API documentation, which can result in ambiguous descriptions and unclear or hidden constraints. Lastly, the relationship between code and documentation is often implicit, making it difficult to locate relevant code segments and verify specific constraints.</a:t>
            </a:r>
          </a:p>
          <a:p xmlns:a="http://schemas.openxmlformats.org/drawingml/2006/main">
            <a:r>
              <a:t>That’s why rule-based tools are not good enough under this situation.</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Large language models (LLMs) seem to be a promising solution, but they are unlikely to serve as reliable standalone tools for detecting multi-parameter inconsistencies. This is due to their unavoidable stochastic </a:t>
            </a:r>
            <a:r>
              <a:t>behavior</a:t>
            </a:r>
            <a:r>
              <a:t> and high risk of hallucinations, as well as its unreliable code comprehension and limited logical reasoning capability. Therefore, our proposal is to combine the strengths of LLMs in natural language understanding with symbolic reasoning. Specifically, LLMs are effective at extracting constraints from natural language documentation, but they struggle with in-depth code comprehension and precise logical reasoning, and that's exactly the comfort zone of symbolic execution engines and SMT solvers. So, we came up with </a:t>
            </a:r>
            <a:r>
              <a:t>MPChecker</a:t>
            </a:r>
            <a:r>
              <a:t> by combining them all, we can take advantage of each components’ strengths to improve the overall reliability and accuracy of multi-parameter inconsistency detection.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framework of </a:t>
            </a:r>
            <a:r>
              <a:t>MPChecker</a:t>
            </a:r>
            <a:r>
              <a:t>, which consists of three main phases:</a:t>
            </a:r>
          </a:p>
          <a:p xmlns:a="http://schemas.openxmlformats.org/drawingml/2006/main">
            <a:r>
              <a:t>In the first phase, given a repository, functions and their associated docstrings are first extracted from the code base.</a:t>
            </a:r>
          </a:p>
          <a:p xmlns:a="http://schemas.openxmlformats.org/drawingml/2006/main">
            <a:r>
              <a:t>In the second phase, on the one hand, doc-constraints are extracted by LLMs, and on the other hand, code-constraints are extracted by symbolic execution tools.</a:t>
            </a:r>
          </a:p>
          <a:p xmlns:a="http://schemas.openxmlformats.org/drawingml/2006/main">
            <a:r>
              <a:t>In the third phase, both sets of constraints are formatted into fuzzy expressions with the help of fuzzy words and fuzzy constraint logic and then pass them to the SMT solver to identify potential inconsistencies.</a:t>
            </a:r>
          </a:p>
          <a:p xmlns:a="http://schemas.openxmlformats.org/drawingml/2006/main">
            <a:r>
              <a:t>We‘ll go over the details.</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And we will also modify code to get rid of unnecessary complications like external calls or complex data structures. The purpose of this step is to help our tool focus on the visible API parameters.</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Then, a customised concolic symbolic execution engine walks each feasible path based on modified code, capturing path constraints.</a:t>
            </a:r>
          </a:p>
          <a:p xmlns:a="http://schemas.openxmlformats.org/drawingml/2006/main">
            <a:r>
              <a:t>Unlike traditional symbolic execution tools, our objective is not to pursue deep path exploration but rather to more effectively capture the relationships among parameters. That's why we apply many modifications to the source code that do not affect path exploration. Let’s see the modified code snippet shown in green rectangle, we replace external calls as symbols. Finally, code constraints can be extracted, for example, an error will be raised when </a:t>
            </a:r>
            <a:r>
              <a:t>sample_weight</a:t>
            </a:r>
            <a:r>
              <a:t> is not None and strategy is uniform. The formatted constraint looks like this.</a:t>
            </a:r>
          </a:p>
          <a:p xmlns:a="http://schemas.openxmlformats.org/drawingml/2006/main">
            <a:r>
              <a:t>(</a:t>
            </a:r>
            <a:r>
              <a:t>sample_weight</a:t>
            </a:r>
            <a:r>
              <a:t> != None) </a:t>
            </a:r>
            <a:r>
              <a:rPr b="1"/>
              <a:t>∧</a:t>
            </a:r>
            <a:r>
              <a:t> (strategy = uniform) → ERROR</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provided several examples for few-shot learning and included chain-of-thought reasoning to clearly outline the step-by-step extraction process to help LLM better understand the extraction task. To further reduce hallucination, we also shared a parameter list to keep the model's output within the expected limits.</a:t>
            </a:r>
          </a:p>
          <a:p xmlns:a="http://schemas.openxmlformats.org/drawingml/2006/main">
            <a:r>
              <a:t>A classic doc-constraint looks like this. It is worth noting that, this is an implicit constraint with a fuzzy word, ignore.</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Implicit constraints means such constraints are usually not clearly described or lack subjects, that is, they imply potential known information, which makes it hard for traditional rule-based tools to locate these constraints. In general, there are two categories of fuzzy words, existence and non-existence. Here are some common fuzzy words.</a:t>
            </a:r>
          </a:p>
          <a:p xmlns:a="http://schemas.openxmlformats.org/drawingml/2006/main">
            <a:r>
              <a:t>Let’s take a detailed example to explain how fuzzy words work.</a:t>
            </a:r>
          </a:p>
          <a:p xmlns:a="http://schemas.openxmlformats.org/drawingml/2006/main">
            <a:r>
              <a:t>The doc of Gamma states that </a:t>
            </a:r>
            <a:r>
              <a:rPr b="1"/>
              <a:t>Ignored for affinity = </a:t>
            </a:r>
            <a:r>
              <a:rPr b="1"/>
              <a:t>nearest_neighbors</a:t>
            </a:r>
            <a:r>
              <a:rPr b="1"/>
              <a:t>,</a:t>
            </a:r>
            <a:r>
              <a:t> Apparently, parameter Gamma is missing. The complete constraint description should be Gamma will be ignored when affinity equals to </a:t>
            </a:r>
            <a:r>
              <a:t>nearest_neighbors</a:t>
            </a:r>
            <a:r>
              <a:t>. The question is how to check if this implicit constraint is consistent with the code or not? We designed a special predicate, the result is true or false.</a:t>
            </a:r>
          </a:p>
          <a:p xmlns:a="http://schemas.openxmlformats.org/drawingml/2006/main">
            <a:r>
              <a:t>Through the def-use check, we can see that gamma is used only in the else branch — meaning it gets ignored when the other three condition hold. So this constraint is a correct but incomplete constraint, cause gamma will not only ignored when affinity is </a:t>
            </a:r>
            <a:r>
              <a:t>nearest_neighbors</a:t>
            </a:r>
            <a:r>
              <a:t> but also when affinity is </a:t>
            </a:r>
            <a:r>
              <a:t>precomputed_nearest_neighbors</a:t>
            </a:r>
            <a:r>
              <a:t> and precomputed.</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checking phase, our reasoner offers two strategies, from relaxed to strict, to identify inconsistencies. Given a doc-constraint 𝑐 and a code-constraint set 𝑃 containing a group of path constraints 𝑝,</a:t>
            </a:r>
          </a:p>
          <a:p xmlns:a="http://schemas.openxmlformats.org/drawingml/2006/main">
            <a:r>
              <a:t>A relaxed strategy is to check If a doc-constraint satisfies all path constraints.</a:t>
            </a:r>
          </a:p>
          <a:p xmlns:a="http://schemas.openxmlformats.org/drawingml/2006/main">
            <a:r>
              <a:t>Another strict strategy is </a:t>
            </a:r>
            <a:r>
              <a:t>nonequivalence</a:t>
            </a:r>
            <a:r>
              <a:t> checking to check If equivalence holds only under specific conditions</a:t>
            </a:r>
          </a:p>
          <a:p xmlns:a="http://schemas.openxmlformats.org/drawingml/2006/main">
            <a:r>
              <a:t>Then, we can know the given constraint is consistent with the code or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far, everything makes sense. However, there‘s still one issue that needs to be addressed.</a:t>
            </a:r>
            <a:r>
              <a:t> </a:t>
            </a:r>
            <a:r>
              <a:t>The hallucination problem for LLM is inevitable, which means the doc-constraint extracted by LLM may not correct and leads to unreliable fuzzy results. Based on our observation, LLM tends to make minor mistakes such as Look-alike names or wrong symbols.</a:t>
            </a:r>
          </a:p>
          <a:p xmlns:a="http://schemas.openxmlformats.org/drawingml/2006/main">
            <a:r>
              <a:t>Can we tell whether the extracted doc-constraints are correct or not? Unfortunately, we could not. But we can mitigate the impact of hallucination during consistency checking. Inspired by fuzzy logic, we introduced a new concept — fuzzy constraint logic</a:t>
            </a:r>
            <a:r>
              <a:t>。 </a:t>
            </a:r>
            <a:r>
              <a:t>Through fuzzy constraint logic, by calculating the similarity of doc-constraint and code-constraint, we quantify to what extend a given constraint is consistent with the code, factoring in potential mistakes from LLMs.</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 us walk through an example to demonstrate how we perform the calculation.</a:t>
            </a:r>
          </a:p>
          <a:p xmlns:a="http://schemas.openxmlformats.org/drawingml/2006/main">
            <a:r>
              <a:t>We have an extracted doc-constraint: </a:t>
            </a:r>
            <a:r>
              <a:rPr i="1"/>
              <a:t>(samples &lt; features) ∧ (dual = True)</a:t>
            </a:r>
            <a:r>
              <a:t>.</a:t>
            </a:r>
          </a:p>
          <a:p xmlns:a="http://schemas.openxmlformats.org/drawingml/2006/main">
            <a:r>
              <a:t>Here, the LLM made a minor typo — the correct parameter names should be </a:t>
            </a:r>
            <a:r>
              <a:rPr i="1"/>
              <a:t>n_samples</a:t>
            </a:r>
            <a:r>
              <a:t> and </a:t>
            </a:r>
            <a:r>
              <a:rPr i="1"/>
              <a:t>n_features</a:t>
            </a:r>
            <a:r>
              <a:t>.</a:t>
            </a:r>
          </a:p>
          <a:p xmlns:a="http://schemas.openxmlformats.org/drawingml/2006/main">
            <a:r>
              <a:t>Since a constraint can be viewed as a logical combination of several expressions, we start by computing the expression similarity.</a:t>
            </a:r>
          </a:p>
          <a:p xmlns:a="http://schemas.openxmlformats.org/drawingml/2006/main">
            <a:pPr marL="0" marR="0" lvl="0" indent="0" algn="l" defTabSz="914400">
              <a:lnSpc>
                <a:spcPct val="100000"/>
              </a:lnSpc>
              <a:spcBef>
                <a:spcPts val="0"/>
              </a:spcBef>
              <a:spcAft>
                <a:spcPts val="0"/>
              </a:spcAft>
              <a:buClrTx/>
              <a:buSzTx/>
              <a:buFontTx/>
              <a:buNone/>
            </a:pPr>
            <a:r>
              <a:t>To do this, we calculate the edit distance between parameter names or value names and the cosine similarity between operators.</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To do this, we calculate the edit distance between parameter names or value names and the cosine similarity between operators.</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To do this, we calculate the edit distance between parameter names or value names and the cosine similarity between operators.</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components together allow us to derive the overall expression similarity.</a:t>
            </a:r>
            <a:r>
              <a:t> </a:t>
            </a:r>
            <a:r>
              <a:t>In</a:t>
            </a:r>
            <a:r>
              <a:t> </a:t>
            </a:r>
            <a:r>
              <a:t>this case, it is 0.66.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Then the whole constraint similarity can be evaluated with the following formula. for example, conjunction relationship should take the minimum expression similarity. Since</a:t>
            </a:r>
            <a:r>
              <a:t> </a:t>
            </a:r>
            <a:r>
              <a:t>the remaining parts are identical, the constraint similarity is still 0.66.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Finally, constraint similarity serves as the membership function to quantify to what extend a given constraint is consistent with the code. Instead of either True or False, we can calculate a real number between 0 to 1 right now. To reduce the false positives, we set a threshold of 0.85 to accept or discard 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evaluation part. Currently, there’s no ground truth dataset for multi-parameter code documentation inconsistency. So, to better evaluate our tool, we started by </a:t>
            </a:r>
            <a:r>
              <a:t>analyzing</a:t>
            </a:r>
            <a:r>
              <a:t> commit history of four popular libraries. We first filtered commits related to multi-parameter constraints, then manually reviewed them. In total, we collected 72 real-world constraints. We further expanded the dataset through mutation, leading to 216 constraints — 126 inconsistent constraint and 90 consistent constraint.</a:t>
            </a:r>
          </a:p>
          <a:p xmlns:a="http://schemas.openxmlformats.org/drawingml/2006/main">
            <a:r>
              <a:t>Our artifacts including the tool and dataset have been evaluated, and received available and functional badge.</a:t>
            </a:r>
          </a:p>
          <a:p xmlns:a="http://schemas.openxmlformats.org/drawingml/2006/main">
            <a:r>
              <a:t>Given this context, we propose the following three research questions.</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research question is how accurate is </a:t>
            </a:r>
            <a:r>
              <a:t>MPChecker</a:t>
            </a:r>
            <a:r>
              <a:t> in extracting constraints from API documentation?</a:t>
            </a:r>
          </a:p>
          <a:p xmlns:a="http://schemas.openxmlformats.org/drawingml/2006/main">
            <a:r>
              <a:t>The results show that </a:t>
            </a:r>
            <a:r>
              <a:rPr b="1"/>
              <a:t>few-shot learning and </a:t>
            </a:r>
            <a:r>
              <a:rPr b="1"/>
              <a:t>CoT</a:t>
            </a:r>
            <a:r>
              <a:rPr b="1"/>
              <a:t> significantly boost performance</a:t>
            </a:r>
            <a:r>
              <a:t>. Accuracy improves from 62.5% and 79.2% to </a:t>
            </a:r>
            <a:r>
              <a:rPr b="1"/>
              <a:t>91.7%</a:t>
            </a:r>
            <a:r>
              <a:t> when both techniques are applied. Specifically, </a:t>
            </a:r>
            <a:r>
              <a:t>MPChecker</a:t>
            </a:r>
            <a:r>
              <a:t> correctly extracts 66 out of 72 constraints, showing that it is highly effective in understanding and extracting logical constraints from documentation.</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research question is how effective is </a:t>
            </a:r>
            <a:r>
              <a:t>MPChecker</a:t>
            </a:r>
            <a:r>
              <a:t> in detecting errors related to multi-parameter constraints in API documentation?</a:t>
            </a:r>
          </a:p>
          <a:p xmlns:a="http://schemas.openxmlformats.org/drawingml/2006/main">
            <a:r>
              <a:t>LLM-only checker means, input raw documentation and corresponding code directly, and let LLM to check whether there is an inconsistency.</a:t>
            </a:r>
          </a:p>
          <a:p xmlns:a="http://schemas.openxmlformats.org/drawingml/2006/main">
            <a:r>
              <a:t>LLM+C means the LLM extracts doc-constraints first and then uses them, along with the code, for inconsistency checking.</a:t>
            </a:r>
          </a:p>
          <a:p xmlns:a="http://schemas.openxmlformats.org/drawingml/2006/main">
            <a:r>
              <a:t>Fuzzy </a:t>
            </a:r>
            <a:r>
              <a:t>MPChecker</a:t>
            </a:r>
            <a:r>
              <a:t> is the final tool that uses Z3 solver as the inconsistency identifier, while the Vanilla </a:t>
            </a:r>
            <a:r>
              <a:t>MPChecker</a:t>
            </a:r>
            <a:r>
              <a:t> doesn't include fuzzy word and fuzzy constraint logic support.</a:t>
            </a:r>
          </a:p>
          <a:p xmlns:a="http://schemas.openxmlformats.org/drawingml/2006/main">
            <a:r>
              <a:t>The results align with our intuition: LLMs are not reliable as an end-to-end tool. Out of 126 inconsistent constraints, the model correctly identified only 7 — that's just a 5.6% recall. Even when we pre-extract the doc-constraints, recall only improves to 41.3%. Moreover, we observed that in some cases, even when the LLM reaches the correct conclusion, the reasons it gives are often vague or even incorrect.</a:t>
            </a:r>
          </a:p>
          <a:p xmlns:a="http://schemas.openxmlformats.org/drawingml/2006/main">
            <a:r>
              <a:t>Fuzzy </a:t>
            </a:r>
            <a:r>
              <a:t>MPChecker</a:t>
            </a:r>
            <a:r>
              <a:t> successfully detected 117 out of 126 inconsistent constraints, achieving a high recall of 92.8%. This demonstrates that </a:t>
            </a:r>
            <a:r>
              <a:t>MPChecker</a:t>
            </a:r>
            <a:r>
              <a:t> is highly effective, and incorporating </a:t>
            </a:r>
            <a:r>
              <a:rPr b="1"/>
              <a:t>fuzzy logic improves recall by 23.8%</a:t>
            </a:r>
            <a:r>
              <a:t> compared to the vanilla version.</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third research question is how effective can </a:t>
            </a:r>
            <a:r>
              <a:t>MPChecker</a:t>
            </a:r>
            <a:r>
              <a:t> detect unknown inconsistency issues?</a:t>
            </a:r>
          </a:p>
          <a:p xmlns:a="http://schemas.openxmlformats.org/drawingml/2006/main">
            <a:r>
              <a:t>We applied our tool not only to libraries in our dataset but also to unseen libraries.</a:t>
            </a:r>
          </a:p>
          <a:p xmlns:a="http://schemas.openxmlformats.org/drawingml/2006/main">
            <a:r>
              <a:t>Due to the widespread use of AI detection tools, developers have become frustrated with careless issue reports, so we're cautious when submitting a new issue.</a:t>
            </a:r>
          </a:p>
          <a:p xmlns:a="http://schemas.openxmlformats.org/drawingml/2006/main">
            <a:r>
              <a:t>We submitted 14 issue reports generated by </a:t>
            </a:r>
            <a:r>
              <a:t>MPChecker</a:t>
            </a:r>
            <a:r>
              <a:t>, and 11 were confirmed as real issues — a 78.6% confirmation rate. Of these, 10 have already been fixed: 7 through documentation updates, while </a:t>
            </a:r>
            <a:r>
              <a:rPr b="1"/>
              <a:t>3 that not only fix docs but also prompt developers to optimize their code</a:t>
            </a:r>
            <a:r>
              <a:t>.</a:t>
            </a:r>
          </a:p>
          <a:p xmlns:a="http://schemas.openxmlformats.org/drawingml/2006/main">
            <a:r>
              <a:t>This shows that </a:t>
            </a:r>
            <a:r>
              <a:rPr b="1"/>
              <a:t>MPChecker</a:t>
            </a:r>
            <a:r>
              <a:rPr b="1"/>
              <a:t> can detect previously unknown documentation errors</a:t>
            </a:r>
            <a:r>
              <a:t>, and it also works well in </a:t>
            </a:r>
            <a:r>
              <a:rPr b="1"/>
              <a:t>unseen libraries</a:t>
            </a:r>
            <a:r>
              <a:t>, which highlights its strong </a:t>
            </a:r>
            <a:r>
              <a:rPr b="1"/>
              <a:t>generalization</a:t>
            </a:r>
            <a:r>
              <a:t>.</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several important limitations.</a:t>
            </a:r>
          </a:p>
          <a:p xmlns:a="http://schemas.openxmlformats.org/drawingml/2006/main"/>
          <a:p xmlns:a="http://schemas.openxmlformats.org/drawingml/2006/main">
            <a:r>
              <a:t>CompSuite</a:t>
            </a:r>
            <a:r>
              <a:t> focuses on Java projects using Maven. It upgrades one dependency at a time, relies on existing tests as behavioral oracles, and is tied to fixed historical project and dependency versions. It therefore captures only failures exercised by the selected test suites and environments.</a:t>
            </a:r>
          </a:p>
          <a:p xmlns:a="http://schemas.openxmlformats.org/drawingml/2006/main"/>
          <a:p xmlns:a="http://schemas.openxmlformats.org/drawingml/2006/main">
            <a:r>
              <a:t>DataLoc</a:t>
            </a:r>
            <a:r>
              <a:t> has so far been evaluated only on Python. KA-</a:t>
            </a:r>
            <a:r>
              <a:t>LogicQuery</a:t>
            </a:r>
            <a:r>
              <a:t> contains 25 representative query combinations across nine projects; it is a diagnostic benchmark, not a complete model of every maintenance request. The deterministic engine does not by itself validate fact extraction or query translation, so either source of error can still produce an incorrect answer.</a:t>
            </a:r>
          </a:p>
          <a:p xmlns:a="http://schemas.openxmlformats.org/drawingml/2006/main"/>
          <a:p xmlns:a="http://schemas.openxmlformats.org/drawingml/2006/main">
            <a:r>
              <a:t>MPChecker</a:t>
            </a:r>
            <a:r>
              <a:t> currently focuses on Python data-science libraries and two major docstring styles. Python symbolic execution remains incomplete, particularly for new language features, external calls, strings, and complex objects. Its similarity threshold is heuristic, and a reported inconsistency does not determine whether code or documentation is the intended source of truth.</a:t>
            </a:r>
          </a:p>
          <a:p xmlns:a="http://schemas.openxmlformats.org/drawingml/2006/main"/>
          <a:p xmlns:a="http://schemas.openxmlformats.org/drawingml/2006/main">
            <a:r>
              <a:t>These boundaries motivate four directions: end-to-end benchmarks for AI-assisted self-healing under dependency evolution; automated repair of code–documentation inconsistencies; additional language frontends and richer program facts; and a verifiable intermediate language that bridges human intent and generated code before implementation begins.</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Conceptually, the three studies address reliability challenges around </a:t>
            </a:r>
            <a:r>
              <a:t>software</a:t>
            </a:r>
            <a:r>
              <a:t> evolution, although they are evaluated as separate contributions.</a:t>
            </a:r>
          </a:p>
          <a:p xmlns:a="http://schemas.openxmlformats.org/drawingml/2006/main"/>
          <a:p xmlns:a="http://schemas.openxmlformats.org/drawingml/2006/main">
            <a:r>
              <a:t>Let’s do a quick recap. </a:t>
            </a:r>
            <a:r>
              <a:t>CompSuite</a:t>
            </a:r>
            <a:r>
              <a:t> makes an external failure reproducible. </a:t>
            </a:r>
            <a:r>
              <a:t>DataLoc</a:t>
            </a:r>
            <a:r>
              <a:t> gives an AI system a structured way to find relevant logic without depending on a lucky keyword. </a:t>
            </a:r>
            <a:r>
              <a:t>MPChecker</a:t>
            </a:r>
            <a:r>
              <a:t> checks whether delivered documentation agrees with the evolved implementation.</a:t>
            </a:r>
          </a:p>
          <a:p xmlns:a="http://schemas.openxmlformats.org/drawingml/2006/main"/>
          <a:p xmlns:a="http://schemas.openxmlformats.org/drawingml/2006/main">
            <a:r>
              <a:t>Together, these contributions support one conclusion: reliable AI-assisted software evolution should not depend on choosing between flexible intelligence and formal rigor. It should assign each of them the role it performs best.</a:t>
            </a:r>
          </a:p>
          <a:p xmlns:a="http://schemas.openxmlformats.org/drawingml/2006/main"/>
          <a:p xmlns:a="http://schemas.openxmlformats.org/drawingml/2006/main">
            <a:r>
              <a:t>Thank you</a:t>
            </a:r>
            <a:r>
              <a:t> again for being here</a:t>
            </a:r>
            <a:r>
              <a:t>.</a:t>
            </a:r>
            <a:r>
              <a:t> And</a:t>
            </a:r>
            <a:r>
              <a:t> I welcome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9d9d5216674b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48995074424b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162a68f7c244ee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ed80f4b8ba4b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cfe9fe4ac1c48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2544d270440445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259dae612de461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adaf3a77342417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b865db138e64bca"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A3DA15-F600-4C5B-B8D3-C614BB3A6642}"/>
              </a:ext>
            </a:extLst>
          </p:cNvPr>
          <p:cNvSpPr>
            <a:spLocks xmlns:a="http://schemas.openxmlformats.org/drawingml/2006/main" noGrp="1"/>
          </p:cNvSpPr>
          <p:nvPr>
            <p:ph type="ctrTitle" idx="0"/>
          </p:nvPr>
        </p:nvSpPr>
        <p:spPr>
          <a:xfrm xmlns:a="http://schemas.openxmlformats.org/drawingml/2006/main">
            <a:off x="685800" y="1597819"/>
            <a:ext cx="7772400" cy="1102519"/>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4B25755E-F634-4F01-99B7-B283994C5A9F}"/>
              </a:ext>
            </a:extLst>
          </p:cNvPr>
          <p:cNvSpPr>
            <a:spLocks xmlns:a="http://schemas.openxmlformats.org/drawingml/2006/main" noGrp="1"/>
          </p:cNvSpPr>
          <p:nvPr>
            <p:ph type="subTitle" idx="1"/>
          </p:nvPr>
        </p:nvSpPr>
        <p:spPr>
          <a:xfrm xmlns:a="http://schemas.openxmlformats.org/drawingml/2006/main">
            <a:off x="1371600" y="2914650"/>
            <a:ext cx="6400800" cy="131445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5" name="Footer Placeholder 4">
            <a:extLst xmlns:a="http://schemas.openxmlformats.org/drawingml/2006/main">
              <a:ext uri="{FF2B5EF4-FFF2-40B4-BE49-F238E27FC236}">
                <a16:creationId xmlns:a16="http://schemas.microsoft.com/office/drawing/2014/main" id="{1CB587AA-D07E-4922-ADB7-61BE55EAA0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r>
              <a:t>Research centre / College / School Name Here</a:t>
            </a:r>
          </a:p>
        </p:txBody>
      </p:sp>
      <p:sp>
        <p:nvSpPr>
          <p:cNvPr id="6" name="Slide Number Placeholder 5">
            <a:extLst xmlns:a="http://schemas.openxmlformats.org/drawingml/2006/main">
              <a:ext uri="{FF2B5EF4-FFF2-40B4-BE49-F238E27FC236}">
                <a16:creationId xmlns:a16="http://schemas.microsoft.com/office/drawing/2014/main" id="{458D22DA-E4CC-4887-A051-6AE8FDCF74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25B488B-6B69-467A-85C7-49CA521827D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E5E32A2-26CF-4335-9B25-C1986BDA4D1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EA7521B2-2250-4761-8F4D-F0810BCE78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r>
              <a:t>Research centre / College / School Name Here</a:t>
            </a:r>
          </a:p>
        </p:txBody>
      </p:sp>
      <p:sp>
        <p:nvSpPr>
          <p:cNvPr id="6" name="Slide Number Placeholder 5">
            <a:extLst xmlns:a="http://schemas.openxmlformats.org/drawingml/2006/main">
              <a:ext uri="{FF2B5EF4-FFF2-40B4-BE49-F238E27FC236}">
                <a16:creationId xmlns:a16="http://schemas.microsoft.com/office/drawing/2014/main" id="{1BC8C89D-91A8-4E7A-B3FA-E030CE4C47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331FD0F-29BE-4A55-BEDB-BE4500A1BB18}"/>
              </a:ext>
            </a:extLst>
          </p:cNvPr>
          <p:cNvSpPr>
            <a:spLocks xmlns:a="http://schemas.openxmlformats.org/drawingml/2006/main" noGrp="1"/>
          </p:cNvSpPr>
          <p:nvPr>
            <p:ph type="title" idx="0"/>
          </p:nvPr>
        </p:nvSpPr>
        <p:spPr>
          <a:xfrm xmlns:a="http://schemas.openxmlformats.org/drawingml/2006/main">
            <a:off x="457200" y="3305176"/>
            <a:ext cx="8229600" cy="1021556"/>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F2CC95F-398C-4087-88CF-CE547D11431C}"/>
              </a:ext>
            </a:extLst>
          </p:cNvPr>
          <p:cNvSpPr>
            <a:spLocks xmlns:a="http://schemas.openxmlformats.org/drawingml/2006/main" noGrp="1"/>
          </p:cNvSpPr>
          <p:nvPr>
            <p:ph type="body" idx="1"/>
          </p:nvPr>
        </p:nvSpPr>
        <p:spPr>
          <a:xfrm xmlns:a="http://schemas.openxmlformats.org/drawingml/2006/main">
            <a:off x="457200" y="2180035"/>
            <a:ext cx="8229600" cy="1125140"/>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5" name="Footer Placeholder 4">
            <a:extLst xmlns:a="http://schemas.openxmlformats.org/drawingml/2006/main">
              <a:ext uri="{FF2B5EF4-FFF2-40B4-BE49-F238E27FC236}">
                <a16:creationId xmlns:a16="http://schemas.microsoft.com/office/drawing/2014/main" id="{1E9DB234-874C-4749-804E-631BDCABA3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r>
              <a:t>Research centre / College / School Name Here</a:t>
            </a:r>
          </a:p>
        </p:txBody>
      </p:sp>
      <p:sp>
        <p:nvSpPr>
          <p:cNvPr id="6" name="Slide Number Placeholder 5">
            <a:extLst xmlns:a="http://schemas.openxmlformats.org/drawingml/2006/main">
              <a:ext uri="{FF2B5EF4-FFF2-40B4-BE49-F238E27FC236}">
                <a16:creationId xmlns:a16="http://schemas.microsoft.com/office/drawing/2014/main" id="{5A604B9C-8796-475F-BAA9-421BA29172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7183F0-F83A-4A36-87F1-377F5D36ACC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4D0E55B-EAB3-4DFE-BB57-66BBB02C90CC}"/>
              </a:ext>
            </a:extLst>
          </p:cNvPr>
          <p:cNvSpPr>
            <a:spLocks xmlns:a="http://schemas.openxmlformats.org/drawingml/2006/main" noGrp="1"/>
          </p:cNvSpPr>
          <p:nvPr>
            <p:ph idx="1"/>
          </p:nvPr>
        </p:nvSpPr>
        <p:spPr>
          <a:xfrm xmlns:a="http://schemas.openxmlformats.org/drawingml/2006/main">
            <a:off x="457200" y="1200151"/>
            <a:ext cx="4038600" cy="3394472"/>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5360F482-6A48-4967-80ED-F3D56F77929E}"/>
              </a:ext>
            </a:extLst>
          </p:cNvPr>
          <p:cNvSpPr>
            <a:spLocks xmlns:a="http://schemas.openxmlformats.org/drawingml/2006/main" noGrp="1"/>
          </p:cNvSpPr>
          <p:nvPr>
            <p:ph idx="2"/>
          </p:nvPr>
        </p:nvSpPr>
        <p:spPr>
          <a:xfrm xmlns:a="http://schemas.openxmlformats.org/drawingml/2006/main">
            <a:off x="4648200" y="1200151"/>
            <a:ext cx="4038600" cy="3394472"/>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Footer Placeholder 5">
            <a:extLst xmlns:a="http://schemas.openxmlformats.org/drawingml/2006/main">
              <a:ext uri="{FF2B5EF4-FFF2-40B4-BE49-F238E27FC236}">
                <a16:creationId xmlns:a16="http://schemas.microsoft.com/office/drawing/2014/main" id="{61A39E1C-099D-4F78-98FC-39E8A60EE8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r>
              <a:t>Research centre / College / School Name Here</a:t>
            </a:r>
          </a:p>
        </p:txBody>
      </p:sp>
      <p:sp>
        <p:nvSpPr>
          <p:cNvPr id="7" name="Slide Number Placeholder 6">
            <a:extLst xmlns:a="http://schemas.openxmlformats.org/drawingml/2006/main">
              <a:ext uri="{FF2B5EF4-FFF2-40B4-BE49-F238E27FC236}">
                <a16:creationId xmlns:a16="http://schemas.microsoft.com/office/drawing/2014/main" id="{74FBBCE0-FAA7-4B78-B34C-339C502902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3B9BB7-224C-4B7F-9106-B2DAD31E1A0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49B01FC-83DF-44F0-86A0-23B3238F1FB8}"/>
              </a:ext>
            </a:extLst>
          </p:cNvPr>
          <p:cNvSpPr>
            <a:spLocks xmlns:a="http://schemas.openxmlformats.org/drawingml/2006/main" noGrp="1"/>
          </p:cNvSpPr>
          <p:nvPr>
            <p:ph type="body" idx="1"/>
          </p:nvPr>
        </p:nvSpPr>
        <p:spPr>
          <a:xfrm xmlns:a="http://schemas.openxmlformats.org/drawingml/2006/main">
            <a:off x="457200" y="1391245"/>
            <a:ext cx="4040188" cy="47982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5124DFD-CA71-494B-BCAC-A31409F6AED8}"/>
              </a:ext>
            </a:extLst>
          </p:cNvPr>
          <p:cNvSpPr>
            <a:spLocks xmlns:a="http://schemas.openxmlformats.org/drawingml/2006/main" noGrp="1"/>
          </p:cNvSpPr>
          <p:nvPr>
            <p:ph idx="2"/>
          </p:nvPr>
        </p:nvSpPr>
        <p:spPr>
          <a:xfrm xmlns:a="http://schemas.openxmlformats.org/drawingml/2006/main">
            <a:off x="457200" y="1871068"/>
            <a:ext cx="4040188" cy="272130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53C6BCDA-DDB8-4060-A465-BDFDD7B5FD51}"/>
              </a:ext>
            </a:extLst>
          </p:cNvPr>
          <p:cNvSpPr>
            <a:spLocks xmlns:a="http://schemas.openxmlformats.org/drawingml/2006/main" noGrp="1"/>
          </p:cNvSpPr>
          <p:nvPr>
            <p:ph type="body" idx="3"/>
          </p:nvPr>
        </p:nvSpPr>
        <p:spPr>
          <a:xfrm xmlns:a="http://schemas.openxmlformats.org/drawingml/2006/main">
            <a:off x="4645026" y="1391245"/>
            <a:ext cx="4041775" cy="47982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3C85EF3-8864-48A7-B919-EE32A6C64FB2}"/>
              </a:ext>
            </a:extLst>
          </p:cNvPr>
          <p:cNvSpPr>
            <a:spLocks xmlns:a="http://schemas.openxmlformats.org/drawingml/2006/main" noGrp="1"/>
          </p:cNvSpPr>
          <p:nvPr>
            <p:ph idx="4"/>
          </p:nvPr>
        </p:nvSpPr>
        <p:spPr>
          <a:xfrm xmlns:a="http://schemas.openxmlformats.org/drawingml/2006/main">
            <a:off x="4645026" y="1871068"/>
            <a:ext cx="4041775" cy="272130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Footer Placeholder 7">
            <a:extLst xmlns:a="http://schemas.openxmlformats.org/drawingml/2006/main">
              <a:ext uri="{FF2B5EF4-FFF2-40B4-BE49-F238E27FC236}">
                <a16:creationId xmlns:a16="http://schemas.microsoft.com/office/drawing/2014/main" id="{5B474C58-9009-4B4C-B184-65B8599EAB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r>
              <a:t>Research centre / College / School Name Here</a:t>
            </a:r>
          </a:p>
        </p:txBody>
      </p:sp>
      <p:sp>
        <p:nvSpPr>
          <p:cNvPr id="9" name="Slide Number Placeholder 8">
            <a:extLst xmlns:a="http://schemas.openxmlformats.org/drawingml/2006/main">
              <a:ext uri="{FF2B5EF4-FFF2-40B4-BE49-F238E27FC236}">
                <a16:creationId xmlns:a16="http://schemas.microsoft.com/office/drawing/2014/main" id="{EF8B4D5E-3F89-4090-9BB0-4567F03968F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AC0F6AB-5DCD-4CBC-8214-C150E5C93B8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4" name="Footer Placeholder 3">
            <a:extLst xmlns:a="http://schemas.openxmlformats.org/drawingml/2006/main">
              <a:ext uri="{FF2B5EF4-FFF2-40B4-BE49-F238E27FC236}">
                <a16:creationId xmlns:a16="http://schemas.microsoft.com/office/drawing/2014/main" id="{311A9C6C-AA8C-4B69-815E-888EAA2AC35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r>
              <a:t>Research centre / College / School Name Here</a:t>
            </a:r>
          </a:p>
        </p:txBody>
      </p:sp>
      <p:sp>
        <p:nvSpPr>
          <p:cNvPr id="5" name="Slide Number Placeholder 4">
            <a:extLst xmlns:a="http://schemas.openxmlformats.org/drawingml/2006/main">
              <a:ext uri="{FF2B5EF4-FFF2-40B4-BE49-F238E27FC236}">
                <a16:creationId xmlns:a16="http://schemas.microsoft.com/office/drawing/2014/main" id="{C6DFDFCD-2C44-49FC-A264-686D01595BE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ED8A2328-28BC-42A1-956E-CCBF4C5327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r>
              <a:t>Research centre / College / School Name Here</a:t>
            </a:r>
          </a:p>
        </p:txBody>
      </p:sp>
      <p:sp>
        <p:nvSpPr>
          <p:cNvPr id="4" name="Slide Number Placeholder 3">
            <a:extLst xmlns:a="http://schemas.openxmlformats.org/drawingml/2006/main">
              <a:ext uri="{FF2B5EF4-FFF2-40B4-BE49-F238E27FC236}">
                <a16:creationId xmlns:a16="http://schemas.microsoft.com/office/drawing/2014/main" id="{E9A5A158-7EB8-4157-8690-65FA738D7E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2E7FC7-F212-47FD-916A-AE64A5BA200C}"/>
              </a:ext>
            </a:extLst>
          </p:cNvPr>
          <p:cNvSpPr>
            <a:spLocks xmlns:a="http://schemas.openxmlformats.org/drawingml/2006/main" noGrp="1"/>
          </p:cNvSpPr>
          <p:nvPr>
            <p:ph type="title" idx="0"/>
          </p:nvPr>
        </p:nvSpPr>
        <p:spPr>
          <a:xfrm xmlns:a="http://schemas.openxmlformats.org/drawingml/2006/main">
            <a:off x="457201" y="591463"/>
            <a:ext cx="3008313" cy="8715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6A4553A-7334-4DEA-9E23-2DB394FB538C}"/>
              </a:ext>
            </a:extLst>
          </p:cNvPr>
          <p:cNvSpPr>
            <a:spLocks xmlns:a="http://schemas.openxmlformats.org/drawingml/2006/main" noGrp="1"/>
          </p:cNvSpPr>
          <p:nvPr>
            <p:ph idx="1"/>
          </p:nvPr>
        </p:nvSpPr>
        <p:spPr>
          <a:xfrm xmlns:a="http://schemas.openxmlformats.org/drawingml/2006/main">
            <a:off x="3575050" y="591464"/>
            <a:ext cx="5111750" cy="4048651"/>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FEC8F8CB-A449-4CED-A3F9-F9C062D09695}"/>
              </a:ext>
            </a:extLst>
          </p:cNvPr>
          <p:cNvSpPr>
            <a:spLocks xmlns:a="http://schemas.openxmlformats.org/drawingml/2006/main" noGrp="1"/>
          </p:cNvSpPr>
          <p:nvPr>
            <p:ph type="body" idx="2"/>
          </p:nvPr>
        </p:nvSpPr>
        <p:spPr>
          <a:xfrm xmlns:a="http://schemas.openxmlformats.org/drawingml/2006/main">
            <a:off x="457201" y="1593860"/>
            <a:ext cx="3008313" cy="3046254"/>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6" name="Footer Placeholder 5">
            <a:extLst xmlns:a="http://schemas.openxmlformats.org/drawingml/2006/main">
              <a:ext uri="{FF2B5EF4-FFF2-40B4-BE49-F238E27FC236}">
                <a16:creationId xmlns:a16="http://schemas.microsoft.com/office/drawing/2014/main" id="{EFDE3A88-B432-4503-9884-FC759913BE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r>
              <a:t>Research centre / College / School Name Here</a:t>
            </a:r>
          </a:p>
        </p:txBody>
      </p:sp>
      <p:sp>
        <p:nvSpPr>
          <p:cNvPr id="7" name="Slide Number Placeholder 6">
            <a:extLst xmlns:a="http://schemas.openxmlformats.org/drawingml/2006/main">
              <a:ext uri="{FF2B5EF4-FFF2-40B4-BE49-F238E27FC236}">
                <a16:creationId xmlns:a16="http://schemas.microsoft.com/office/drawing/2014/main" id="{FAA73AD0-F227-432F-9795-AAACEFB41F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CE9F40-5CD2-45FC-8B60-471891687019}"/>
              </a:ext>
            </a:extLst>
          </p:cNvPr>
          <p:cNvSpPr>
            <a:spLocks xmlns:a="http://schemas.openxmlformats.org/drawingml/2006/main" noGrp="1"/>
          </p:cNvSpPr>
          <p:nvPr>
            <p:ph type="title" idx="0"/>
          </p:nvPr>
        </p:nvSpPr>
        <p:spPr>
          <a:xfrm xmlns:a="http://schemas.openxmlformats.org/drawingml/2006/main">
            <a:off x="1792288" y="3600450"/>
            <a:ext cx="5486400" cy="425054"/>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B563135B-9D7E-412B-AB9D-C4E03EC829CA}"/>
              </a:ext>
            </a:extLst>
          </p:cNvPr>
          <p:cNvSpPr>
            <a:spLocks xmlns:a="http://schemas.openxmlformats.org/drawingml/2006/main" noGrp="1"/>
          </p:cNvSpPr>
          <p:nvPr>
            <p:ph type="pic" idx="1"/>
          </p:nvPr>
        </p:nvSpPr>
        <p:spPr>
          <a:xfrm xmlns:a="http://schemas.openxmlformats.org/drawingml/2006/main">
            <a:off x="1792288" y="459581"/>
            <a:ext cx="5486400" cy="30861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425036DA-7CB4-4F6D-BB22-3D11FF63CF15}"/>
              </a:ext>
            </a:extLst>
          </p:cNvPr>
          <p:cNvSpPr>
            <a:spLocks xmlns:a="http://schemas.openxmlformats.org/drawingml/2006/main" noGrp="1"/>
          </p:cNvSpPr>
          <p:nvPr>
            <p:ph type="body" idx="2"/>
          </p:nvPr>
        </p:nvSpPr>
        <p:spPr>
          <a:xfrm xmlns:a="http://schemas.openxmlformats.org/drawingml/2006/main">
            <a:off x="1792288" y="4025503"/>
            <a:ext cx="5486400" cy="603647"/>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6" name="Footer Placeholder 5">
            <a:extLst xmlns:a="http://schemas.openxmlformats.org/drawingml/2006/main">
              <a:ext uri="{FF2B5EF4-FFF2-40B4-BE49-F238E27FC236}">
                <a16:creationId xmlns:a16="http://schemas.microsoft.com/office/drawing/2014/main" id="{DCB9FA5C-D473-4EF3-BBE7-CF916481C96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r>
              <a:t>Research centre / College / School Name Here</a:t>
            </a:r>
          </a:p>
        </p:txBody>
      </p:sp>
      <p:sp>
        <p:nvSpPr>
          <p:cNvPr id="7" name="Slide Number Placeholder 6">
            <a:extLst xmlns:a="http://schemas.openxmlformats.org/drawingml/2006/main">
              <a:ext uri="{FF2B5EF4-FFF2-40B4-BE49-F238E27FC236}">
                <a16:creationId xmlns:a16="http://schemas.microsoft.com/office/drawing/2014/main" id="{2472DAB7-A880-42EB-95B4-3679747945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a917c08dbe5e462b" /><Relationship Type="http://schemas.openxmlformats.org/officeDocument/2006/relationships/theme" Target="/ppt/slideMasters/theme/theme2.xml" Id="R94afe2f7fd5f4767" /><Relationship Type="http://schemas.openxmlformats.org/officeDocument/2006/relationships/slideLayout" Target="/ppt/slideLayouts/slideLayout1.xml" Id="Re4d035a2723b410e" /><Relationship Type="http://schemas.openxmlformats.org/officeDocument/2006/relationships/slideLayout" Target="/ppt/slideLayouts/slideLayout2.xml" Id="Rd15bf4fb3b9c4730" /><Relationship Type="http://schemas.openxmlformats.org/officeDocument/2006/relationships/slideLayout" Target="/ppt/slideLayouts/slideLayout3.xml" Id="R4d7b6d7b2b214dc0" /><Relationship Type="http://schemas.openxmlformats.org/officeDocument/2006/relationships/slideLayout" Target="/ppt/slideLayouts/slideLayout4.xml" Id="Rd72b5e50734e4f8e" /><Relationship Type="http://schemas.openxmlformats.org/officeDocument/2006/relationships/slideLayout" Target="/ppt/slideLayouts/slideLayout5.xml" Id="Rf25a2ce6d6604765" /><Relationship Type="http://schemas.openxmlformats.org/officeDocument/2006/relationships/slideLayout" Target="/ppt/slideLayouts/slideLayout6.xml" Id="R04a00ccf353b4763" /><Relationship Type="http://schemas.openxmlformats.org/officeDocument/2006/relationships/slideLayout" Target="/ppt/slideLayouts/slideLayout7.xml" Id="R8805017893d3474f" /><Relationship Type="http://schemas.openxmlformats.org/officeDocument/2006/relationships/slideLayout" Target="/ppt/slideLayouts/slideLayout8.xml" Id="R0610b3c3185d4e07" /><Relationship Type="http://schemas.openxmlformats.org/officeDocument/2006/relationships/slideLayout" Target="/ppt/slideLayouts/slideLayout9.xml" Id="R5ee577169c6549d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697EE53-F2EE-454F-972C-115DC2E62940}"/>
              </a:ext>
            </a:extLst>
          </p:cNvPr>
          <p:cNvSpPr>
            <a:spLocks xmlns:a="http://schemas.openxmlformats.org/drawingml/2006/main" noGrp="1"/>
          </p:cNvSpPr>
          <p:nvPr>
            <p:ph type="title" idx="0"/>
          </p:nvPr>
        </p:nvSpPr>
        <p:spPr>
          <a:xfrm xmlns:a="http://schemas.openxmlformats.org/drawingml/2006/main">
            <a:off x="457200" y="422724"/>
            <a:ext cx="8229600" cy="85725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01417B7-ECBF-4ED0-B61B-CF4CD162BC5D}"/>
              </a:ext>
            </a:extLst>
          </p:cNvPr>
          <p:cNvSpPr>
            <a:spLocks xmlns:a="http://schemas.openxmlformats.org/drawingml/2006/main" noGrp="1"/>
          </p:cNvSpPr>
          <p:nvPr>
            <p:ph type="body" idx="1"/>
          </p:nvPr>
        </p:nvSpPr>
        <p:spPr>
          <a:xfrm xmlns:a="http://schemas.openxmlformats.org/drawingml/2006/main">
            <a:off x="457200" y="1416896"/>
            <a:ext cx="8229600" cy="2907092"/>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pic>
        <p:nvPicPr>
          <p:cNvPr id="10" name="Picture 6"/>
          <p:cNvPicPr>
            <a:picLocks xmlns:a="http://schemas.openxmlformats.org/drawingml/2006/main" noChangeAspect="1"/>
          </p:cNvPicPr>
          <p:nvPr/>
        </p:nvPicPr>
        <p:blipFill>
          <a:blip xmlns:r="http://schemas.openxmlformats.org/officeDocument/2006/relationships" xmlns:a="http://schemas.openxmlformats.org/drawingml/2006/main" r:embed="Ra917c08dbe5e462b"/>
          <a:stretch xmlns:a="http://schemas.openxmlformats.org/drawingml/2006/main">
            <a:fillRect l="0" t="0" r="0" b="0"/>
          </a:stretch>
        </p:blipFill>
        <p:spPr>
          <a:xfrm xmlns:a="http://schemas.openxmlformats.org/drawingml/2006/main">
            <a:off x="0" y="4872762"/>
            <a:ext cx="9144000" cy="285750"/>
          </a:xfrm>
          <a:prstGeom xmlns:a="http://schemas.openxmlformats.org/drawingml/2006/main" prst="rect">
            <a:avLst/>
          </a:prstGeom>
        </p:spPr>
      </p:pic>
      <p:sp>
        <p:nvSpPr>
          <p:cNvPr id="5" name="Footer Placeholder 4">
            <a:extLst xmlns:a="http://schemas.openxmlformats.org/drawingml/2006/main">
              <a:ext uri="{FF2B5EF4-FFF2-40B4-BE49-F238E27FC236}">
                <a16:creationId xmlns:a16="http://schemas.microsoft.com/office/drawing/2014/main" id="{C8894E8B-9882-45A9-84C6-B24CED2840A8}"/>
              </a:ext>
            </a:extLst>
          </p:cNvPr>
          <p:cNvSpPr>
            <a:spLocks xmlns:a="http://schemas.openxmlformats.org/drawingml/2006/main" noGrp="1"/>
          </p:cNvSpPr>
          <p:nvPr>
            <p:ph type="ftr" idx="3"/>
          </p:nvPr>
        </p:nvSpPr>
        <p:spPr>
          <a:xfrm xmlns:a="http://schemas.openxmlformats.org/drawingml/2006/main">
            <a:off x="3124200" y="4886307"/>
            <a:ext cx="4858022" cy="273844"/>
          </a:xfrm>
          <a:prstGeom xmlns:a="http://schemas.openxmlformats.org/drawingml/2006/main" prst="rect">
            <a:avLst/>
          </a:prstGeom>
        </p:spPr>
        <p:txBody>
          <a:bodyPr xmlns:a="http://schemas.openxmlformats.org/drawingml/2006/main" vert="horz" wrap="none" lIns="91440" tIns="45720" rIns="91440" bIns="0" anchor="t">
            <a:normAutofit/>
          </a:bodyPr>
          <a:lstStyle xmlns:a="http://schemas.openxmlformats.org/drawingml/2006/main">
            <a:lvl1pPr algn="ctr">
              <a:buNone/>
              <a:defRPr sz="900">
                <a:solidFill>
                  <a:srgbClr val="FFFFFF"/>
                </a:solidFill>
                <a:latin typeface="Arial"/>
                <a:ea typeface="Arial"/>
                <a:cs typeface="Arial"/>
              </a:defRPr>
            </a:lvl1pPr>
          </a:lstStyle>
          <a:p xmlns:a="http://schemas.openxmlformats.org/drawingml/2006/main">
            <a:r>
              <a:t>Research centre / College / School Name Here</a:t>
            </a:r>
          </a:p>
          <a:p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493AD036-010E-4ABA-BB3F-0099ADDBF43D}"/>
              </a:ext>
            </a:extLst>
          </p:cNvPr>
          <p:cNvSpPr>
            <a:spLocks xmlns:a="http://schemas.openxmlformats.org/drawingml/2006/main" noGrp="1"/>
          </p:cNvSpPr>
          <p:nvPr>
            <p:ph type="sldNum" idx="4"/>
          </p:nvPr>
        </p:nvSpPr>
        <p:spPr>
          <a:xfrm xmlns:a="http://schemas.openxmlformats.org/drawingml/2006/main">
            <a:off x="7982222" y="4886307"/>
            <a:ext cx="704578" cy="273844"/>
          </a:xfrm>
          <a:prstGeom xmlns:a="http://schemas.openxmlformats.org/drawingml/2006/main" prst="rect">
            <a:avLst/>
          </a:prstGeom>
        </p:spPr>
        <p:txBody>
          <a:bodyPr xmlns:a="http://schemas.openxmlformats.org/drawingml/2006/main" vert="horz" wrap="none" lIns="91440" tIns="45720" rIns="91440" bIns="0" anchor="t">
            <a:normAutofit/>
          </a:bodyPr>
          <a:lstStyle xmlns:a="http://schemas.openxmlformats.org/drawingml/2006/main">
            <a:lvl1pPr algn="r">
              <a:buNone/>
              <a:defRPr sz="800" baseline="0">
                <a:solidFill>
                  <a:srgbClr val="FFFFFF"/>
                </a:solidFill>
                <a:latin typeface="Arial"/>
                <a:ea typeface="Arial"/>
                <a:cs typeface="Aria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d035a2723b410e"/>
    <p:sldLayoutId xmlns:r="http://schemas.openxmlformats.org/officeDocument/2006/relationships" id="2147483650" r:id="Rd15bf4fb3b9c4730"/>
    <p:sldLayoutId xmlns:r="http://schemas.openxmlformats.org/officeDocument/2006/relationships" id="2147483651" r:id="R4d7b6d7b2b214dc0"/>
    <p:sldLayoutId xmlns:r="http://schemas.openxmlformats.org/officeDocument/2006/relationships" id="2147483652" r:id="Rd72b5e50734e4f8e"/>
    <p:sldLayoutId xmlns:r="http://schemas.openxmlformats.org/officeDocument/2006/relationships" id="2147483653" r:id="Rf25a2ce6d6604765"/>
    <p:sldLayoutId xmlns:r="http://schemas.openxmlformats.org/officeDocument/2006/relationships" id="2147483654" r:id="R04a00ccf353b4763"/>
    <p:sldLayoutId xmlns:r="http://schemas.openxmlformats.org/officeDocument/2006/relationships" id="2147483655" r:id="R8805017893d3474f"/>
    <p:sldLayoutId xmlns:r="http://schemas.openxmlformats.org/officeDocument/2006/relationships" id="2147483656" r:id="R0610b3c3185d4e07"/>
    <p:sldLayoutId xmlns:r="http://schemas.openxmlformats.org/officeDocument/2006/relationships" id="2147483657" r:id="R5ee577169c6549d9"/>
  </p:sldLayoutIdLst>
  <p:hf sldNum="0" hdr="0" dt="0"/>
  <p:txStyles>
    <p:titleStyle>
      <a:lvl1pPr xmlns:a="http://schemas.openxmlformats.org/drawingml/2006/main" algn="l" defTabSz="457200">
        <a:spcBef>
          <a:spcPct val="0"/>
        </a:spcBef>
        <a:buNone/>
        <a:defRPr sz="4400" kern="1200">
          <a:solidFill>
            <a:schemeClr val="tx1"/>
          </a:solidFill>
          <a:latin typeface="Arial"/>
          <a:ea typeface="Arial"/>
          <a:cs typeface="Arial"/>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Arial"/>
          <a:ea typeface="Arial"/>
          <a:cs typeface="Arial"/>
        </a:defRPr>
      </a:lvl1pPr>
      <a:lvl2pPr xmlns:a="http://schemas.openxmlformats.org/drawingml/2006/main" marL="742950" indent="-285750" algn="l" defTabSz="457200">
        <a:spcBef>
          <a:spcPct val="20000"/>
        </a:spcBef>
        <a:buFont typeface="Arial"/>
        <a:buChar char="–"/>
        <a:defRPr sz="2800" kern="1200">
          <a:solidFill>
            <a:schemeClr val="tx1"/>
          </a:solidFill>
          <a:latin typeface="Arial"/>
          <a:ea typeface="Arial"/>
          <a:cs typeface="Arial"/>
        </a:defRPr>
      </a:lvl2pPr>
      <a:lvl3pPr xmlns:a="http://schemas.openxmlformats.org/drawingml/2006/main" marL="1143000" indent="-228600" algn="l" defTabSz="457200">
        <a:spcBef>
          <a:spcPct val="20000"/>
        </a:spcBef>
        <a:buFont typeface="Arial"/>
        <a:buChar char="•"/>
        <a:defRPr sz="2400" kern="1200">
          <a:solidFill>
            <a:schemeClr val="tx1"/>
          </a:solidFill>
          <a:latin typeface="Arial"/>
          <a:ea typeface="Arial"/>
          <a:cs typeface="Arial"/>
        </a:defRPr>
      </a:lvl3pPr>
      <a:lvl4pPr xmlns:a="http://schemas.openxmlformats.org/drawingml/2006/main" marL="1600200" indent="-228600" algn="l" defTabSz="457200">
        <a:spcBef>
          <a:spcPct val="20000"/>
        </a:spcBef>
        <a:buFont typeface="Arial"/>
        <a:buChar char="–"/>
        <a:defRPr sz="2000" kern="1200">
          <a:solidFill>
            <a:schemeClr val="tx1"/>
          </a:solidFill>
          <a:latin typeface="Arial"/>
          <a:ea typeface="Arial"/>
          <a:cs typeface="Arial"/>
        </a:defRPr>
      </a:lvl4pPr>
      <a:lvl5pPr xmlns:a="http://schemas.openxmlformats.org/drawingml/2006/main" marL="2057400" indent="-228600" algn="l" defTabSz="457200">
        <a:spcBef>
          <a:spcPct val="20000"/>
        </a:spcBef>
        <a:buFont typeface="Arial"/>
        <a:buChar char="»"/>
        <a:defRPr sz="2000" kern="1200">
          <a:solidFill>
            <a:schemeClr val="tx1"/>
          </a:solidFill>
          <a:latin typeface="Arial"/>
          <a:ea typeface="Arial"/>
          <a:cs typeface="Arial"/>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a1e0b5529c46d1" /><Relationship Type="http://schemas.openxmlformats.org/officeDocument/2006/relationships/image" Target="/ppt/media/image.jpeg" Id="R240e5af5492242bc" /><Relationship Type="http://schemas.openxmlformats.org/officeDocument/2006/relationships/notesSlide" Target="/ppt/notesSlides/notesSlide1.xml" Id="R630fc78718354f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1e2633062524893" /><Relationship Type="http://schemas.openxmlformats.org/officeDocument/2006/relationships/image" Target="/ppt/media/image2.png" Id="Rde5b73e637394163" /><Relationship Type="http://schemas.openxmlformats.org/officeDocument/2006/relationships/notesSlide" Target="/ppt/notesSlides/notesSlide2.xml" Id="Rf1ec3a3afb184d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478014fd6374913" /><Relationship Type="http://schemas.openxmlformats.org/officeDocument/2006/relationships/notesSlide" Target="/ppt/notesSlides/notesSlide3.xml" Id="R97928fdf831e45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bdb669be7564123" /><Relationship Type="http://schemas.openxmlformats.org/officeDocument/2006/relationships/notesSlide" Target="/ppt/notesSlides/notesSlide4.xml" Id="R7cd5174a1a014b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0491ee69b614780" /><Relationship Type="http://schemas.openxmlformats.org/officeDocument/2006/relationships/notesSlide" Target="/ppt/notesSlides/notesSlide5.xml" Id="Reaf13aa9e35945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fa8d06bf5c4e4f" /><Relationship Type="http://schemas.openxmlformats.org/officeDocument/2006/relationships/image" Target="/ppt/media/image.jpeg" Id="R4bfcf422ca604714" /><Relationship Type="http://schemas.openxmlformats.org/officeDocument/2006/relationships/notesSlide" Target="/ppt/notesSlides/notesSlide6.xml" Id="R606ca9eb18db49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f82ea0cb5b34d9f" /><Relationship Type="http://schemas.openxmlformats.org/officeDocument/2006/relationships/image" Target="/ppt/media/image3.png" Id="R7d2c7cf284a24201" /><Relationship Type="http://schemas.openxmlformats.org/officeDocument/2006/relationships/image" Target="/ppt/media/image4.png" Id="R6822900578794467" /><Relationship Type="http://schemas.openxmlformats.org/officeDocument/2006/relationships/notesSlide" Target="/ppt/notesSlides/notesSlide7.xml" Id="R58daed1962094c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48b2247e97f425c" /><Relationship Type="http://schemas.openxmlformats.org/officeDocument/2006/relationships/image" Target="/ppt/media/image3.png" Id="R5c1c71c115f24dc9" /><Relationship Type="http://schemas.openxmlformats.org/officeDocument/2006/relationships/image" Target="/ppt/media/image5.png" Id="R6dc5239365d14c3f" /><Relationship Type="http://schemas.openxmlformats.org/officeDocument/2006/relationships/notesSlide" Target="/ppt/notesSlides/notesSlide8.xml" Id="Rabcdd5ce3e8c4d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ea79dd8a2834551" /><Relationship Type="http://schemas.openxmlformats.org/officeDocument/2006/relationships/image" Target="/ppt/media/image3.png" Id="Rbd1ce8ded59a4de3" /><Relationship Type="http://schemas.openxmlformats.org/officeDocument/2006/relationships/image" Target="/ppt/media/image6.png" Id="Re1345d384c534a52" /><Relationship Type="http://schemas.openxmlformats.org/officeDocument/2006/relationships/notesSlide" Target="/ppt/notesSlides/notesSlide9.xml" Id="R70acfd3086914f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cad9339cbd446eb" /><Relationship Type="http://schemas.openxmlformats.org/officeDocument/2006/relationships/image" Target="/ppt/media/image3.png" Id="R8016744041ee481c" /><Relationship Type="http://schemas.openxmlformats.org/officeDocument/2006/relationships/image" Target="/ppt/media/image5.png" Id="Rc5b0525dfcec487a" /><Relationship Type="http://schemas.openxmlformats.org/officeDocument/2006/relationships/notesSlide" Target="/ppt/notesSlides/notesSlide10.xml" Id="Recf595db857346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bd62972f3c2d482d" /><Relationship Type="http://schemas.openxmlformats.org/officeDocument/2006/relationships/notesSlide" Target="/ppt/notesSlides/notesSlide11.xml" Id="Reb815452b41f46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2591b5cfcdb41b7" /><Relationship Type="http://schemas.openxmlformats.org/officeDocument/2006/relationships/image" Target="/ppt/media/image.jpeg" Id="Rf3f20664c56d4a92" /><Relationship Type="http://schemas.openxmlformats.org/officeDocument/2006/relationships/notesSlide" Target="/ppt/notesSlides/notesSlide12.xml" Id="Rb840c05c8a414d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e3b8e0021353427c" /><Relationship Type="http://schemas.openxmlformats.org/officeDocument/2006/relationships/notesSlide" Target="/ppt/notesSlides/notesSlide13.xml" Id="R14f26013f87640e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6e389ff89dab4cc8" /><Relationship Type="http://schemas.openxmlformats.org/officeDocument/2006/relationships/image" Target="/ppt/media/image7.png" Id="Rc84f7eb9496c4518" /><Relationship Type="http://schemas.openxmlformats.org/officeDocument/2006/relationships/image" Target="/ppt/media/image8.png" Id="R57ee7bd24a8a414a" /><Relationship Type="http://schemas.openxmlformats.org/officeDocument/2006/relationships/notesSlide" Target="/ppt/notesSlides/notesSlide14.xml" Id="Re2c0dd3f014246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332b6b888a564ac4" /><Relationship Type="http://schemas.openxmlformats.org/officeDocument/2006/relationships/image" Target="/ppt/media/image9.png" Id="Rb0eda4588a414938" /><Relationship Type="http://schemas.openxmlformats.org/officeDocument/2006/relationships/notesSlide" Target="/ppt/notesSlides/notesSlide15.xml" Id="R9becb7163141441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0e14bb789f140e5" /><Relationship Type="http://schemas.openxmlformats.org/officeDocument/2006/relationships/image" Target="/ppt/media/image3.png" Id="R32f86bde0f734798" /><Relationship Type="http://schemas.openxmlformats.org/officeDocument/2006/relationships/image" Target="/ppt/media/image10.png" Id="Rfa0666157c0a491a" /><Relationship Type="http://schemas.openxmlformats.org/officeDocument/2006/relationships/notesSlide" Target="/ppt/notesSlides/notesSlide16.xml" Id="Rc1bad3e7686f48a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96679a2ed26349a8" /><Relationship Type="http://schemas.openxmlformats.org/officeDocument/2006/relationships/image" Target="/ppt/media/image10.png" Id="Rd5387ba4bfe445d4" /><Relationship Type="http://schemas.openxmlformats.org/officeDocument/2006/relationships/notesSlide" Target="/ppt/notesSlides/notesSlide17.xml" Id="Ra8ce99df7e0142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4aad48653c9344a5" /><Relationship Type="http://schemas.openxmlformats.org/officeDocument/2006/relationships/image" Target="/ppt/media/image10.png" Id="Rd1ec4747bb50476a" /><Relationship Type="http://schemas.openxmlformats.org/officeDocument/2006/relationships/notesSlide" Target="/ppt/notesSlides/notesSlide18.xml" Id="R01881b933028441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7307e1dc3a7e47f9" /><Relationship Type="http://schemas.openxmlformats.org/officeDocument/2006/relationships/image" Target="/ppt/media/image10.png" Id="Red0d5d52659e4ba5" /><Relationship Type="http://schemas.openxmlformats.org/officeDocument/2006/relationships/notesSlide" Target="/ppt/notesSlides/notesSlide19.xml" Id="R820ee4b52f1d409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b3ae3b11cf804aaa" /><Relationship Type="http://schemas.openxmlformats.org/officeDocument/2006/relationships/image" Target="/ppt/media/image10.png" Id="Rec9a79b8781949ce" /><Relationship Type="http://schemas.openxmlformats.org/officeDocument/2006/relationships/notesSlide" Target="/ppt/notesSlides/notesSlide20.xml" Id="R8a6e9327821942e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f8fa4b1634004d1d" /><Relationship Type="http://schemas.openxmlformats.org/officeDocument/2006/relationships/image" Target="/ppt/media/image10.png" Id="R520e329b137d4684" /><Relationship Type="http://schemas.openxmlformats.org/officeDocument/2006/relationships/notesSlide" Target="/ppt/notesSlides/notesSlide21.xml" Id="R67014c570f85477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46844c5b49d34934" /><Relationship Type="http://schemas.openxmlformats.org/officeDocument/2006/relationships/image" Target="/ppt/media/image11.png" Id="R58ca9137b06a4ed7" /><Relationship Type="http://schemas.openxmlformats.org/officeDocument/2006/relationships/notesSlide" Target="/ppt/notesSlides/notesSlide22.xml" Id="Rc60dd5bff3d74f2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7328cd24828d4427" /><Relationship Type="http://schemas.openxmlformats.org/officeDocument/2006/relationships/image" Target="/ppt/media/image12.png" Id="R96ca1ee5d43e42b6" /><Relationship Type="http://schemas.openxmlformats.org/officeDocument/2006/relationships/notesSlide" Target="/ppt/notesSlides/notesSlide23.xml" Id="R68944e2089d843a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654f8ecf2f644455" /><Relationship Type="http://schemas.openxmlformats.org/officeDocument/2006/relationships/image" Target="/ppt/media/image13.png" Id="R9292812508e94b2d" /><Relationship Type="http://schemas.openxmlformats.org/officeDocument/2006/relationships/notesSlide" Target="/ppt/notesSlides/notesSlide24.xml" Id="R57ffb6e7aa6241c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d56b055c604548cd" /><Relationship Type="http://schemas.openxmlformats.org/officeDocument/2006/relationships/image" Target="/ppt/media/image14.png" Id="R12cf8992319f4971" /><Relationship Type="http://schemas.openxmlformats.org/officeDocument/2006/relationships/notesSlide" Target="/ppt/notesSlides/notesSlide25.xml" Id="R789a08db937c4f1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d9df159bbbc14e07" /><Relationship Type="http://schemas.openxmlformats.org/officeDocument/2006/relationships/image" Target="/ppt/media/image3.png" Id="R474c6145bab94204" /><Relationship Type="http://schemas.openxmlformats.org/officeDocument/2006/relationships/image" Target="/ppt/media/image15.png" Id="Rb9a5a31bb34849fa" /><Relationship Type="http://schemas.openxmlformats.org/officeDocument/2006/relationships/notesSlide" Target="/ppt/notesSlides/notesSlide26.xml" Id="R5258c42ee10f47c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763aefae03d84b0d" /><Relationship Type="http://schemas.openxmlformats.org/officeDocument/2006/relationships/notesSlide" Target="/ppt/notesSlides/notesSlide27.xml" Id="R53dc1635700b418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afaa19ba81e24476" /><Relationship Type="http://schemas.openxmlformats.org/officeDocument/2006/relationships/notesSlide" Target="/ppt/notesSlides/notesSlide28.xml" Id="Rc1eb3b5845a74a2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c1d0cd899114967" /><Relationship Type="http://schemas.openxmlformats.org/officeDocument/2006/relationships/image" Target="/ppt/media/image.jpeg" Id="R7ec1af9e729543cb" /><Relationship Type="http://schemas.openxmlformats.org/officeDocument/2006/relationships/notesSlide" Target="/ppt/notesSlides/notesSlide29.xml" Id="R8a5b757d02e1421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21d29d34d7414492" /><Relationship Type="http://schemas.openxmlformats.org/officeDocument/2006/relationships/image" Target="/ppt/media/image16.png" Id="R304f83182c4844b2" /><Relationship Type="http://schemas.openxmlformats.org/officeDocument/2006/relationships/notesSlide" Target="/ppt/notesSlides/notesSlide30.xml" Id="R8972a811724a4d1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7804c6eb97354192" /><Relationship Type="http://schemas.openxmlformats.org/officeDocument/2006/relationships/image" Target="/ppt/media/image17.png" Id="Rb3dcf759d3e04fc4" /><Relationship Type="http://schemas.openxmlformats.org/officeDocument/2006/relationships/image" Target="/ppt/media/image18.png" Id="Rf3e5d008f7d4450c" /><Relationship Type="http://schemas.openxmlformats.org/officeDocument/2006/relationships/image" Target="/ppt/media/image19.png" Id="R5e99185eda1641b9" /><Relationship Type="http://schemas.openxmlformats.org/officeDocument/2006/relationships/image" Target="/ppt/media/image20.png" Id="R69a810a18e3e40bf" /><Relationship Type="http://schemas.openxmlformats.org/officeDocument/2006/relationships/notesSlide" Target="/ppt/notesSlides/notesSlide31.xml" Id="R72049d107f3a4c0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c65c26c33dad473d" /><Relationship Type="http://schemas.openxmlformats.org/officeDocument/2006/relationships/notesSlide" Target="/ppt/notesSlides/notesSlide32.xml" Id="R726ac73239b9414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c6bd792720fd436a" /><Relationship Type="http://schemas.openxmlformats.org/officeDocument/2006/relationships/image" Target="/ppt/media/image.emf" Id="R699b71beaefe4a5f" /><Relationship Type="http://schemas.openxmlformats.org/officeDocument/2006/relationships/notesSlide" Target="/ppt/notesSlides/notesSlide33.xml" Id="R8fbef0e5b4124f7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4fdfe9969ff641ec" /><Relationship Type="http://schemas.openxmlformats.org/officeDocument/2006/relationships/image" Target="/ppt/media/image3.png" Id="R26ba56b62c1b44d4" /><Relationship Type="http://schemas.openxmlformats.org/officeDocument/2006/relationships/image" Target="/ppt/media/image21.png" Id="R2dd022ab308c4a55" /><Relationship Type="http://schemas.openxmlformats.org/officeDocument/2006/relationships/notesSlide" Target="/ppt/notesSlides/notesSlide34.xml" Id="R75c256674138409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8b8facb25bd046fc" /><Relationship Type="http://schemas.openxmlformats.org/officeDocument/2006/relationships/image" Target="/ppt/media/image2.emf" Id="R5e4563380d0b48e7" /><Relationship Type="http://schemas.openxmlformats.org/officeDocument/2006/relationships/notesSlide" Target="/ppt/notesSlides/notesSlide35.xml" Id="Rbba16bc48a2740b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0a09a0c9f43e4ae4" /><Relationship Type="http://schemas.openxmlformats.org/officeDocument/2006/relationships/image" Target="/ppt/media/image3.emf" Id="R38615167100140fa" /><Relationship Type="http://schemas.openxmlformats.org/officeDocument/2006/relationships/image" Target="/ppt/media/image22.png" Id="R70c2528e3cfd49d4" /><Relationship Type="http://schemas.openxmlformats.org/officeDocument/2006/relationships/notesSlide" Target="/ppt/notesSlides/notesSlide36.xml" Id="R41c127cc94e94ef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da4807fe0a3e4868" /><Relationship Type="http://schemas.openxmlformats.org/officeDocument/2006/relationships/image" Target="/ppt/media/image3.emf" Id="R556fc1393d954182" /><Relationship Type="http://schemas.openxmlformats.org/officeDocument/2006/relationships/image" Target="/ppt/media/image4.emf" Id="R53867b71bd2c401b" /><Relationship Type="http://schemas.openxmlformats.org/officeDocument/2006/relationships/notesSlide" Target="/ppt/notesSlides/notesSlide37.xml" Id="Rb79948e600ec49d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1e3ec745f0c64f2b" /><Relationship Type="http://schemas.openxmlformats.org/officeDocument/2006/relationships/image" Target="/ppt/media/image23.png" Id="R05e706562c894afb" /><Relationship Type="http://schemas.openxmlformats.org/officeDocument/2006/relationships/image" Target="/ppt/media/image5.emf" Id="R822ff885e69341cb" /><Relationship Type="http://schemas.openxmlformats.org/officeDocument/2006/relationships/notesSlide" Target="/ppt/notesSlides/notesSlide38.xml" Id="R5401686f9565433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4415cddc5bd7438a" /><Relationship Type="http://schemas.openxmlformats.org/officeDocument/2006/relationships/image" Target="/ppt/media/image6.emf" Id="R50a3043640d54dbe" /><Relationship Type="http://schemas.openxmlformats.org/officeDocument/2006/relationships/notesSlide" Target="/ppt/notesSlides/notesSlide39.xml" Id="R90c90dd7ef404d3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d1a70bb5301949e9" /><Relationship Type="http://schemas.openxmlformats.org/officeDocument/2006/relationships/image" Target="/ppt/media/image2.jpeg" Id="R03a8a8f0c8294644" /><Relationship Type="http://schemas.openxmlformats.org/officeDocument/2006/relationships/image" Target="/ppt/media/image24.png" Id="Rbd20b54d526c440c" /><Relationship Type="http://schemas.openxmlformats.org/officeDocument/2006/relationships/image" Target="/ppt/media/image25.png" Id="Rddbd270e538c4a4e" /><Relationship Type="http://schemas.openxmlformats.org/officeDocument/2006/relationships/notesSlide" Target="/ppt/notesSlides/notesSlide40.xml" Id="Rd1a0dc32f334426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8790f944eae04874" /><Relationship Type="http://schemas.openxmlformats.org/officeDocument/2006/relationships/notesSlide" Target="/ppt/notesSlides/notesSlide41.xml" Id="R45616d38c03d453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a42755db3ee84f7f" /><Relationship Type="http://schemas.openxmlformats.org/officeDocument/2006/relationships/image" Target="/ppt/media/image26.png" Id="R031efaf0e96a4d20" /><Relationship Type="http://schemas.openxmlformats.org/officeDocument/2006/relationships/image" Target="/ppt/media/image27.png" Id="Rf705e082c7b94e40" /><Relationship Type="http://schemas.openxmlformats.org/officeDocument/2006/relationships/image" Target="/ppt/media/image28.png" Id="Rac87acc338a54785" /><Relationship Type="http://schemas.openxmlformats.org/officeDocument/2006/relationships/notesSlide" Target="/ppt/notesSlides/notesSlide42.xml" Id="R98ffb956d33744b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e90fc0913a0e462a" /><Relationship Type="http://schemas.openxmlformats.org/officeDocument/2006/relationships/notesSlide" Target="/ppt/notesSlides/notesSlide43.xml" Id="R93f6150f74c4425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52a6fc42226e482f" /><Relationship Type="http://schemas.openxmlformats.org/officeDocument/2006/relationships/image" Target="/ppt/media/image29.png" Id="R6528b4b6da784177" /><Relationship Type="http://schemas.openxmlformats.org/officeDocument/2006/relationships/notesSlide" Target="/ppt/notesSlides/notesSlide44.xml" Id="R6f1531e8e7744f6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a62506e06ac04383" /><Relationship Type="http://schemas.openxmlformats.org/officeDocument/2006/relationships/image" Target="/ppt/media/image30.png" Id="Ra7d7593dcb604d65" /><Relationship Type="http://schemas.openxmlformats.org/officeDocument/2006/relationships/notesSlide" Target="/ppt/notesSlides/notesSlide45.xml" Id="R32c117a3045748c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a5f607329f4a4eda" /><Relationship Type="http://schemas.openxmlformats.org/officeDocument/2006/relationships/image" Target="/ppt/media/image31.png" Id="Rffe2c7075655406c" /><Relationship Type="http://schemas.openxmlformats.org/officeDocument/2006/relationships/notesSlide" Target="/ppt/notesSlides/notesSlide46.xml" Id="R99b56772c50b4cf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71c5da2a321149c3" /><Relationship Type="http://schemas.openxmlformats.org/officeDocument/2006/relationships/image" Target="/ppt/media/image7.emf" Id="R0088d0428f6f4362" /><Relationship Type="http://schemas.openxmlformats.org/officeDocument/2006/relationships/image" Target="/ppt/media/image32.png" Id="R01055c8849c94ef5" /><Relationship Type="http://schemas.openxmlformats.org/officeDocument/2006/relationships/image" Target="/ppt/media/image33.png" Id="R3bc496ecfa7d4bad" /><Relationship Type="http://schemas.openxmlformats.org/officeDocument/2006/relationships/notesSlide" Target="/ppt/notesSlides/notesSlide47.xml" Id="Rda86a7d65cdc4e8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258cba39156b4357" /><Relationship Type="http://schemas.openxmlformats.org/officeDocument/2006/relationships/image" Target="/ppt/media/image34.png" Id="R9ae305d13c194c4a" /><Relationship Type="http://schemas.openxmlformats.org/officeDocument/2006/relationships/notesSlide" Target="/ppt/notesSlides/notesSlide48.xml" Id="Ref5017d146ef4e7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ca3f6c2c9d0a48c1" /><Relationship Type="http://schemas.openxmlformats.org/officeDocument/2006/relationships/image" Target="/ppt/media/image35.png" Id="R3dfb2808f90c40aa" /><Relationship Type="http://schemas.openxmlformats.org/officeDocument/2006/relationships/notesSlide" Target="/ppt/notesSlides/notesSlide49.xml" Id="R18f2850fda8842b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22823f6a7bcd47fb" /><Relationship Type="http://schemas.openxmlformats.org/officeDocument/2006/relationships/image" Target="/ppt/media/image36.png" Id="R3f6dc53e5d1e43fe" /><Relationship Type="http://schemas.openxmlformats.org/officeDocument/2006/relationships/image" Target="/ppt/media/image37.png" Id="Rca5958b637e1445c" /><Relationship Type="http://schemas.openxmlformats.org/officeDocument/2006/relationships/image" Target="/ppt/media/image38.png" Id="R6169ebe076cb4326" /><Relationship Type="http://schemas.openxmlformats.org/officeDocument/2006/relationships/image" Target="/ppt/media/image39.png" Id="Rd454334987454cba" /><Relationship Type="http://schemas.openxmlformats.org/officeDocument/2006/relationships/image" Target="/ppt/media/image40.png" Id="R8cf6b2a7469a4067" /><Relationship Type="http://schemas.openxmlformats.org/officeDocument/2006/relationships/image" Target="/ppt/media/image41.png" Id="Rd7d948e806304f6d" /><Relationship Type="http://schemas.openxmlformats.org/officeDocument/2006/relationships/image" Target="/ppt/media/image42.png" Id="Re9f22081ab384ba4" /><Relationship Type="http://schemas.openxmlformats.org/officeDocument/2006/relationships/image" Target="/ppt/media/image20.png" Id="R3a3815afd4594feb" /><Relationship Type="http://schemas.openxmlformats.org/officeDocument/2006/relationships/notesSlide" Target="/ppt/notesSlides/notesSlide50.xml" Id="Rf2c000d575104ff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28205896306f4163" /><Relationship Type="http://schemas.openxmlformats.org/officeDocument/2006/relationships/image" Target="/ppt/media/image3.png" Id="R9a70ea41d51e4624" /><Relationship Type="http://schemas.openxmlformats.org/officeDocument/2006/relationships/image" Target="/ppt/media/image43.png" Id="R39ee0ae53add4230" /><Relationship Type="http://schemas.openxmlformats.org/officeDocument/2006/relationships/notesSlide" Target="/ppt/notesSlides/notesSlide51.xml" Id="R23d757def9d24b2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5f4e4506af241e2" /><Relationship Type="http://schemas.openxmlformats.org/officeDocument/2006/relationships/image" Target="/ppt/media/image.jpeg" Id="R5dbb472b56f44dd4" /><Relationship Type="http://schemas.openxmlformats.org/officeDocument/2006/relationships/notesSlide" Target="/ppt/notesSlides/notesSlide52.xml" Id="Rd1ee68ea22184330" /></Relationships>
</file>

<file path=ppt/slides/slide1.xml><?xml version="1.0" encoding="utf-8"?>
<p:sld xmlns:p="http://schemas.openxmlformats.org/presentationml/2006/main" showMasterSp="0">
  <p:cSld>
    <p:bg>
      <p:bgPr>
        <a:blipFill xmlns:a="http://schemas.openxmlformats.org/drawingml/2006/main" rotWithShape="1">
          <a:blip xmlns:r="http://schemas.openxmlformats.org/officeDocument/2006/relationships" r:embed="R240e5af5492242bc"/>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AF1F75-9662-49B5-A479-C9C75D6EEF74}"/>
              </a:ext>
            </a:extLst>
          </p:cNvPr>
          <p:cNvSpPr>
            <a:spLocks xmlns:a="http://schemas.openxmlformats.org/drawingml/2006/main" noGrp="1"/>
          </p:cNvSpPr>
          <p:nvPr>
            <p:ph type="ctrTitle" idx="0"/>
          </p:nvPr>
        </p:nvSpPr>
        <p:spPr>
          <a:xfrm xmlns:a="http://schemas.openxmlformats.org/drawingml/2006/main">
            <a:off x="2119356" y="1565483"/>
            <a:ext cx="7973227" cy="1428750"/>
          </a:xfrm>
        </p:spPr>
        <p:txBody>
          <a:bodyPr xmlns:a="http://schemas.openxmlformats.org/drawingml/2006/main" lIns="0" tIns="0" rIns="0" bIns="0" anchor="ctr">
            <a:normAutofit/>
          </a:bodyPr>
          <a:lstStyle xmlns:a="http://schemas.openxmlformats.org/drawingml/2006/main"/>
          <a:p xmlns:a="http://schemas.openxmlformats.org/drawingml/2006/main">
            <a:pPr>
              <a:lnSpc>
                <a:spcPct val="94000"/>
              </a:lnSpc>
              <a:spcAft>
                <a:spcPts val="5"/>
              </a:spcAft>
              <a:buNone/>
            </a:pPr>
            <a:r>
              <a:rPr sz="2800" b="1">
                <a:solidFill>
                  <a:srgbClr val="FFFFFF"/>
                </a:solidFill>
              </a:rPr>
              <a:t>Enhancing Software Evolution Reliability</a:t>
            </a:r>
          </a:p>
          <a:p xmlns:a="http://schemas.openxmlformats.org/drawingml/2006/main">
            <a:pPr>
              <a:lnSpc>
                <a:spcPct val="94000"/>
              </a:lnSpc>
              <a:spcAft>
                <a:spcPts val="0"/>
              </a:spcAft>
              <a:buNone/>
            </a:pPr>
            <a:r>
              <a:rPr sz="2800" b="1">
                <a:solidFill>
                  <a:srgbClr val="FFFFFF"/>
                </a:solidFill>
              </a:rPr>
              <a:t>through </a:t>
            </a:r>
            <a:r>
              <a:rPr sz="2800" b="1">
                <a:solidFill>
                  <a:srgbClr val="FFFFFF"/>
                </a:solidFill>
              </a:rPr>
              <a:t>Neurosymbolic</a:t>
            </a:r>
            <a:r>
              <a:rPr sz="2800" b="1">
                <a:solidFill>
                  <a:srgbClr val="FFFFFF"/>
                </a:solidFill>
              </a:rPr>
              <a:t> Reasoning</a:t>
            </a:r>
          </a:p>
        </p:txBody>
      </p:sp>
      <p:sp>
        <p:nvSpPr>
          <p:cNvPr id="3" name="Subtitle 2">
            <a:extLst xmlns:a="http://schemas.openxmlformats.org/drawingml/2006/main">
              <a:ext uri="{FF2B5EF4-FFF2-40B4-BE49-F238E27FC236}">
                <a16:creationId xmlns:a16="http://schemas.microsoft.com/office/drawing/2014/main" id="{9C674DA4-4902-47E5-A15A-5A8E5AC5057C}"/>
              </a:ext>
            </a:extLst>
          </p:cNvPr>
          <p:cNvSpPr>
            <a:spLocks xmlns:a="http://schemas.openxmlformats.org/drawingml/2006/main" noGrp="1"/>
          </p:cNvSpPr>
          <p:nvPr>
            <p:ph type="subTitle" idx="1"/>
          </p:nvPr>
        </p:nvSpPr>
        <p:spPr>
          <a:xfrm xmlns:a="http://schemas.openxmlformats.org/drawingml/2006/main">
            <a:off x="2686050" y="3257550"/>
            <a:ext cx="5476875" cy="1143000"/>
          </a:xfrm>
        </p:spPr>
        <p:txBody>
          <a:bodyPr xmlns:a="http://schemas.openxmlformats.org/drawingml/2006/main" lIns="0" tIns="0" rIns="0" bIns="0">
            <a:normAutofit/>
          </a:bodyPr>
          <a:lstStyle xmlns:a="http://schemas.openxmlformats.org/drawingml/2006/main"/>
          <a:p xmlns:a="http://schemas.openxmlformats.org/drawingml/2006/main">
            <a:pPr algn="l">
              <a:lnSpc>
                <a:spcPct val="108000"/>
              </a:lnSpc>
              <a:buNone/>
              <a:defRPr sz="1050" b="1">
                <a:solidFill>
                  <a:srgbClr val="FFFFFF"/>
                </a:solidFill>
              </a:defRPr>
            </a:pPr>
            <a:r>
              <a:rPr sz="1050" b="1">
                <a:solidFill>
                  <a:srgbClr val="FFFFFF"/>
                </a:solidFill>
              </a:rPr>
              <a:t>Xiufeng</a:t>
            </a:r>
            <a:r>
              <a:rPr sz="1050" b="1">
                <a:solidFill>
                  <a:srgbClr val="FFFFFF"/>
                </a:solidFill>
              </a:rPr>
              <a:t> Xu</a:t>
            </a:r>
          </a:p>
          <a:p xmlns:a="http://schemas.openxmlformats.org/drawingml/2006/main">
            <a:pPr algn="l">
              <a:lnSpc>
                <a:spcPct val="108000"/>
              </a:lnSpc>
              <a:buNone/>
              <a:defRPr sz="1050" b="1">
                <a:solidFill>
                  <a:srgbClr val="FFFFFF"/>
                </a:solidFill>
              </a:defRPr>
            </a:pPr>
            <a:r>
              <a:rPr sz="1050" b="1">
                <a:solidFill>
                  <a:srgbClr val="FFFFFF"/>
                </a:solidFill>
              </a:rPr>
              <a:t>PhD </a:t>
            </a:r>
            <a:r>
              <a:rPr sz="1050" b="1">
                <a:solidFill>
                  <a:srgbClr val="FFFFFF"/>
                </a:solidFill>
              </a:rPr>
              <a:t>Thesis</a:t>
            </a:r>
            <a:r>
              <a:rPr sz="1050" b="1">
                <a:solidFill>
                  <a:srgbClr val="FFFFFF"/>
                </a:solidFill>
              </a:rPr>
              <a:t> Defense · Nanyang Technological University</a:t>
            </a:r>
          </a:p>
          <a:p xmlns:a="http://schemas.openxmlformats.org/drawingml/2006/main">
            <a:pPr algn="l">
              <a:lnSpc>
                <a:spcPct val="108000"/>
              </a:lnSpc>
              <a:buNone/>
              <a:defRPr sz="1050" b="1">
                <a:solidFill>
                  <a:srgbClr val="FFFFFF"/>
                </a:solidFill>
              </a:defRPr>
            </a:pPr>
            <a:r>
              <a:rPr sz="1050" b="1">
                <a:solidFill>
                  <a:srgbClr val="FFFFFF"/>
                </a:solidFill>
              </a:rPr>
              <a:t>Supervisor: Prof. Yi Li · 2026</a:t>
            </a:r>
          </a:p>
        </p:txBody>
      </p:sp>
    </p:spTree>
    <p:extLst>
      <p:ext uri="{BB962C8B-B14F-4D97-AF65-F5344CB8AC3E}">
        <p14:creationId xmlns:p14="http://schemas.microsoft.com/office/powerpoint/2010/main" val="116020714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4" name="Picture 10"/>
          <p:cNvPicPr>
            <a:picLocks xmlns:a="http://schemas.openxmlformats.org/drawingml/2006/main" noChangeAspect="1"/>
          </p:cNvPicPr>
          <p:nvPr/>
        </p:nvPicPr>
        <p:blipFill>
          <a:blip xmlns:r="http://schemas.openxmlformats.org/officeDocument/2006/relationships" xmlns:a="http://schemas.openxmlformats.org/drawingml/2006/main" r:embed="Rde5b73e637394163"/>
          <a:stretch xmlns:a="http://schemas.openxmlformats.org/drawingml/2006/main"/>
        </p:blipFill>
        <p:spPr>
          <a:xfrm xmlns:a="http://schemas.openxmlformats.org/drawingml/2006/main">
            <a:off x="5752407" y="1066800"/>
            <a:ext cx="3142212" cy="2778500"/>
          </a:xfrm>
          <a:prstGeom xmlns:a="http://schemas.openxmlformats.org/drawingml/2006/main" prst="rect">
            <a:avLst/>
          </a:prstGeom>
        </p:spPr>
      </p:pic>
      <p:sp>
        <p:nvSpPr>
          <p:cNvPr id="3" name="Content Placeholder 2">
            <a:extLst xmlns:a="http://schemas.openxmlformats.org/drawingml/2006/main">
              <a:ext uri="{FF2B5EF4-FFF2-40B4-BE49-F238E27FC236}">
                <a16:creationId xmlns:a16="http://schemas.microsoft.com/office/drawing/2014/main" id="{93188B2E-172E-4F35-AE61-2055E08986B4}"/>
              </a:ext>
            </a:extLst>
          </p:cNvPr>
          <p:cNvSpPr>
            <a:spLocks xmlns:a="http://schemas.openxmlformats.org/drawingml/2006/main" noGrp="1"/>
          </p:cNvSpPr>
          <p:nvPr>
            <p:ph idx="1"/>
          </p:nvPr>
        </p:nvSpPr>
        <p:spPr>
          <a:xfrm xmlns:a="http://schemas.openxmlformats.org/drawingml/2006/main">
            <a:off x="457199" y="1428750"/>
            <a:ext cx="5866109" cy="2571750"/>
          </a:xfrm>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2"/>
              </a:spcAft>
              <a:buNone/>
            </a:pPr>
            <a:r>
              <a:rPr sz="1700" b="1" i="0">
                <a:solidFill>
                  <a:srgbClr val="0055A5"/>
                </a:solidFill>
                <a:latin typeface="Arial"/>
                <a:ea typeface="Arial"/>
                <a:cs typeface="Arial"/>
              </a:rPr>
              <a:t>Software now evolves as a dependency network</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Modern systems are large, complex, and interconnected.</a:t>
            </a:r>
          </a:p>
          <a:p xmlns:a="http://schemas.openxmlformats.org/drawingml/2006/main">
            <a:pPr marL="0" indent="0">
              <a:lnSpc>
                <a:spcPct val="103000"/>
              </a:lnSpc>
              <a:spcBef>
                <a:spcPts val="6"/>
              </a:spcBef>
              <a:spcAft>
                <a:spcPts val="2"/>
              </a:spcAft>
              <a:buNone/>
            </a:pPr>
            <a:r>
              <a:rPr sz="1700" b="1" i="0">
                <a:solidFill>
                  <a:srgbClr val="0055A5"/>
                </a:solidFill>
                <a:latin typeface="Arial"/>
                <a:ea typeface="Arial"/>
                <a:cs typeface="Arial"/>
              </a:rPr>
              <a:t>Transitive dependencies amplify every change</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A PyPI package averages 2.6 direct and 129.6 transitive dependencies.</a:t>
            </a:r>
          </a:p>
          <a:p xmlns:a="http://schemas.openxmlformats.org/drawingml/2006/main">
            <a:pPr marL="0" indent="0">
              <a:lnSpc>
                <a:spcPct val="103000"/>
              </a:lnSpc>
              <a:spcBef>
                <a:spcPts val="6"/>
              </a:spcBef>
              <a:spcAft>
                <a:spcPts val="2"/>
              </a:spcAft>
              <a:buNone/>
            </a:pPr>
            <a:r>
              <a:rPr sz="1700" b="1" i="0">
                <a:solidFill>
                  <a:srgbClr val="0055A5"/>
                </a:solidFill>
                <a:latin typeface="Arial"/>
                <a:ea typeface="Arial"/>
                <a:cs typeface="Arial"/>
              </a:rPr>
              <a:t>Reliable evolution must address two pressures</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React to external change while improving internal quality.</a:t>
            </a:r>
          </a:p>
        </p:txBody>
      </p:sp>
      <p:sp>
        <p:nvSpPr>
          <p:cNvPr id="4" name="Footer Placeholder 3">
            <a:extLst xmlns:a="http://schemas.openxmlformats.org/drawingml/2006/main">
              <a:ext uri="{FF2B5EF4-FFF2-40B4-BE49-F238E27FC236}">
                <a16:creationId xmlns:a16="http://schemas.microsoft.com/office/drawing/2014/main" id="{809FEF1E-06B8-4B90-8292-2374FD45CC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College of Computing and Data Science</a:t>
            </a:r>
          </a:p>
        </p:txBody>
      </p:sp>
      <p:sp>
        <p:nvSpPr>
          <p:cNvPr id="12" name="Title 1">
            <a:extLst xmlns:a="http://schemas.openxmlformats.org/drawingml/2006/main">
              <a:ext uri="{FF2B5EF4-FFF2-40B4-BE49-F238E27FC236}">
                <a16:creationId xmlns:a16="http://schemas.microsoft.com/office/drawing/2014/main" id="{B5BACEAC-A739-F6ED-E977-979BF1E7709B}"/>
              </a:ext>
            </a:extLst>
          </p:cNvPr>
          <p:cNvSpPr>
            <a:spLocks xmlns:a="http://schemas.openxmlformats.org/drawingml/2006/main" noGrp="1"/>
          </p:cNvSpPr>
          <p:nvPr/>
        </p:nvSpPr>
        <p:spPr>
          <a:xfrm xmlns:a="http://schemas.openxmlformats.org/drawingml/2006/main">
            <a:off x="457199" y="190500"/>
            <a:ext cx="8509819" cy="8763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457200">
              <a:spcBef>
                <a:spcPct val="0"/>
              </a:spcBef>
              <a:buNone/>
              <a:defRPr sz="4400" kern="1200">
                <a:solidFill>
                  <a:schemeClr val="tx1"/>
                </a:solidFill>
                <a:latin typeface="Arial"/>
                <a:ea typeface="Arial"/>
                <a:cs typeface="Arial"/>
              </a:defRPr>
            </a:lvl1pPr>
          </a:lstStyle>
          <a:p xmlns:a="http://schemas.openxmlformats.org/drawingml/2006/main">
            <a:pPr>
              <a:lnSpc>
                <a:spcPct val="98000"/>
              </a:lnSpc>
              <a:spcAft>
                <a:spcPts val="4"/>
              </a:spcAft>
              <a:buNone/>
            </a:pPr>
            <a:r>
              <a:rPr sz="950" b="1">
                <a:solidFill>
                  <a:srgbClr val="0055A5"/>
                </a:solidFill>
              </a:rPr>
              <a:t>THESIS / MOTIVATION</a:t>
            </a:r>
          </a:p>
          <a:p xmlns:a="http://schemas.openxmlformats.org/drawingml/2006/main">
            <a:pPr>
              <a:lnSpc>
                <a:spcPct val="98000"/>
              </a:lnSpc>
              <a:buNone/>
            </a:pPr>
            <a:r>
              <a:rPr sz="2150" b="1">
                <a:solidFill>
                  <a:srgbClr val="20252C"/>
                </a:solidFill>
              </a:rPr>
              <a:t>How to evolve software without losing control of its </a:t>
            </a:r>
            <a:r>
              <a:rPr sz="2150" b="1">
                <a:solidFill>
                  <a:srgbClr val="20252C"/>
                </a:solidFill>
              </a:rPr>
              <a:t>behavior</a:t>
            </a:r>
            <a:r>
              <a:rPr sz="2150" b="1">
                <a:solidFill>
                  <a:srgbClr val="20252C"/>
                </a:solidFill>
              </a:rPr>
              <a:t>?</a:t>
            </a:r>
          </a:p>
        </p:txBody>
      </p:sp>
    </p:spTree>
    <p:extLst>
      <p:ext uri="{BB962C8B-B14F-4D97-AF65-F5344CB8AC3E}">
        <p14:creationId xmlns:p14="http://schemas.microsoft.com/office/powerpoint/2010/main" val="31578152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FC68985F-895B-4EFE-AFB6-4144BF2DF34E}"/>
              </a:ext>
            </a:extLst>
          </p:cNvPr>
          <p:cNvSpPr>
            <a:spLocks xmlns:a="http://schemas.openxmlformats.org/drawingml/2006/main" noGrp="1"/>
          </p:cNvSpPr>
          <p:nvPr>
            <p:ph idx="1"/>
          </p:nvPr>
        </p:nvSpPr>
        <p:spPr>
          <a:xfrm xmlns:a="http://schemas.openxmlformats.org/drawingml/2006/main">
            <a:off x="457200" y="1248620"/>
            <a:ext cx="7715250" cy="3490528"/>
          </a:xfrm>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2"/>
              </a:spcAft>
              <a:buNone/>
            </a:pPr>
            <a:r>
              <a:rPr sz="1700" b="1" i="0">
                <a:solidFill>
                  <a:srgbClr val="0055A5"/>
                </a:solidFill>
                <a:latin typeface="Arial"/>
                <a:ea typeface="Arial"/>
                <a:cs typeface="Arial"/>
              </a:rPr>
              <a:t>1. Perceive risks and define the change</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Manage external risk and identify evolution needs.</a:t>
            </a:r>
          </a:p>
          <a:p xmlns:a="http://schemas.openxmlformats.org/drawingml/2006/main">
            <a:pPr marL="0" indent="0">
              <a:lnSpc>
                <a:spcPct val="103000"/>
              </a:lnSpc>
              <a:spcBef>
                <a:spcPts val="6"/>
              </a:spcBef>
              <a:spcAft>
                <a:spcPts val="2"/>
              </a:spcAft>
              <a:buNone/>
            </a:pPr>
            <a:r>
              <a:rPr sz="1700" b="1" i="0">
                <a:solidFill>
                  <a:srgbClr val="0055A5"/>
                </a:solidFill>
                <a:latin typeface="Arial"/>
                <a:ea typeface="Arial"/>
                <a:cs typeface="Arial"/>
              </a:rPr>
              <a:t>2. Implement logic and verify behavior</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Locate the relevant code, make the change, and validate the outcome.</a:t>
            </a:r>
          </a:p>
          <a:p xmlns:a="http://schemas.openxmlformats.org/drawingml/2006/main">
            <a:pPr marL="0" indent="0">
              <a:lnSpc>
                <a:spcPct val="103000"/>
              </a:lnSpc>
              <a:spcBef>
                <a:spcPts val="6"/>
              </a:spcBef>
              <a:spcAft>
                <a:spcPts val="2"/>
              </a:spcAft>
              <a:buNone/>
            </a:pPr>
            <a:r>
              <a:rPr sz="1700" b="1" i="0">
                <a:solidFill>
                  <a:srgbClr val="0055A5"/>
                </a:solidFill>
                <a:latin typeface="Arial"/>
                <a:ea typeface="Arial"/>
                <a:cs typeface="Arial"/>
              </a:rPr>
              <a:t>3. Deliver artifacts and preserve alignment</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Release the evolved system and keep documentation consistent with code.</a:t>
            </a:r>
          </a:p>
        </p:txBody>
      </p:sp>
      <p:sp>
        <p:nvSpPr>
          <p:cNvPr id="4" name="Footer Placeholder 3">
            <a:extLst xmlns:a="http://schemas.openxmlformats.org/drawingml/2006/main">
              <a:ext uri="{FF2B5EF4-FFF2-40B4-BE49-F238E27FC236}">
                <a16:creationId xmlns:a16="http://schemas.microsoft.com/office/drawing/2014/main" id="{FCAF4D8E-091D-4042-A2CC-D15FCC74C2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College of Computing and Data Science</a:t>
            </a:r>
          </a:p>
        </p:txBody>
      </p:sp>
      <p:sp>
        <p:nvSpPr>
          <p:cNvPr id="7" name="Title 1">
            <a:extLst xmlns:a="http://schemas.openxmlformats.org/drawingml/2006/main">
              <a:ext uri="{FF2B5EF4-FFF2-40B4-BE49-F238E27FC236}">
                <a16:creationId xmlns:a16="http://schemas.microsoft.com/office/drawing/2014/main" id="{8F9FE504-7D3F-6F04-8951-F709691B1619}"/>
              </a:ext>
            </a:extLst>
          </p:cNvPr>
          <p:cNvSpPr>
            <a:spLocks xmlns:a="http://schemas.openxmlformats.org/drawingml/2006/main" noGrp="1"/>
          </p:cNvSpPr>
          <p:nvPr/>
        </p:nvSpPr>
        <p:spPr>
          <a:xfrm xmlns:a="http://schemas.openxmlformats.org/drawingml/2006/main">
            <a:off x="457200" y="190500"/>
            <a:ext cx="8229600" cy="8763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457200">
              <a:spcBef>
                <a:spcPct val="0"/>
              </a:spcBef>
              <a:buNone/>
              <a:defRPr sz="4400" kern="1200">
                <a:solidFill>
                  <a:schemeClr val="tx1"/>
                </a:solidFill>
                <a:latin typeface="Arial"/>
                <a:ea typeface="Arial"/>
                <a:cs typeface="Arial"/>
              </a:defRPr>
            </a:lvl1pPr>
          </a:lstStyle>
          <a:p xmlns:a="http://schemas.openxmlformats.org/drawingml/2006/main">
            <a:pPr>
              <a:lnSpc>
                <a:spcPct val="98000"/>
              </a:lnSpc>
              <a:spcAft>
                <a:spcPts val="4"/>
              </a:spcAft>
              <a:buNone/>
            </a:pPr>
            <a:r>
              <a:rPr sz="950" b="1">
                <a:solidFill>
                  <a:srgbClr val="0055A5"/>
                </a:solidFill>
              </a:rPr>
              <a:t>THESIS / EVOLUTION</a:t>
            </a:r>
          </a:p>
          <a:p xmlns:a="http://schemas.openxmlformats.org/drawingml/2006/main">
            <a:pPr>
              <a:lnSpc>
                <a:spcPct val="98000"/>
              </a:lnSpc>
              <a:buNone/>
            </a:pPr>
            <a:r>
              <a:rPr sz="2150" b="1">
                <a:solidFill>
                  <a:srgbClr val="20252C"/>
                </a:solidFill>
              </a:rPr>
              <a:t>Three phases of software evolution</a:t>
            </a:r>
          </a:p>
        </p:txBody>
      </p:sp>
    </p:spTree>
    <p:extLst>
      <p:ext uri="{BB962C8B-B14F-4D97-AF65-F5344CB8AC3E}">
        <p14:creationId xmlns:p14="http://schemas.microsoft.com/office/powerpoint/2010/main" val="193010805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E9D1C80-ADE9-BC4B-BCE8-74A1B4B41C95}"/>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55A5"/>
                </a:solidFill>
              </a:rPr>
              <a:t>THESIS / </a:t>
            </a:r>
            <a:r>
              <a:rPr sz="950" b="1">
                <a:solidFill>
                  <a:srgbClr val="0055A5"/>
                </a:solidFill>
              </a:rPr>
              <a:t>REVOLUTION</a:t>
            </a:r>
          </a:p>
          <a:p xmlns:a="http://schemas.openxmlformats.org/drawingml/2006/main">
            <a:pPr>
              <a:lnSpc>
                <a:spcPct val="98000"/>
              </a:lnSpc>
              <a:buNone/>
            </a:pPr>
            <a:r>
              <a:rPr sz="2150" b="1">
                <a:solidFill>
                  <a:srgbClr val="20252C"/>
                </a:solidFill>
              </a:rPr>
              <a:t>AI redefines everything: Does symbol still matter?</a:t>
            </a:r>
          </a:p>
        </p:txBody>
      </p:sp>
      <p:sp>
        <p:nvSpPr>
          <p:cNvPr id="4" name="Footer Placeholder 3">
            <a:extLst xmlns:a="http://schemas.openxmlformats.org/drawingml/2006/main">
              <a:ext uri="{FF2B5EF4-FFF2-40B4-BE49-F238E27FC236}">
                <a16:creationId xmlns:a16="http://schemas.microsoft.com/office/drawing/2014/main" id="{F6F3B586-0125-6C21-361B-6419F70922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College of Computing and Data Science</a:t>
            </a:r>
          </a:p>
        </p:txBody>
      </p:sp>
      <p:sp>
        <p:nvSpPr>
          <p:cNvPr id="7" name="Content Placeholder 2">
            <a:extLst xmlns:a="http://schemas.openxmlformats.org/drawingml/2006/main">
              <a:ext uri="{FF2B5EF4-FFF2-40B4-BE49-F238E27FC236}">
                <a16:creationId xmlns:a16="http://schemas.microsoft.com/office/drawing/2014/main" id="{CF025896-3958-EDFF-A6CA-A3404BA6BCC8}"/>
              </a:ext>
            </a:extLst>
          </p:cNvPr>
          <p:cNvSpPr>
            <a:spLocks xmlns:a="http://schemas.openxmlformats.org/drawingml/2006/main" noGrp="1"/>
          </p:cNvSpPr>
          <p:nvPr>
            <p:ph idx="1"/>
          </p:nvPr>
        </p:nvSpPr>
        <p:spPr>
          <a:xfrm xmlns:a="http://schemas.openxmlformats.org/drawingml/2006/main">
            <a:off x="457200" y="1202608"/>
            <a:ext cx="9050595" cy="3212076"/>
          </a:xfrm>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2"/>
              </a:spcAft>
              <a:buNone/>
            </a:pPr>
            <a:r>
              <a:rPr sz="1700" b="1" i="0">
                <a:solidFill>
                  <a:srgbClr val="0055A5"/>
                </a:solidFill>
                <a:latin typeface="Arial"/>
                <a:ea typeface="Arial"/>
                <a:cs typeface="Arial"/>
              </a:rPr>
              <a:t>AI alone cannot guarantee reliable evolution</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Hallucination and weak deterministic reasoning remain fundamental limits.</a:t>
            </a:r>
          </a:p>
          <a:p xmlns:a="http://schemas.openxmlformats.org/drawingml/2006/main">
            <a:pPr marL="0" indent="0">
              <a:lnSpc>
                <a:spcPct val="103000"/>
              </a:lnSpc>
              <a:spcBef>
                <a:spcPts val="6"/>
              </a:spcBef>
              <a:spcAft>
                <a:spcPts val="2"/>
              </a:spcAft>
              <a:buNone/>
            </a:pPr>
            <a:r>
              <a:rPr sz="1700" b="1" i="0">
                <a:solidFill>
                  <a:srgbClr val="0055A5"/>
                </a:solidFill>
                <a:latin typeface="Arial"/>
                <a:ea typeface="Arial"/>
                <a:cs typeface="Arial"/>
              </a:rPr>
              <a:t>Symbolic reasoning restores omitted structure</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Explicit logic compensates for information lost when models simplify reality.</a:t>
            </a:r>
          </a:p>
          <a:p xmlns:a="http://schemas.openxmlformats.org/drawingml/2006/main">
            <a:pPr marL="0" indent="0">
              <a:lnSpc>
                <a:spcPct val="103000"/>
              </a:lnSpc>
              <a:spcBef>
                <a:spcPts val="6"/>
              </a:spcBef>
              <a:spcAft>
                <a:spcPts val="2"/>
              </a:spcAft>
              <a:buNone/>
            </a:pPr>
            <a:r>
              <a:rPr sz="1700" b="1" i="0">
                <a:solidFill>
                  <a:srgbClr val="0055A5"/>
                </a:solidFill>
                <a:latin typeface="Arial"/>
                <a:ea typeface="Arial"/>
                <a:cs typeface="Arial"/>
              </a:rPr>
              <a:t>Neurosymbolic systems combine flexibility with rigor</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LLMs interpret ambiguity; symbolic methods constrain and verify behavior.</a:t>
            </a:r>
          </a:p>
        </p:txBody>
      </p:sp>
    </p:spTree>
    <p:extLst>
      <p:ext uri="{BB962C8B-B14F-4D97-AF65-F5344CB8AC3E}">
        <p14:creationId xmlns:p14="http://schemas.microsoft.com/office/powerpoint/2010/main" val="99115980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F7442D-2ED6-4D3A-929D-1799FAFB1D20}"/>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55A5"/>
                </a:solidFill>
              </a:rPr>
              <a:t>THESIS / ROADMAP</a:t>
            </a:r>
          </a:p>
          <a:p xmlns:a="http://schemas.openxmlformats.org/drawingml/2006/main">
            <a:pPr>
              <a:lnSpc>
                <a:spcPct val="98000"/>
              </a:lnSpc>
              <a:buNone/>
            </a:pPr>
            <a:r>
              <a:rPr sz="2350" b="1">
                <a:solidFill>
                  <a:srgbClr val="20252C"/>
                </a:solidFill>
              </a:rPr>
              <a:t>Contributions</a:t>
            </a:r>
          </a:p>
        </p:txBody>
      </p:sp>
      <p:sp>
        <p:nvSpPr>
          <p:cNvPr id="3" name="Content Placeholder 2">
            <a:extLst xmlns:a="http://schemas.openxmlformats.org/drawingml/2006/main">
              <a:ext uri="{FF2B5EF4-FFF2-40B4-BE49-F238E27FC236}">
                <a16:creationId xmlns:a16="http://schemas.microsoft.com/office/drawing/2014/main" id="{FC68985F-895B-4EFE-AFB6-4144BF2DF34E}"/>
              </a:ext>
            </a:extLst>
          </p:cNvPr>
          <p:cNvSpPr>
            <a:spLocks xmlns:a="http://schemas.openxmlformats.org/drawingml/2006/main" noGrp="1"/>
          </p:cNvSpPr>
          <p:nvPr>
            <p:ph idx="1"/>
          </p:nvPr>
        </p:nvSpPr>
        <p:spPr>
          <a:xfrm xmlns:a="http://schemas.openxmlformats.org/drawingml/2006/main">
            <a:off x="457200" y="1293556"/>
            <a:ext cx="7715250" cy="3000375"/>
          </a:xfrm>
        </p:spPr>
        <p:txBody>
          <a:bodyPr xmlns:a="http://schemas.openxmlformats.org/drawingml/2006/main"/>
          <a:lstStyle xmlns:a="http://schemas.openxmlformats.org/drawingml/2006/main"/>
          <a:p xmlns:a="http://schemas.openxmlformats.org/drawingml/2006/main">
            <a:pPr marL="0" indent="0">
              <a:lnSpc>
                <a:spcPct val="102000"/>
              </a:lnSpc>
              <a:spcAft>
                <a:spcPts val="2"/>
              </a:spcAft>
              <a:buNone/>
            </a:pPr>
            <a:r>
              <a:rPr sz="1200" b="1">
                <a:solidFill>
                  <a:srgbClr val="0055A5"/>
                </a:solidFill>
              </a:rPr>
              <a:t>01</a:t>
            </a:r>
            <a:r>
              <a:rPr sz="2400" b="1">
                <a:solidFill>
                  <a:srgbClr val="20252C"/>
                </a:solidFill>
              </a:rPr>
              <a:t>  </a:t>
            </a:r>
            <a:r>
              <a:rPr sz="2100" b="1">
                <a:solidFill>
                  <a:srgbClr val="0055A5"/>
                </a:solidFill>
              </a:rPr>
              <a:t>CompSuite</a:t>
            </a:r>
          </a:p>
          <a:p xmlns:a="http://schemas.openxmlformats.org/drawingml/2006/main">
            <a:pPr marL="0" indent="0">
              <a:lnSpc>
                <a:spcPct val="102000"/>
              </a:lnSpc>
              <a:spcAft>
                <a:spcPts val="14"/>
              </a:spcAft>
              <a:buNone/>
            </a:pPr>
            <a:r>
              <a:rPr sz="1600">
                <a:solidFill>
                  <a:srgbClr val="667085"/>
                </a:solidFill>
              </a:rPr>
              <a:t>Reproducible real-world</a:t>
            </a:r>
            <a:r>
              <a:rPr sz="1600">
                <a:solidFill>
                  <a:srgbClr val="667085"/>
                </a:solidFill>
              </a:rPr>
              <a:t> </a:t>
            </a:r>
            <a:r>
              <a:rPr sz="1600">
                <a:solidFill>
                  <a:srgbClr val="667085"/>
                </a:solidFill>
              </a:rPr>
              <a:t>client-library</a:t>
            </a:r>
            <a:r>
              <a:rPr sz="1600">
                <a:solidFill>
                  <a:srgbClr val="667085"/>
                </a:solidFill>
              </a:rPr>
              <a:t> incompatibility dataset</a:t>
            </a:r>
          </a:p>
          <a:p xmlns:a="http://schemas.openxmlformats.org/drawingml/2006/main">
            <a:pPr marL="0" indent="0">
              <a:lnSpc>
                <a:spcPct val="102000"/>
              </a:lnSpc>
              <a:spcAft>
                <a:spcPts val="2"/>
              </a:spcAft>
              <a:buNone/>
            </a:pPr>
            <a:r>
              <a:rPr sz="1200" b="1">
                <a:solidFill>
                  <a:srgbClr val="0055A5"/>
                </a:solidFill>
              </a:rPr>
              <a:t>02</a:t>
            </a:r>
            <a:r>
              <a:rPr sz="2400" b="1">
                <a:solidFill>
                  <a:srgbClr val="20252C"/>
                </a:solidFill>
              </a:rPr>
              <a:t>  </a:t>
            </a:r>
            <a:r>
              <a:rPr sz="2100" b="1">
                <a:solidFill>
                  <a:srgbClr val="0055A5"/>
                </a:solidFill>
              </a:rPr>
              <a:t>DataLoc</a:t>
            </a:r>
          </a:p>
          <a:p xmlns:a="http://schemas.openxmlformats.org/drawingml/2006/main">
            <a:pPr marL="0" indent="0">
              <a:lnSpc>
                <a:spcPct val="102000"/>
              </a:lnSpc>
              <a:spcAft>
                <a:spcPts val="0"/>
              </a:spcAft>
              <a:buNone/>
            </a:pPr>
            <a:r>
              <a:rPr sz="1600">
                <a:solidFill>
                  <a:srgbClr val="667085"/>
                </a:solidFill>
              </a:rPr>
              <a:t>Keyword shortcut bias and diagnostic benchmark</a:t>
            </a:r>
          </a:p>
          <a:p xmlns:a="http://schemas.openxmlformats.org/drawingml/2006/main">
            <a:pPr marL="0" indent="0">
              <a:lnSpc>
                <a:spcPct val="102000"/>
              </a:lnSpc>
              <a:spcAft>
                <a:spcPts val="0"/>
              </a:spcAft>
              <a:buNone/>
            </a:pPr>
            <a:r>
              <a:rPr sz="1600">
                <a:solidFill>
                  <a:srgbClr val="667085"/>
                </a:solidFill>
              </a:rPr>
              <a:t>Neurosymbolic</a:t>
            </a:r>
            <a:r>
              <a:rPr sz="1600">
                <a:solidFill>
                  <a:srgbClr val="667085"/>
                </a:solidFill>
              </a:rPr>
              <a:t> agent framework for repository-level code localization</a:t>
            </a:r>
          </a:p>
          <a:p xmlns:a="http://schemas.openxmlformats.org/drawingml/2006/main">
            <a:pPr marL="0" indent="0">
              <a:lnSpc>
                <a:spcPct val="102000"/>
              </a:lnSpc>
              <a:spcAft>
                <a:spcPts val="0"/>
              </a:spcAft>
              <a:buNone/>
            </a:pPr>
          </a:p>
          <a:p xmlns:a="http://schemas.openxmlformats.org/drawingml/2006/main">
            <a:pPr marL="0" indent="0">
              <a:lnSpc>
                <a:spcPct val="102000"/>
              </a:lnSpc>
              <a:spcAft>
                <a:spcPts val="14"/>
              </a:spcAft>
              <a:buNone/>
            </a:pPr>
            <a:r>
              <a:rPr sz="1200" b="1">
                <a:solidFill>
                  <a:srgbClr val="0055A5"/>
                </a:solidFill>
              </a:rPr>
              <a:t>03</a:t>
            </a:r>
            <a:r>
              <a:rPr sz="1600" b="1">
                <a:solidFill>
                  <a:srgbClr val="20252C"/>
                </a:solidFill>
              </a:rPr>
              <a:t>  </a:t>
            </a:r>
            <a:r>
              <a:rPr sz="2100" b="1">
                <a:solidFill>
                  <a:srgbClr val="0055A5"/>
                </a:solidFill>
              </a:rPr>
              <a:t>MPChecker</a:t>
            </a:r>
          </a:p>
          <a:p xmlns:a="http://schemas.openxmlformats.org/drawingml/2006/main">
            <a:pPr marL="0" indent="0">
              <a:lnSpc>
                <a:spcPct val="102000"/>
              </a:lnSpc>
              <a:spcAft>
                <a:spcPts val="14"/>
              </a:spcAft>
              <a:buNone/>
            </a:pPr>
            <a:r>
              <a:rPr sz="1600">
                <a:solidFill>
                  <a:srgbClr val="667085"/>
                </a:solidFill>
              </a:rPr>
              <a:t>Multi-parameter code-documentation inconsistency detection</a:t>
            </a:r>
          </a:p>
        </p:txBody>
      </p:sp>
      <p:sp>
        <p:nvSpPr>
          <p:cNvPr id="4" name="Footer Placeholder 3">
            <a:extLst xmlns:a="http://schemas.openxmlformats.org/drawingml/2006/main">
              <a:ext uri="{FF2B5EF4-FFF2-40B4-BE49-F238E27FC236}">
                <a16:creationId xmlns:a16="http://schemas.microsoft.com/office/drawing/2014/main" id="{FCAF4D8E-091D-4042-A2CC-D15FCC74C2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College of Computing and Data Science</a:t>
            </a:r>
          </a:p>
        </p:txBody>
      </p:sp>
    </p:spTree>
    <p:extLst>
      <p:ext uri="{BB962C8B-B14F-4D97-AF65-F5344CB8AC3E}">
        <p14:creationId xmlns:p14="http://schemas.microsoft.com/office/powerpoint/2010/main" val="1930108052"/>
      </p:ext>
    </p:extLst>
  </p:cSld>
</p:sld>
</file>

<file path=ppt/slides/slide6.xml><?xml version="1.0" encoding="utf-8"?>
<p:sld xmlns:p="http://schemas.openxmlformats.org/presentationml/2006/main" showMasterSp="0">
  <p:cSld>
    <p:bg>
      <p:bgPr>
        <a:blipFill xmlns:a="http://schemas.openxmlformats.org/drawingml/2006/main" rotWithShape="1">
          <a:blip xmlns:r="http://schemas.openxmlformats.org/officeDocument/2006/relationships" r:embed="R4bfcf422ca604714"/>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AF1F75-9662-49B5-A479-C9C75D6EEF74}"/>
              </a:ext>
            </a:extLst>
          </p:cNvPr>
          <p:cNvSpPr>
            <a:spLocks xmlns:a="http://schemas.openxmlformats.org/drawingml/2006/main" noGrp="1"/>
          </p:cNvSpPr>
          <p:nvPr>
            <p:ph type="ctrTitle" idx="0"/>
          </p:nvPr>
        </p:nvSpPr>
        <p:spPr>
          <a:xfrm xmlns:a="http://schemas.openxmlformats.org/drawingml/2006/main">
            <a:off x="2686050" y="1409700"/>
            <a:ext cx="5810250" cy="1524000"/>
          </a:xfrm>
        </p:spPr>
        <p:txBody>
          <a:bodyPr xmlns:a="http://schemas.openxmlformats.org/drawingml/2006/main" lIns="0" tIns="0" rIns="0" bIns="0" anchor="ctr">
            <a:normAutofit/>
          </a:bodyPr>
          <a:lstStyle xmlns:a="http://schemas.openxmlformats.org/drawingml/2006/main"/>
          <a:p xmlns:a="http://schemas.openxmlformats.org/drawingml/2006/main">
            <a:pPr>
              <a:lnSpc>
                <a:spcPct val="95000"/>
              </a:lnSpc>
              <a:spcAft>
                <a:spcPts val="5"/>
              </a:spcAft>
              <a:buNone/>
            </a:pPr>
            <a:r>
              <a:rPr sz="1300" b="1">
                <a:solidFill>
                  <a:srgbClr val="FFFFFF"/>
                </a:solidFill>
              </a:rPr>
              <a:t>01 / PERCEIVE</a:t>
            </a:r>
          </a:p>
          <a:p xmlns:a="http://schemas.openxmlformats.org/drawingml/2006/main">
            <a:pPr>
              <a:lnSpc>
                <a:spcPct val="95000"/>
              </a:lnSpc>
              <a:buNone/>
            </a:pPr>
            <a:r>
              <a:rPr sz="3900" b="1">
                <a:solidFill>
                  <a:srgbClr val="FFFFFF"/>
                </a:solidFill>
              </a:rPr>
              <a:t>CompSuite</a:t>
            </a:r>
          </a:p>
        </p:txBody>
      </p:sp>
      <p:sp>
        <p:nvSpPr>
          <p:cNvPr id="3" name="Subtitle 2">
            <a:extLst xmlns:a="http://schemas.openxmlformats.org/drawingml/2006/main">
              <a:ext uri="{FF2B5EF4-FFF2-40B4-BE49-F238E27FC236}">
                <a16:creationId xmlns:a16="http://schemas.microsoft.com/office/drawing/2014/main" id="{9C674DA4-4902-47E5-A15A-5A8E5AC5057C}"/>
              </a:ext>
            </a:extLst>
          </p:cNvPr>
          <p:cNvSpPr>
            <a:spLocks xmlns:a="http://schemas.openxmlformats.org/drawingml/2006/main" noGrp="1"/>
          </p:cNvSpPr>
          <p:nvPr>
            <p:ph type="subTitle" idx="1"/>
          </p:nvPr>
        </p:nvSpPr>
        <p:spPr>
          <a:xfrm xmlns:a="http://schemas.openxmlformats.org/drawingml/2006/main">
            <a:off x="2686050" y="3095625"/>
            <a:ext cx="5619750" cy="1619250"/>
          </a:xfrm>
        </p:spPr>
        <p:txBody>
          <a:bodyPr xmlns:a="http://schemas.openxmlformats.org/drawingml/2006/main" lIns="0" tIns="0" rIns="0" bIns="0">
            <a:normAutofit/>
          </a:bodyPr>
          <a:lstStyle xmlns:a="http://schemas.openxmlformats.org/drawingml/2006/main"/>
          <a:p xmlns:a="http://schemas.openxmlformats.org/drawingml/2006/main">
            <a:pPr>
              <a:lnSpc>
                <a:spcPct val="103000"/>
              </a:lnSpc>
              <a:spcAft>
                <a:spcPts val="9"/>
              </a:spcAft>
              <a:buNone/>
            </a:pPr>
            <a:r>
              <a:rPr sz="1150" b="1">
                <a:solidFill>
                  <a:srgbClr val="FFFFFF"/>
                </a:solidFill>
              </a:rPr>
              <a:t>ENVIRONMENT PERCEPTION</a:t>
            </a:r>
          </a:p>
          <a:p xmlns:a="http://schemas.openxmlformats.org/drawingml/2006/main">
            <a:pPr>
              <a:lnSpc>
                <a:spcPct val="103000"/>
              </a:lnSpc>
              <a:spcAft>
                <a:spcPts val="16"/>
              </a:spcAft>
              <a:buNone/>
            </a:pPr>
            <a:r>
              <a:rPr sz="1800" b="1">
                <a:solidFill>
                  <a:srgbClr val="FFFFFF"/>
                </a:solidFill>
              </a:rPr>
              <a:t>How can a library-upgrade failure become reproducible evidence?</a:t>
            </a:r>
          </a:p>
          <a:p xmlns:a="http://schemas.openxmlformats.org/drawingml/2006/main">
            <a:pPr>
              <a:lnSpc>
                <a:spcPct val="103000"/>
              </a:lnSpc>
              <a:buNone/>
            </a:pPr>
            <a:r>
              <a:rPr sz="1050">
                <a:solidFill>
                  <a:srgbClr val="E6EEF7"/>
                </a:solidFill>
              </a:rPr>
              <a:t>PERCEIVE  →  Locate  →  Verify</a:t>
            </a:r>
          </a:p>
        </p:txBody>
      </p:sp>
    </p:spTree>
    <p:extLst>
      <p:ext uri="{BB962C8B-B14F-4D97-AF65-F5344CB8AC3E}">
        <p14:creationId xmlns:p14="http://schemas.microsoft.com/office/powerpoint/2010/main" val="116020714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641941-3C3C-456F-8B5E-1008801F44CD}"/>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C8102E"/>
                </a:solidFill>
              </a:rPr>
              <a:t>01 / COMPSUITE · PROBLEM</a:t>
            </a:r>
          </a:p>
          <a:p xmlns:a="http://schemas.openxmlformats.org/drawingml/2006/main">
            <a:pPr>
              <a:lnSpc>
                <a:spcPct val="98000"/>
              </a:lnSpc>
              <a:buNone/>
            </a:pPr>
            <a:r>
              <a:rPr sz="2500" b="1">
                <a:solidFill>
                  <a:srgbClr val="20252C"/>
                </a:solidFill>
              </a:rPr>
              <a:t>Upgrades fail at the client </a:t>
            </a:r>
            <a:r>
              <a:rPr sz="2500" b="1">
                <a:solidFill>
                  <a:srgbClr val="20252C"/>
                </a:solidFill>
              </a:rPr>
              <a:t>side</a:t>
            </a:r>
          </a:p>
        </p:txBody>
      </p:sp>
      <p:sp>
        <p:nvSpPr>
          <p:cNvPr id="3" name="Content Placeholder 2">
            <a:extLst xmlns:a="http://schemas.openxmlformats.org/drawingml/2006/main">
              <a:ext uri="{FF2B5EF4-FFF2-40B4-BE49-F238E27FC236}">
                <a16:creationId xmlns:a16="http://schemas.microsoft.com/office/drawing/2014/main" id="{A0B95B00-FF42-444E-859F-05E0368D57CC}"/>
              </a:ext>
            </a:extLst>
          </p:cNvPr>
          <p:cNvSpPr>
            <a:spLocks xmlns:a="http://schemas.openxmlformats.org/drawingml/2006/main" noGrp="1"/>
          </p:cNvSpPr>
          <p:nvPr>
            <p:ph idx="1"/>
          </p:nvPr>
        </p:nvSpPr>
        <p:spPr>
          <a:xfrm xmlns:a="http://schemas.openxmlformats.org/drawingml/2006/main">
            <a:off x="457199" y="1428750"/>
            <a:ext cx="3773471" cy="2476500"/>
          </a:xfrm>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2"/>
              </a:spcAft>
              <a:buNone/>
            </a:pPr>
            <a:r>
              <a:rPr sz="1650" b="1" i="0">
                <a:solidFill>
                  <a:srgbClr val="C8102E"/>
                </a:solidFill>
                <a:latin typeface="Arial"/>
                <a:ea typeface="Arial"/>
                <a:cs typeface="Arial"/>
              </a:rPr>
              <a:t>A stable API can hide behavior change</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The same call can behave differently after an upgrade.</a:t>
            </a:r>
          </a:p>
          <a:p xmlns:a="http://schemas.openxmlformats.org/drawingml/2006/main">
            <a:pPr marL="0" indent="0">
              <a:lnSpc>
                <a:spcPct val="103000"/>
              </a:lnSpc>
              <a:spcBef>
                <a:spcPts val="6"/>
              </a:spcBef>
              <a:spcAft>
                <a:spcPts val="2"/>
              </a:spcAft>
              <a:buNone/>
            </a:pPr>
            <a:r>
              <a:rPr sz="1650" b="1" i="0">
                <a:solidFill>
                  <a:srgbClr val="C8102E"/>
                </a:solidFill>
                <a:latin typeface="Arial"/>
                <a:ea typeface="Arial"/>
                <a:cs typeface="Arial"/>
              </a:rPr>
              <a:t>Compatibility is client-specific</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One downstream project may fail while another remains compatible.</a:t>
            </a:r>
          </a:p>
          <a:p xmlns:a="http://schemas.openxmlformats.org/drawingml/2006/main">
            <a:pPr marL="0" indent="0">
              <a:lnSpc>
                <a:spcPct val="103000"/>
              </a:lnSpc>
              <a:spcBef>
                <a:spcPts val="6"/>
              </a:spcBef>
              <a:spcAft>
                <a:spcPts val="2"/>
              </a:spcAft>
              <a:buNone/>
            </a:pPr>
            <a:r>
              <a:rPr sz="1650" b="1" i="0">
                <a:solidFill>
                  <a:srgbClr val="C8102E"/>
                </a:solidFill>
                <a:latin typeface="Arial"/>
                <a:ea typeface="Arial"/>
                <a:cs typeface="Arial"/>
              </a:rPr>
              <a:t>Signatures are not enough</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Compilation can succeed even when behavior changes.</a:t>
            </a:r>
          </a:p>
        </p:txBody>
      </p:sp>
      <p:sp>
        <p:nvSpPr>
          <p:cNvPr id="4" name="Footer Placeholder 3">
            <a:extLst xmlns:a="http://schemas.openxmlformats.org/drawingml/2006/main">
              <a:ext uri="{FF2B5EF4-FFF2-40B4-BE49-F238E27FC236}">
                <a16:creationId xmlns:a16="http://schemas.microsoft.com/office/drawing/2014/main" id="{91462FD5-5A02-4B77-B3AD-13023F6D369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01 / COMPSUITE · PERCEIVE</a:t>
            </a:r>
          </a:p>
        </p:txBody>
      </p:sp>
      <p:pic>
        <p:nvPicPr>
          <p:cNvPr id="10" name="Picture 4"/>
          <p:cNvPicPr>
            <a:picLocks xmlns:a="http://schemas.openxmlformats.org/drawingml/2006/main" noChangeAspect="1"/>
          </p:cNvPicPr>
          <p:nvPr/>
        </p:nvPicPr>
        <p:blipFill>
          <a:blip xmlns:r="http://schemas.openxmlformats.org/officeDocument/2006/relationships" xmlns:a="http://schemas.openxmlformats.org/drawingml/2006/main" r:embed="R7d2c7cf284a24201"/>
          <a:stretch xmlns:a="http://schemas.openxmlformats.org/drawingml/2006/main"/>
        </p:blipFill>
        <p:spPr>
          <a:xfrm xmlns:a="http://schemas.openxmlformats.org/drawingml/2006/main">
            <a:off x="4500563" y="1000125"/>
            <a:ext cx="3524250" cy="3524250"/>
          </a:xfrm>
          <a:prstGeom xmlns:a="http://schemas.openxmlformats.org/drawingml/2006/main" prst="rect">
            <a:avLst/>
          </a:prstGeom>
        </p:spPr>
      </p:pic>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6822900578794467"/>
          <a:stretch xmlns:a="http://schemas.openxmlformats.org/drawingml/2006/main"/>
        </p:blipFill>
        <p:spPr>
          <a:xfrm xmlns:a="http://schemas.openxmlformats.org/drawingml/2006/main">
            <a:off x="4913328" y="1000125"/>
            <a:ext cx="3773472" cy="3524250"/>
          </a:xfrm>
          <a:prstGeom xmlns:a="http://schemas.openxmlformats.org/drawingml/2006/main" prst="rect">
            <a:avLst/>
          </a:prstGeom>
        </p:spPr>
      </p:pic>
    </p:spTree>
    <p:extLst>
      <p:ext uri="{BB962C8B-B14F-4D97-AF65-F5344CB8AC3E}">
        <p14:creationId xmlns:p14="http://schemas.microsoft.com/office/powerpoint/2010/main" val="159941760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341C1A8-5A87-482E-BD6B-7478B65F82BD}"/>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C8102E"/>
                </a:solidFill>
              </a:rPr>
              <a:t>01 / COMPSUITE · METHOD</a:t>
            </a:r>
          </a:p>
          <a:p xmlns:a="http://schemas.openxmlformats.org/drawingml/2006/main">
            <a:pPr>
              <a:lnSpc>
                <a:spcPct val="98000"/>
              </a:lnSpc>
              <a:buNone/>
            </a:pPr>
            <a:r>
              <a:rPr sz="2350" b="1">
                <a:solidFill>
                  <a:srgbClr val="20252C"/>
                </a:solidFill>
              </a:rPr>
              <a:t>CompSuite</a:t>
            </a:r>
            <a:r>
              <a:rPr sz="2350" b="1">
                <a:solidFill>
                  <a:srgbClr val="20252C"/>
                </a:solidFill>
              </a:rPr>
              <a:t> isolates one upgrade and one test</a:t>
            </a:r>
          </a:p>
        </p:txBody>
      </p:sp>
      <p:sp>
        <p:nvSpPr>
          <p:cNvPr id="3" name="Content Placeholder 2">
            <a:extLst xmlns:a="http://schemas.openxmlformats.org/drawingml/2006/main">
              <a:ext uri="{FF2B5EF4-FFF2-40B4-BE49-F238E27FC236}">
                <a16:creationId xmlns:a16="http://schemas.microsoft.com/office/drawing/2014/main" id="{93188B2E-172E-4F35-AE61-2055E08986B4}"/>
              </a:ext>
            </a:extLst>
          </p:cNvPr>
          <p:cNvSpPr>
            <a:spLocks xmlns:a="http://schemas.openxmlformats.org/drawingml/2006/main" noGrp="1"/>
          </p:cNvSpPr>
          <p:nvPr>
            <p:ph idx="1"/>
          </p:nvPr>
        </p:nvSpPr>
        <p:spPr>
          <a:xfrm xmlns:a="http://schemas.openxmlformats.org/drawingml/2006/main">
            <a:off x="457200" y="1428750"/>
            <a:ext cx="2333625" cy="2571750"/>
          </a:xfrm>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1"/>
              </a:spcAft>
              <a:buNone/>
            </a:pPr>
            <a:r>
              <a:rPr sz="1450" b="1" i="0">
                <a:solidFill>
                  <a:srgbClr val="C8102E"/>
                </a:solidFill>
                <a:latin typeface="Arial"/>
                <a:ea typeface="Arial"/>
                <a:cs typeface="Arial"/>
              </a:rPr>
              <a:t>1. Freeze a passing baseline</a:t>
            </a:r>
          </a:p>
          <a:p xmlns:a="http://schemas.openxmlformats.org/drawingml/2006/main">
            <a:pPr marL="0" indent="0">
              <a:lnSpc>
                <a:spcPct val="103000"/>
              </a:lnSpc>
              <a:spcBef>
                <a:spcPts val="0"/>
              </a:spcBef>
              <a:spcAft>
                <a:spcPts val="0"/>
              </a:spcAft>
              <a:buNone/>
            </a:pPr>
            <a:r>
              <a:rPr sz="1300" b="0" i="0">
                <a:solidFill>
                  <a:srgbClr val="20252C"/>
                </a:solidFill>
                <a:latin typeface="Arial"/>
                <a:ea typeface="Arial"/>
                <a:cs typeface="Arial"/>
              </a:rPr>
              <a:t>Pin the client to a fixed commit.</a:t>
            </a:r>
          </a:p>
          <a:p xmlns:a="http://schemas.openxmlformats.org/drawingml/2006/main">
            <a:pPr marL="0" indent="0">
              <a:lnSpc>
                <a:spcPct val="103000"/>
              </a:lnSpc>
              <a:spcBef>
                <a:spcPts val="5"/>
              </a:spcBef>
              <a:spcAft>
                <a:spcPts val="1"/>
              </a:spcAft>
              <a:buNone/>
            </a:pPr>
            <a:r>
              <a:rPr sz="1450" b="1" i="0">
                <a:solidFill>
                  <a:srgbClr val="C8102E"/>
                </a:solidFill>
                <a:latin typeface="Arial"/>
                <a:ea typeface="Arial"/>
                <a:cs typeface="Arial"/>
              </a:rPr>
              <a:t>2. Upgrade one dependency</a:t>
            </a:r>
          </a:p>
          <a:p xmlns:a="http://schemas.openxmlformats.org/drawingml/2006/main">
            <a:pPr marL="0" indent="0">
              <a:lnSpc>
                <a:spcPct val="103000"/>
              </a:lnSpc>
              <a:spcBef>
                <a:spcPts val="0"/>
              </a:spcBef>
              <a:spcAft>
                <a:spcPts val="0"/>
              </a:spcAft>
              <a:buNone/>
            </a:pPr>
            <a:r>
              <a:rPr sz="1300" b="0" i="0">
                <a:solidFill>
                  <a:srgbClr val="20252C"/>
                </a:solidFill>
                <a:latin typeface="Arial"/>
                <a:ea typeface="Arial"/>
                <a:cs typeface="Arial"/>
              </a:rPr>
              <a:t>Change only the library version.</a:t>
            </a:r>
          </a:p>
          <a:p xmlns:a="http://schemas.openxmlformats.org/drawingml/2006/main">
            <a:pPr marL="0" indent="0">
              <a:lnSpc>
                <a:spcPct val="103000"/>
              </a:lnSpc>
              <a:spcBef>
                <a:spcPts val="5"/>
              </a:spcBef>
              <a:spcAft>
                <a:spcPts val="1"/>
              </a:spcAft>
              <a:buNone/>
            </a:pPr>
            <a:r>
              <a:rPr sz="1450" b="1" i="0">
                <a:solidFill>
                  <a:srgbClr val="C8102E"/>
                </a:solidFill>
                <a:latin typeface="Arial"/>
                <a:ea typeface="Arial"/>
                <a:cs typeface="Arial"/>
              </a:rPr>
              <a:t>3. Replay the same test</a:t>
            </a:r>
          </a:p>
          <a:p xmlns:a="http://schemas.openxmlformats.org/drawingml/2006/main">
            <a:pPr marL="0" indent="0">
              <a:lnSpc>
                <a:spcPct val="103000"/>
              </a:lnSpc>
              <a:spcBef>
                <a:spcPts val="0"/>
              </a:spcBef>
              <a:spcAft>
                <a:spcPts val="0"/>
              </a:spcAft>
              <a:buNone/>
            </a:pPr>
            <a:r>
              <a:rPr sz="1300" b="0" i="0">
                <a:solidFill>
                  <a:srgbClr val="20252C"/>
                </a:solidFill>
                <a:latin typeface="Arial"/>
                <a:ea typeface="Arial"/>
                <a:cs typeface="Arial"/>
              </a:rPr>
              <a:t>Confirm that the original passing test now fails.</a:t>
            </a:r>
          </a:p>
        </p:txBody>
      </p:sp>
      <p:sp>
        <p:nvSpPr>
          <p:cNvPr id="4" name="Footer Placeholder 3">
            <a:extLst xmlns:a="http://schemas.openxmlformats.org/drawingml/2006/main">
              <a:ext uri="{FF2B5EF4-FFF2-40B4-BE49-F238E27FC236}">
                <a16:creationId xmlns:a16="http://schemas.microsoft.com/office/drawing/2014/main" id="{809FEF1E-06B8-4B90-8292-2374FD45CC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01 / COMPSUITE · PERCEIVE</a:t>
            </a:r>
          </a:p>
        </p:txBody>
      </p:sp>
      <p:pic>
        <p:nvPicPr>
          <p:cNvPr id="11" name="Picture 4"/>
          <p:cNvPicPr>
            <a:picLocks xmlns:a="http://schemas.openxmlformats.org/drawingml/2006/main" noChangeAspect="1"/>
          </p:cNvPicPr>
          <p:nvPr/>
        </p:nvPicPr>
        <p:blipFill>
          <a:blip xmlns:r="http://schemas.openxmlformats.org/officeDocument/2006/relationships" xmlns:a="http://schemas.openxmlformats.org/drawingml/2006/main" r:embed="R5c1c71c115f24dc9"/>
          <a:stretch xmlns:a="http://schemas.openxmlformats.org/drawingml/2006/main"/>
        </p:blipFill>
        <p:spPr>
          <a:xfrm xmlns:a="http://schemas.openxmlformats.org/drawingml/2006/main">
            <a:off x="4214813" y="990600"/>
            <a:ext cx="3571875" cy="3571875"/>
          </a:xfrm>
          <a:prstGeom xmlns:a="http://schemas.openxmlformats.org/drawingml/2006/main" prst="rect">
            <a:avLst/>
          </a:prstGeom>
        </p:spPr>
      </p:pic>
      <p:pic>
        <p:nvPicPr>
          <p:cNvPr id="12" name="Picture 10"/>
          <p:cNvPicPr>
            <a:picLocks xmlns:a="http://schemas.openxmlformats.org/drawingml/2006/main" noChangeAspect="1"/>
          </p:cNvPicPr>
          <p:nvPr/>
        </p:nvPicPr>
        <p:blipFill>
          <a:blip xmlns:r="http://schemas.openxmlformats.org/officeDocument/2006/relationships" xmlns:a="http://schemas.openxmlformats.org/drawingml/2006/main" r:embed="R6dc5239365d14c3f"/>
          <a:stretch xmlns:a="http://schemas.openxmlformats.org/drawingml/2006/main"/>
        </p:blipFill>
        <p:spPr>
          <a:xfrm xmlns:a="http://schemas.openxmlformats.org/drawingml/2006/main">
            <a:off x="3095625" y="1696076"/>
            <a:ext cx="5810250" cy="2160924"/>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19585E1E-E409-34FC-27EA-C65EF83BF111}"/>
              </a:ext>
            </a:extLst>
          </p:cNvPr>
          <p:cNvSpPr>
            <a:spLocks xmlns:a="http://schemas.openxmlformats.org/drawingml/2006/main" noGrp="1"/>
          </p:cNvSpPr>
          <p:nvPr/>
        </p:nvSpPr>
        <p:spPr>
          <a:xfrm xmlns:a="http://schemas.openxmlformats.org/drawingml/2006/main">
            <a:off x="3124200" y="1933074"/>
            <a:ext cx="1575619" cy="1439391"/>
          </a:xfrm>
          <a:prstGeom xmlns:a="http://schemas.openxmlformats.org/drawingml/2006/main" prst="rect">
            <a:avLst/>
          </a:prstGeom>
          <a:noFill xmlns:a="http://schemas.openxmlformats.org/drawingml/2006/main"/>
          <a:ln xmlns:a="http://schemas.openxmlformats.org/drawingml/2006/main" w="25400">
            <a:solidFill>
              <a:srgbClr val="FF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31578152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0E1B36E-7075-7E67-7D9E-569F3DCF2A8B}"/>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C8102E"/>
                </a:solidFill>
              </a:rPr>
              <a:t>01 / COMPSUITE · </a:t>
            </a:r>
            <a:r>
              <a:rPr sz="950" b="1">
                <a:solidFill>
                  <a:srgbClr val="C8102E"/>
                </a:solidFill>
              </a:rPr>
              <a:t>DATA</a:t>
            </a:r>
          </a:p>
          <a:p xmlns:a="http://schemas.openxmlformats.org/drawingml/2006/main">
            <a:pPr>
              <a:lnSpc>
                <a:spcPct val="98000"/>
              </a:lnSpc>
              <a:buNone/>
            </a:pPr>
            <a:r>
              <a:rPr sz="2350" b="1">
                <a:solidFill>
                  <a:srgbClr val="20252C"/>
                </a:solidFill>
              </a:rPr>
              <a:t>Data schema</a:t>
            </a:r>
          </a:p>
        </p:txBody>
      </p:sp>
      <p:sp>
        <p:nvSpPr>
          <p:cNvPr id="4" name="Footer Placeholder 3">
            <a:extLst xmlns:a="http://schemas.openxmlformats.org/drawingml/2006/main">
              <a:ext uri="{FF2B5EF4-FFF2-40B4-BE49-F238E27FC236}">
                <a16:creationId xmlns:a16="http://schemas.microsoft.com/office/drawing/2014/main" id="{368F0AF2-55B6-AE46-370F-DCE32E7348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01 / COMPSUITE · PERCEIVE</a:t>
            </a:r>
          </a:p>
        </p:txBody>
      </p:sp>
      <p:pic>
        <p:nvPicPr>
          <p:cNvPr id="9" name="Picture 4"/>
          <p:cNvPicPr>
            <a:picLocks xmlns:a="http://schemas.openxmlformats.org/drawingml/2006/main" noChangeAspect="1"/>
          </p:cNvPicPr>
          <p:nvPr/>
        </p:nvPicPr>
        <p:blipFill>
          <a:blip xmlns:r="http://schemas.openxmlformats.org/officeDocument/2006/relationships" xmlns:a="http://schemas.openxmlformats.org/drawingml/2006/main" r:embed="Rbd1ce8ded59a4de3"/>
          <a:stretch xmlns:a="http://schemas.openxmlformats.org/drawingml/2006/main"/>
        </p:blipFill>
        <p:spPr>
          <a:xfrm xmlns:a="http://schemas.openxmlformats.org/drawingml/2006/main">
            <a:off x="4214813" y="990600"/>
            <a:ext cx="3571875" cy="3571875"/>
          </a:xfrm>
          <a:prstGeom xmlns:a="http://schemas.openxmlformats.org/drawingml/2006/main" prst="rect">
            <a:avLst/>
          </a:prstGeom>
        </p:spPr>
      </p:pic>
      <p:pic>
        <p:nvPicPr>
          <p:cNvPr id="10" name="Picture 7"/>
          <p:cNvPicPr>
            <a:picLocks xmlns:a="http://schemas.openxmlformats.org/drawingml/2006/main" noChangeAspect="1"/>
          </p:cNvPicPr>
          <p:nvPr/>
        </p:nvPicPr>
        <p:blipFill>
          <a:blip xmlns:r="http://schemas.openxmlformats.org/officeDocument/2006/relationships" xmlns:a="http://schemas.openxmlformats.org/drawingml/2006/main" r:embed="Re1345d384c534a52"/>
          <a:stretch xmlns:a="http://schemas.openxmlformats.org/drawingml/2006/main">
            <a:fillRect l="0" t="0" r="0" b="0"/>
          </a:stretch>
        </p:blipFill>
        <p:spPr>
          <a:xfrm xmlns:a="http://schemas.openxmlformats.org/drawingml/2006/main">
            <a:off x="629795" y="1110956"/>
            <a:ext cx="7884410" cy="3331162"/>
          </a:xfrm>
          <a:prstGeom xmlns:a="http://schemas.openxmlformats.org/drawingml/2006/main" prst="rect">
            <a:avLst/>
          </a:prstGeom>
        </p:spPr>
      </p:pic>
    </p:spTree>
    <p:extLst>
      <p:ext uri="{BB962C8B-B14F-4D97-AF65-F5344CB8AC3E}">
        <p14:creationId xmlns:p14="http://schemas.microsoft.com/office/powerpoint/2010/main" val="380985188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565F065-753F-EC36-B087-98EB92D616DF}"/>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C8102E"/>
                </a:solidFill>
              </a:rPr>
              <a:t>01 / COMPSUITE · METHOD</a:t>
            </a:r>
          </a:p>
          <a:p xmlns:a="http://schemas.openxmlformats.org/drawingml/2006/main">
            <a:pPr>
              <a:lnSpc>
                <a:spcPct val="98000"/>
              </a:lnSpc>
              <a:buNone/>
            </a:pPr>
            <a:r>
              <a:rPr sz="2350" b="1">
                <a:solidFill>
                  <a:srgbClr val="20252C"/>
                </a:solidFill>
              </a:rPr>
              <a:t>Each pair packages the pass → fail evidence</a:t>
            </a:r>
          </a:p>
        </p:txBody>
      </p:sp>
      <p:sp>
        <p:nvSpPr>
          <p:cNvPr id="3" name="Content Placeholder 2">
            <a:extLst xmlns:a="http://schemas.openxmlformats.org/drawingml/2006/main">
              <a:ext uri="{FF2B5EF4-FFF2-40B4-BE49-F238E27FC236}">
                <a16:creationId xmlns:a16="http://schemas.microsoft.com/office/drawing/2014/main" id="{5FADD801-B64B-7DF8-52E6-BFB996E1AC9B}"/>
              </a:ext>
            </a:extLst>
          </p:cNvPr>
          <p:cNvSpPr>
            <a:spLocks xmlns:a="http://schemas.openxmlformats.org/drawingml/2006/main" noGrp="1"/>
          </p:cNvSpPr>
          <p:nvPr>
            <p:ph idx="1"/>
          </p:nvPr>
        </p:nvSpPr>
        <p:spPr>
          <a:xfrm xmlns:a="http://schemas.openxmlformats.org/drawingml/2006/main">
            <a:off x="457200" y="1428750"/>
            <a:ext cx="2333625" cy="2571750"/>
          </a:xfrm>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1"/>
              </a:spcAft>
              <a:buNone/>
            </a:pPr>
            <a:r>
              <a:rPr sz="1450" b="1" i="0">
                <a:solidFill>
                  <a:srgbClr val="C8102E"/>
                </a:solidFill>
                <a:latin typeface="Arial"/>
                <a:ea typeface="Arial"/>
                <a:cs typeface="Arial"/>
              </a:rPr>
              <a:t>The pair fixes the upgrade context</a:t>
            </a:r>
          </a:p>
          <a:p xmlns:a="http://schemas.openxmlformats.org/drawingml/2006/main">
            <a:pPr marL="0" indent="0">
              <a:lnSpc>
                <a:spcPct val="103000"/>
              </a:lnSpc>
              <a:spcBef>
                <a:spcPts val="0"/>
              </a:spcBef>
              <a:spcAft>
                <a:spcPts val="0"/>
              </a:spcAft>
              <a:buNone/>
            </a:pPr>
            <a:r>
              <a:rPr sz="1300" b="0" i="0">
                <a:solidFill>
                  <a:srgbClr val="20252C"/>
                </a:solidFill>
                <a:latin typeface="Arial"/>
                <a:ea typeface="Arial"/>
                <a:cs typeface="Arial"/>
              </a:rPr>
              <a:t>Repository, commit, library, and versions.</a:t>
            </a:r>
          </a:p>
          <a:p xmlns:a="http://schemas.openxmlformats.org/drawingml/2006/main">
            <a:pPr marL="0" indent="0">
              <a:lnSpc>
                <a:spcPct val="103000"/>
              </a:lnSpc>
              <a:spcBef>
                <a:spcPts val="5"/>
              </a:spcBef>
              <a:spcAft>
                <a:spcPts val="1"/>
              </a:spcAft>
              <a:buNone/>
            </a:pPr>
            <a:r>
              <a:rPr sz="1450" b="1" i="0">
                <a:solidFill>
                  <a:srgbClr val="C8102E"/>
                </a:solidFill>
                <a:latin typeface="Arial"/>
                <a:ea typeface="Arial"/>
                <a:cs typeface="Arial"/>
              </a:rPr>
              <a:t>The test becomes the oracle</a:t>
            </a:r>
          </a:p>
          <a:p xmlns:a="http://schemas.openxmlformats.org/drawingml/2006/main">
            <a:pPr marL="0" indent="0">
              <a:lnSpc>
                <a:spcPct val="103000"/>
              </a:lnSpc>
              <a:spcBef>
                <a:spcPts val="0"/>
              </a:spcBef>
              <a:spcAft>
                <a:spcPts val="0"/>
              </a:spcAft>
              <a:buNone/>
            </a:pPr>
            <a:r>
              <a:rPr sz="1300" b="0" i="0">
                <a:solidFill>
                  <a:srgbClr val="20252C"/>
                </a:solidFill>
                <a:latin typeface="Arial"/>
                <a:ea typeface="Arial"/>
                <a:cs typeface="Arial"/>
              </a:rPr>
              <a:t>It passes before and fails after.</a:t>
            </a:r>
          </a:p>
          <a:p xmlns:a="http://schemas.openxmlformats.org/drawingml/2006/main">
            <a:pPr marL="0" indent="0">
              <a:lnSpc>
                <a:spcPct val="103000"/>
              </a:lnSpc>
              <a:spcBef>
                <a:spcPts val="5"/>
              </a:spcBef>
              <a:spcAft>
                <a:spcPts val="1"/>
              </a:spcAft>
              <a:buNone/>
            </a:pPr>
            <a:r>
              <a:rPr sz="1450" b="1" i="0">
                <a:solidFill>
                  <a:srgbClr val="C8102E"/>
                </a:solidFill>
                <a:latin typeface="Arial"/>
                <a:ea typeface="Arial"/>
                <a:cs typeface="Arial"/>
              </a:rPr>
              <a:t>The evidence stays replayable</a:t>
            </a:r>
          </a:p>
          <a:p xmlns:a="http://schemas.openxmlformats.org/drawingml/2006/main">
            <a:pPr marL="0" indent="0">
              <a:lnSpc>
                <a:spcPct val="103000"/>
              </a:lnSpc>
              <a:spcBef>
                <a:spcPts val="0"/>
              </a:spcBef>
              <a:spcAft>
                <a:spcPts val="0"/>
              </a:spcAft>
              <a:buNone/>
            </a:pPr>
            <a:r>
              <a:rPr sz="1300" b="0" i="0">
                <a:solidFill>
                  <a:srgbClr val="20252C"/>
                </a:solidFill>
                <a:latin typeface="Arial"/>
                <a:ea typeface="Arial"/>
                <a:cs typeface="Arial"/>
              </a:rPr>
              <a:t>One record captures the whole transition.</a:t>
            </a:r>
          </a:p>
        </p:txBody>
      </p:sp>
      <p:sp>
        <p:nvSpPr>
          <p:cNvPr id="4" name="Footer Placeholder 3">
            <a:extLst xmlns:a="http://schemas.openxmlformats.org/drawingml/2006/main">
              <a:ext uri="{FF2B5EF4-FFF2-40B4-BE49-F238E27FC236}">
                <a16:creationId xmlns:a16="http://schemas.microsoft.com/office/drawing/2014/main" id="{016133C5-FF05-0A26-BDE8-103850783A8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01 / COMPSUITE · PERCEIVE</a:t>
            </a:r>
          </a:p>
        </p:txBody>
      </p:sp>
      <p:pic>
        <p:nvPicPr>
          <p:cNvPr id="11" name="Picture 4"/>
          <p:cNvPicPr>
            <a:picLocks xmlns:a="http://schemas.openxmlformats.org/drawingml/2006/main" noChangeAspect="1"/>
          </p:cNvPicPr>
          <p:nvPr/>
        </p:nvPicPr>
        <p:blipFill>
          <a:blip xmlns:r="http://schemas.openxmlformats.org/officeDocument/2006/relationships" xmlns:a="http://schemas.openxmlformats.org/drawingml/2006/main" r:embed="R8016744041ee481c"/>
          <a:stretch xmlns:a="http://schemas.openxmlformats.org/drawingml/2006/main"/>
        </p:blipFill>
        <p:spPr>
          <a:xfrm xmlns:a="http://schemas.openxmlformats.org/drawingml/2006/main">
            <a:off x="4214813" y="990600"/>
            <a:ext cx="3571875" cy="3571875"/>
          </a:xfrm>
          <a:prstGeom xmlns:a="http://schemas.openxmlformats.org/drawingml/2006/main" prst="rect">
            <a:avLst/>
          </a:prstGeom>
        </p:spPr>
      </p:pic>
      <p:pic>
        <p:nvPicPr>
          <p:cNvPr id="12" name="Picture 10"/>
          <p:cNvPicPr>
            <a:picLocks xmlns:a="http://schemas.openxmlformats.org/drawingml/2006/main" noChangeAspect="1"/>
          </p:cNvPicPr>
          <p:nvPr/>
        </p:nvPicPr>
        <p:blipFill>
          <a:blip xmlns:r="http://schemas.openxmlformats.org/officeDocument/2006/relationships" xmlns:a="http://schemas.openxmlformats.org/drawingml/2006/main" r:embed="Rc5b0525dfcec487a"/>
          <a:stretch xmlns:a="http://schemas.openxmlformats.org/drawingml/2006/main"/>
        </p:blipFill>
        <p:spPr>
          <a:xfrm xmlns:a="http://schemas.openxmlformats.org/drawingml/2006/main">
            <a:off x="3095625" y="1696076"/>
            <a:ext cx="5810250" cy="2160924"/>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616AD7CF-B828-8419-F693-5C2D1F6E9A9C}"/>
              </a:ext>
            </a:extLst>
          </p:cNvPr>
          <p:cNvSpPr>
            <a:spLocks xmlns:a="http://schemas.openxmlformats.org/drawingml/2006/main" noGrp="1"/>
          </p:cNvSpPr>
          <p:nvPr/>
        </p:nvSpPr>
        <p:spPr>
          <a:xfrm xmlns:a="http://schemas.openxmlformats.org/drawingml/2006/main">
            <a:off x="6661125" y="1933074"/>
            <a:ext cx="2244750" cy="1923926"/>
          </a:xfrm>
          <a:prstGeom xmlns:a="http://schemas.openxmlformats.org/drawingml/2006/main" prst="rect">
            <a:avLst/>
          </a:prstGeom>
          <a:noFill xmlns:a="http://schemas.openxmlformats.org/drawingml/2006/main"/>
          <a:ln xmlns:a="http://schemas.openxmlformats.org/drawingml/2006/main" w="25400">
            <a:solidFill>
              <a:srgbClr val="FF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359188488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F7442D-2ED6-4D3A-929D-1799FAFB1D20}"/>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C8102E"/>
                </a:solidFill>
              </a:rPr>
              <a:t>01 / COMPSUITE</a:t>
            </a:r>
          </a:p>
          <a:p xmlns:a="http://schemas.openxmlformats.org/drawingml/2006/main">
            <a:pPr>
              <a:lnSpc>
                <a:spcPct val="98000"/>
              </a:lnSpc>
              <a:buNone/>
            </a:pPr>
            <a:r>
              <a:rPr sz="2250" b="1">
                <a:solidFill>
                  <a:srgbClr val="20252C"/>
                </a:solidFill>
              </a:rPr>
              <a:t>Executable evidence makes upgrade risk measurable</a:t>
            </a:r>
          </a:p>
        </p:txBody>
      </p:sp>
      <p:sp>
        <p:nvSpPr>
          <p:cNvPr id="3" name="Content Placeholder 2">
            <a:extLst xmlns:a="http://schemas.openxmlformats.org/drawingml/2006/main">
              <a:ext uri="{FF2B5EF4-FFF2-40B4-BE49-F238E27FC236}">
                <a16:creationId xmlns:a16="http://schemas.microsoft.com/office/drawing/2014/main" id="{FC68985F-895B-4EFE-AFB6-4144BF2DF34E}"/>
              </a:ext>
            </a:extLst>
          </p:cNvPr>
          <p:cNvSpPr>
            <a:spLocks xmlns:a="http://schemas.openxmlformats.org/drawingml/2006/main" noGrp="1"/>
          </p:cNvSpPr>
          <p:nvPr>
            <p:ph idx="1"/>
          </p:nvPr>
        </p:nvSpPr>
        <p:spPr>
          <a:xfrm xmlns:a="http://schemas.openxmlformats.org/drawingml/2006/main">
            <a:off x="571500" y="1409700"/>
            <a:ext cx="7953375" cy="2857500"/>
          </a:xfrm>
        </p:spPr>
        <p:txBody>
          <a:bodyPr xmlns:a="http://schemas.openxmlformats.org/drawingml/2006/main"/>
          <a:lstStyle xmlns:a="http://schemas.openxmlformats.org/drawingml/2006/main"/>
          <a:p xmlns:a="http://schemas.openxmlformats.org/drawingml/2006/main">
            <a:pPr marL="0" indent="0">
              <a:lnSpc>
                <a:spcPct val="102000"/>
              </a:lnSpc>
              <a:spcAft>
                <a:spcPts val="0"/>
              </a:spcAft>
              <a:buNone/>
            </a:pPr>
            <a:r>
              <a:rPr sz="5300" b="1">
                <a:solidFill>
                  <a:srgbClr val="C8102E"/>
                </a:solidFill>
              </a:rPr>
              <a:t>123</a:t>
            </a:r>
          </a:p>
          <a:p xmlns:a="http://schemas.openxmlformats.org/drawingml/2006/main">
            <a:pPr marL="0" indent="0">
              <a:lnSpc>
                <a:spcPct val="102000"/>
              </a:lnSpc>
              <a:spcAft>
                <a:spcPts val="15"/>
              </a:spcAft>
              <a:buNone/>
            </a:pPr>
            <a:r>
              <a:rPr sz="1700">
                <a:solidFill>
                  <a:srgbClr val="20252C"/>
                </a:solidFill>
              </a:rPr>
              <a:t>reproducible client–library pairs</a:t>
            </a:r>
          </a:p>
          <a:p xmlns:a="http://schemas.openxmlformats.org/drawingml/2006/main">
            <a:pPr marL="0" indent="0">
              <a:lnSpc>
                <a:spcPct val="102000"/>
              </a:lnSpc>
              <a:spcAft>
                <a:spcPts val="5"/>
              </a:spcAft>
              <a:buNone/>
            </a:pPr>
            <a:r>
              <a:rPr sz="2300" b="1">
                <a:solidFill>
                  <a:srgbClr val="20252C"/>
                </a:solidFill>
              </a:rPr>
              <a:t>88</a:t>
            </a:r>
            <a:r>
              <a:rPr sz="1550">
                <a:solidFill>
                  <a:srgbClr val="667085"/>
                </a:solidFill>
              </a:rPr>
              <a:t>   clients</a:t>
            </a:r>
          </a:p>
          <a:p xmlns:a="http://schemas.openxmlformats.org/drawingml/2006/main">
            <a:pPr marL="0" indent="0">
              <a:lnSpc>
                <a:spcPct val="102000"/>
              </a:lnSpc>
              <a:spcAft>
                <a:spcPts val="5"/>
              </a:spcAft>
              <a:buNone/>
            </a:pPr>
            <a:r>
              <a:rPr sz="2300" b="1">
                <a:solidFill>
                  <a:srgbClr val="20252C"/>
                </a:solidFill>
              </a:rPr>
              <a:t>104</a:t>
            </a:r>
            <a:r>
              <a:rPr sz="1550">
                <a:solidFill>
                  <a:srgbClr val="667085"/>
                </a:solidFill>
              </a:rPr>
              <a:t>   libraries</a:t>
            </a:r>
          </a:p>
          <a:p xmlns:a="http://schemas.openxmlformats.org/drawingml/2006/main">
            <a:pPr marL="0" indent="0">
              <a:lnSpc>
                <a:spcPct val="102000"/>
              </a:lnSpc>
              <a:spcAft>
                <a:spcPts val="5"/>
              </a:spcAft>
              <a:buNone/>
            </a:pPr>
            <a:r>
              <a:rPr sz="2300" b="1">
                <a:solidFill>
                  <a:srgbClr val="20252C"/>
                </a:solidFill>
              </a:rPr>
              <a:t>All 123</a:t>
            </a:r>
            <a:r>
              <a:rPr sz="1550">
                <a:solidFill>
                  <a:srgbClr val="667085"/>
                </a:solidFill>
              </a:rPr>
              <a:t>   manually validated</a:t>
            </a:r>
          </a:p>
          <a:p xmlns:a="http://schemas.openxmlformats.org/drawingml/2006/main">
            <a:pPr marL="0" indent="0">
              <a:lnSpc>
                <a:spcPct val="102000"/>
              </a:lnSpc>
              <a:spcBef>
                <a:spcPts val="12"/>
              </a:spcBef>
              <a:buNone/>
            </a:pPr>
            <a:r>
              <a:rPr sz="1600" b="1" i="1">
                <a:solidFill>
                  <a:srgbClr val="C8102E"/>
                </a:solidFill>
              </a:rPr>
              <a:t>One command replays the pass → fail transition.</a:t>
            </a:r>
          </a:p>
        </p:txBody>
      </p:sp>
      <p:sp>
        <p:nvSpPr>
          <p:cNvPr id="4" name="Footer Placeholder 3">
            <a:extLst xmlns:a="http://schemas.openxmlformats.org/drawingml/2006/main">
              <a:ext uri="{FF2B5EF4-FFF2-40B4-BE49-F238E27FC236}">
                <a16:creationId xmlns:a16="http://schemas.microsoft.com/office/drawing/2014/main" id="{FCAF4D8E-091D-4042-A2CC-D15FCC74C2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01 / COMPSUITE · PERCEIVE</a:t>
            </a:r>
          </a:p>
        </p:txBody>
      </p:sp>
    </p:spTree>
    <p:extLst>
      <p:ext uri="{BB962C8B-B14F-4D97-AF65-F5344CB8AC3E}">
        <p14:creationId xmlns:p14="http://schemas.microsoft.com/office/powerpoint/2010/main" val="1930108052"/>
      </p:ext>
    </p:extLst>
  </p:cSld>
</p:sld>
</file>

<file path=ppt/slides/slide12.xml><?xml version="1.0" encoding="utf-8"?>
<p:sld xmlns:p="http://schemas.openxmlformats.org/presentationml/2006/main" showMasterSp="0">
  <p:cSld>
    <p:bg>
      <p:bgPr>
        <a:blipFill xmlns:a="http://schemas.openxmlformats.org/drawingml/2006/main" rotWithShape="1">
          <a:blip xmlns:r="http://schemas.openxmlformats.org/officeDocument/2006/relationships" r:embed="Rf3f20664c56d4a92"/>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AF1F75-9662-49B5-A479-C9C75D6EEF74}"/>
              </a:ext>
            </a:extLst>
          </p:cNvPr>
          <p:cNvSpPr>
            <a:spLocks xmlns:a="http://schemas.openxmlformats.org/drawingml/2006/main" noGrp="1"/>
          </p:cNvSpPr>
          <p:nvPr>
            <p:ph type="ctrTitle" idx="0"/>
          </p:nvPr>
        </p:nvSpPr>
        <p:spPr>
          <a:xfrm xmlns:a="http://schemas.openxmlformats.org/drawingml/2006/main">
            <a:off x="2686050" y="1409700"/>
            <a:ext cx="5810250" cy="1524000"/>
          </a:xfrm>
        </p:spPr>
        <p:txBody>
          <a:bodyPr xmlns:a="http://schemas.openxmlformats.org/drawingml/2006/main" lIns="0" tIns="0" rIns="0" bIns="0" anchor="ctr">
            <a:normAutofit/>
          </a:bodyPr>
          <a:lstStyle xmlns:a="http://schemas.openxmlformats.org/drawingml/2006/main"/>
          <a:p xmlns:a="http://schemas.openxmlformats.org/drawingml/2006/main">
            <a:pPr>
              <a:lnSpc>
                <a:spcPct val="95000"/>
              </a:lnSpc>
              <a:spcAft>
                <a:spcPts val="5"/>
              </a:spcAft>
              <a:buNone/>
            </a:pPr>
            <a:r>
              <a:rPr sz="1300" b="1">
                <a:solidFill>
                  <a:srgbClr val="FFFFFF"/>
                </a:solidFill>
              </a:rPr>
              <a:t>02 / LOCATE</a:t>
            </a:r>
          </a:p>
          <a:p xmlns:a="http://schemas.openxmlformats.org/drawingml/2006/main">
            <a:pPr>
              <a:lnSpc>
                <a:spcPct val="95000"/>
              </a:lnSpc>
              <a:buNone/>
            </a:pPr>
            <a:r>
              <a:rPr sz="3900" b="1">
                <a:solidFill>
                  <a:srgbClr val="FFFFFF"/>
                </a:solidFill>
              </a:rPr>
              <a:t>DataLoc</a:t>
            </a:r>
          </a:p>
        </p:txBody>
      </p:sp>
      <p:sp>
        <p:nvSpPr>
          <p:cNvPr id="3" name="Subtitle 2">
            <a:extLst xmlns:a="http://schemas.openxmlformats.org/drawingml/2006/main">
              <a:ext uri="{FF2B5EF4-FFF2-40B4-BE49-F238E27FC236}">
                <a16:creationId xmlns:a16="http://schemas.microsoft.com/office/drawing/2014/main" id="{9C674DA4-4902-47E5-A15A-5A8E5AC5057C}"/>
              </a:ext>
            </a:extLst>
          </p:cNvPr>
          <p:cNvSpPr>
            <a:spLocks xmlns:a="http://schemas.openxmlformats.org/drawingml/2006/main" noGrp="1"/>
          </p:cNvSpPr>
          <p:nvPr>
            <p:ph type="subTitle" idx="1"/>
          </p:nvPr>
        </p:nvSpPr>
        <p:spPr>
          <a:xfrm xmlns:a="http://schemas.openxmlformats.org/drawingml/2006/main">
            <a:off x="2686050" y="3095625"/>
            <a:ext cx="5619750" cy="1619250"/>
          </a:xfrm>
        </p:spPr>
        <p:txBody>
          <a:bodyPr xmlns:a="http://schemas.openxmlformats.org/drawingml/2006/main" lIns="0" tIns="0" rIns="0" bIns="0">
            <a:normAutofit/>
          </a:bodyPr>
          <a:lstStyle xmlns:a="http://schemas.openxmlformats.org/drawingml/2006/main"/>
          <a:p xmlns:a="http://schemas.openxmlformats.org/drawingml/2006/main">
            <a:pPr>
              <a:lnSpc>
                <a:spcPct val="103000"/>
              </a:lnSpc>
              <a:spcAft>
                <a:spcPts val="9"/>
              </a:spcAft>
              <a:buNone/>
            </a:pPr>
            <a:r>
              <a:rPr sz="1150" b="1">
                <a:solidFill>
                  <a:srgbClr val="FFFFFF"/>
                </a:solidFill>
              </a:rPr>
              <a:t>LOGIC IMPLEMENTATION</a:t>
            </a:r>
          </a:p>
          <a:p xmlns:a="http://schemas.openxmlformats.org/drawingml/2006/main">
            <a:pPr>
              <a:lnSpc>
                <a:spcPct val="103000"/>
              </a:lnSpc>
              <a:spcAft>
                <a:spcPts val="16"/>
              </a:spcAft>
              <a:buNone/>
            </a:pPr>
            <a:r>
              <a:rPr sz="1800" b="1">
                <a:solidFill>
                  <a:srgbClr val="FFFFFF"/>
                </a:solidFill>
              </a:rPr>
              <a:t>How can we locate code without relying on </a:t>
            </a:r>
          </a:p>
          <a:p xmlns:a="http://schemas.openxmlformats.org/drawingml/2006/main">
            <a:pPr>
              <a:lnSpc>
                <a:spcPct val="103000"/>
              </a:lnSpc>
              <a:spcAft>
                <a:spcPts val="16"/>
              </a:spcAft>
              <a:buNone/>
            </a:pPr>
            <a:r>
              <a:rPr sz="1800" b="1">
                <a:solidFill>
                  <a:srgbClr val="FFFFFF"/>
                </a:solidFill>
              </a:rPr>
              <a:t>naming hints?</a:t>
            </a:r>
          </a:p>
          <a:p xmlns:a="http://schemas.openxmlformats.org/drawingml/2006/main">
            <a:pPr>
              <a:lnSpc>
                <a:spcPct val="103000"/>
              </a:lnSpc>
              <a:buNone/>
            </a:pPr>
            <a:r>
              <a:rPr sz="1050">
                <a:solidFill>
                  <a:srgbClr val="E6EEF7"/>
                </a:solidFill>
              </a:rPr>
              <a:t>Perceive  →  LOCATE  →  Verify</a:t>
            </a:r>
          </a:p>
        </p:txBody>
      </p:sp>
    </p:spTree>
    <p:extLst>
      <p:ext uri="{BB962C8B-B14F-4D97-AF65-F5344CB8AC3E}">
        <p14:creationId xmlns:p14="http://schemas.microsoft.com/office/powerpoint/2010/main" val="116020714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F7442D-2ED6-4D3A-929D-1799FAFB1D20}"/>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7A78"/>
                </a:solidFill>
              </a:rPr>
              <a:t>02 / DATALOC · PROBLEM</a:t>
            </a:r>
          </a:p>
          <a:p xmlns:a="http://schemas.openxmlformats.org/drawingml/2006/main">
            <a:pPr>
              <a:lnSpc>
                <a:spcPct val="98000"/>
              </a:lnSpc>
              <a:buNone/>
            </a:pPr>
            <a:r>
              <a:rPr sz="2350" b="1">
                <a:solidFill>
                  <a:srgbClr val="20252C"/>
                </a:solidFill>
              </a:rPr>
              <a:t>Why does code localization matter?</a:t>
            </a:r>
          </a:p>
        </p:txBody>
      </p:sp>
      <p:sp>
        <p:nvSpPr>
          <p:cNvPr id="4" name="Footer Placeholder 3">
            <a:extLst xmlns:a="http://schemas.openxmlformats.org/drawingml/2006/main">
              <a:ext uri="{FF2B5EF4-FFF2-40B4-BE49-F238E27FC236}">
                <a16:creationId xmlns:a16="http://schemas.microsoft.com/office/drawing/2014/main" id="{FCAF4D8E-091D-4042-A2CC-D15FCC74C2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02 / DATALOC · LOCATE</a:t>
            </a:r>
          </a:p>
        </p:txBody>
      </p:sp>
      <p:sp>
        <p:nvSpPr>
          <p:cNvPr id="7" name="Rounded Rectangle 6">
            <a:extLst xmlns:a="http://schemas.openxmlformats.org/drawingml/2006/main">
              <a:ext uri="{FF2B5EF4-FFF2-40B4-BE49-F238E27FC236}">
                <a16:creationId xmlns:a16="http://schemas.microsoft.com/office/drawing/2014/main" id="{FC9EEBE0-CC43-9CF1-8DD7-5B4DD6C078F8}"/>
              </a:ext>
            </a:extLst>
          </p:cNvPr>
          <p:cNvSpPr>
            <a:spLocks xmlns:a="http://schemas.openxmlformats.org/drawingml/2006/main" noGrp="1"/>
          </p:cNvSpPr>
          <p:nvPr/>
        </p:nvSpPr>
        <p:spPr>
          <a:xfrm xmlns:a="http://schemas.openxmlformats.org/drawingml/2006/main">
            <a:off x="1517448" y="2532853"/>
            <a:ext cx="1922462" cy="576072"/>
          </a:xfrm>
          <a:prstGeom xmlns:a="http://schemas.openxmlformats.org/drawingml/2006/main" prst="roundRect">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Natural Language</a:t>
            </a:r>
          </a:p>
        </p:txBody>
      </p:sp>
      <p:sp>
        <p:nvSpPr>
          <p:cNvPr id="8" name="Rounded Rectangle 7">
            <a:extLst xmlns:a="http://schemas.openxmlformats.org/drawingml/2006/main">
              <a:ext uri="{FF2B5EF4-FFF2-40B4-BE49-F238E27FC236}">
                <a16:creationId xmlns:a16="http://schemas.microsoft.com/office/drawing/2014/main" id="{AC0D5551-67E9-C6C9-20E4-ED8C8FDC2CA7}"/>
              </a:ext>
            </a:extLst>
          </p:cNvPr>
          <p:cNvSpPr>
            <a:spLocks xmlns:a="http://schemas.openxmlformats.org/drawingml/2006/main" noGrp="1"/>
          </p:cNvSpPr>
          <p:nvPr/>
        </p:nvSpPr>
        <p:spPr>
          <a:xfrm xmlns:a="http://schemas.openxmlformats.org/drawingml/2006/main">
            <a:off x="5515982" y="2532853"/>
            <a:ext cx="2466240" cy="576072"/>
          </a:xfrm>
          <a:prstGeom xmlns:a="http://schemas.openxmlformats.org/drawingml/2006/main" prst="roundRect">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Programming Language</a:t>
            </a:r>
          </a:p>
        </p:txBody>
      </p:sp>
      <p:cxnSp>
        <p:nvCxnSpPr>
          <p:cNvPr id="29" name="Straight Arrow Connector 8"/>
          <p:cNvCxnSpPr>
            <a:stCxn xmlns:a="http://schemas.openxmlformats.org/drawingml/2006/main" id="7" idx="3"/>
            <a:endCxn xmlns:a="http://schemas.openxmlformats.org/drawingml/2006/main" id="8" idx="1"/>
          </p:cNvCxnSpPr>
          <p:nvPr/>
        </p:nvCxnSpPr>
        <p:spPr>
          <a:xfrm xmlns:a="http://schemas.openxmlformats.org/drawingml/2006/main">
            <a:off x="3439910" y="2820889"/>
            <a:ext cx="2076072" cy="0"/>
          </a:xfrm>
          <a:prstGeom xmlns:a="http://schemas.openxmlformats.org/drawingml/2006/main" prst="straightConnector1">
            <a:avLst/>
          </a:prstGeom>
          <a:ln xmlns:a="http://schemas.openxmlformats.org/drawingml/2006/main">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sp>
        <p:nvSpPr>
          <p:cNvPr id="10" name="TextBox 9">
            <a:extLst xmlns:a="http://schemas.openxmlformats.org/drawingml/2006/main">
              <a:ext uri="{FF2B5EF4-FFF2-40B4-BE49-F238E27FC236}">
                <a16:creationId xmlns:a16="http://schemas.microsoft.com/office/drawing/2014/main" id="{D617B4EA-9ACA-F694-D515-A3589098362B}"/>
              </a:ext>
            </a:extLst>
          </p:cNvPr>
          <p:cNvSpPr>
            <a:spLocks xmlns:a="http://schemas.openxmlformats.org/drawingml/2006/main" noGrp="1"/>
          </p:cNvSpPr>
          <p:nvPr/>
        </p:nvSpPr>
        <p:spPr>
          <a:xfrm xmlns:a="http://schemas.openxmlformats.org/drawingml/2006/main">
            <a:off x="3956008" y="2451557"/>
            <a:ext cx="1043876"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Mapping</a:t>
            </a:r>
          </a:p>
        </p:txBody>
      </p:sp>
      <p:sp>
        <p:nvSpPr>
          <p:cNvPr id="11" name="Rounded Rectangle 10">
            <a:extLst xmlns:a="http://schemas.openxmlformats.org/drawingml/2006/main">
              <a:ext uri="{FF2B5EF4-FFF2-40B4-BE49-F238E27FC236}">
                <a16:creationId xmlns:a16="http://schemas.microsoft.com/office/drawing/2014/main" id="{58B4F0EC-6888-C442-5966-2A754868E47D}"/>
              </a:ext>
            </a:extLst>
          </p:cNvPr>
          <p:cNvSpPr>
            <a:spLocks xmlns:a="http://schemas.openxmlformats.org/drawingml/2006/main" noGrp="1"/>
          </p:cNvSpPr>
          <p:nvPr/>
        </p:nvSpPr>
        <p:spPr>
          <a:xfrm xmlns:a="http://schemas.openxmlformats.org/drawingml/2006/main">
            <a:off x="1517448" y="3586373"/>
            <a:ext cx="1922462" cy="576072"/>
          </a:xfrm>
          <a:prstGeom xmlns:a="http://schemas.openxmlformats.org/drawingml/2006/main" prst="roundRect">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High-level Intent</a:t>
            </a:r>
          </a:p>
        </p:txBody>
      </p:sp>
      <p:sp>
        <p:nvSpPr>
          <p:cNvPr id="12" name="Rounded Rectangle 11">
            <a:extLst xmlns:a="http://schemas.openxmlformats.org/drawingml/2006/main">
              <a:ext uri="{FF2B5EF4-FFF2-40B4-BE49-F238E27FC236}">
                <a16:creationId xmlns:a16="http://schemas.microsoft.com/office/drawing/2014/main" id="{8E01B440-90DF-BCA7-38DE-EE0A4963F024}"/>
              </a:ext>
            </a:extLst>
          </p:cNvPr>
          <p:cNvSpPr>
            <a:spLocks xmlns:a="http://schemas.openxmlformats.org/drawingml/2006/main" noGrp="1"/>
          </p:cNvSpPr>
          <p:nvPr/>
        </p:nvSpPr>
        <p:spPr>
          <a:xfrm xmlns:a="http://schemas.openxmlformats.org/drawingml/2006/main">
            <a:off x="5515982" y="3586373"/>
            <a:ext cx="2466240" cy="576072"/>
          </a:xfrm>
          <a:prstGeom xmlns:a="http://schemas.openxmlformats.org/drawingml/2006/main" prst="roundRect">
            <a:avLst/>
          </a:prstGeom>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Implementation Logic</a:t>
            </a:r>
          </a:p>
        </p:txBody>
      </p:sp>
      <p:cxnSp>
        <p:nvCxnSpPr>
          <p:cNvPr id="33" name="Straight Arrow Connector 12"/>
          <p:cNvCxnSpPr>
            <a:stCxn xmlns:a="http://schemas.openxmlformats.org/drawingml/2006/main" id="11" idx="3"/>
            <a:endCxn xmlns:a="http://schemas.openxmlformats.org/drawingml/2006/main" id="12" idx="1"/>
          </p:cNvCxnSpPr>
          <p:nvPr/>
        </p:nvCxnSpPr>
        <p:spPr>
          <a:xfrm xmlns:a="http://schemas.openxmlformats.org/drawingml/2006/main">
            <a:off x="3439910" y="3874409"/>
            <a:ext cx="2076072" cy="0"/>
          </a:xfrm>
          <a:prstGeom xmlns:a="http://schemas.openxmlformats.org/drawingml/2006/main" prst="straightConnector1">
            <a:avLst/>
          </a:prstGeom>
          <a:ln xmlns:a="http://schemas.openxmlformats.org/drawingml/2006/main">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sp>
        <p:nvSpPr>
          <p:cNvPr id="14" name="TextBox 13">
            <a:extLst xmlns:a="http://schemas.openxmlformats.org/drawingml/2006/main">
              <a:ext uri="{FF2B5EF4-FFF2-40B4-BE49-F238E27FC236}">
                <a16:creationId xmlns:a16="http://schemas.microsoft.com/office/drawing/2014/main" id="{E49AC349-56CB-6CBD-B7A5-C23709AFE39A}"/>
              </a:ext>
            </a:extLst>
          </p:cNvPr>
          <p:cNvSpPr>
            <a:spLocks xmlns:a="http://schemas.openxmlformats.org/drawingml/2006/main" noGrp="1"/>
          </p:cNvSpPr>
          <p:nvPr/>
        </p:nvSpPr>
        <p:spPr>
          <a:xfrm xmlns:a="http://schemas.openxmlformats.org/drawingml/2006/main">
            <a:off x="3956008" y="3505077"/>
            <a:ext cx="1043876"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Mapping</a:t>
            </a:r>
          </a:p>
        </p:txBody>
      </p:sp>
      <p:sp>
        <p:nvSpPr>
          <p:cNvPr id="24" name="TextBox 23">
            <a:extLst xmlns:a="http://schemas.openxmlformats.org/drawingml/2006/main">
              <a:ext uri="{FF2B5EF4-FFF2-40B4-BE49-F238E27FC236}">
                <a16:creationId xmlns:a16="http://schemas.microsoft.com/office/drawing/2014/main" id="{C563CCDD-03B4-DBAE-6967-E77EB30165FE}"/>
              </a:ext>
            </a:extLst>
          </p:cNvPr>
          <p:cNvSpPr>
            <a:spLocks xmlns:a="http://schemas.openxmlformats.org/drawingml/2006/main" noGrp="1"/>
          </p:cNvSpPr>
          <p:nvPr/>
        </p:nvSpPr>
        <p:spPr>
          <a:xfrm xmlns:a="http://schemas.openxmlformats.org/drawingml/2006/main">
            <a:off x="457199" y="1318128"/>
            <a:ext cx="5903843" cy="7810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1"/>
              </a:spcAft>
              <a:buNone/>
            </a:pPr>
            <a:r>
              <a:rPr sz="1700" b="1" i="0">
                <a:solidFill>
                  <a:srgbClr val="007A78"/>
                </a:solidFill>
                <a:latin typeface="Arial"/>
                <a:ea typeface="Arial"/>
                <a:cs typeface="Arial"/>
              </a:rPr>
              <a:t>Localization gates autonomous software engineering</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An agent must map high-level intent to the correct implementation logic.</a:t>
            </a:r>
          </a:p>
        </p:txBody>
      </p:sp>
    </p:spTree>
    <p:extLst>
      <p:ext uri="{BB962C8B-B14F-4D97-AF65-F5344CB8AC3E}">
        <p14:creationId xmlns:p14="http://schemas.microsoft.com/office/powerpoint/2010/main" val="193010805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57020DC-1589-0198-955A-2E64BCBC32FF}"/>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7A78"/>
                </a:solidFill>
              </a:rPr>
              <a:t>02 / DATALOC · </a:t>
            </a:r>
            <a:r>
              <a:rPr sz="950" b="1">
                <a:solidFill>
                  <a:srgbClr val="007A78"/>
                </a:solidFill>
              </a:rPr>
              <a:t>BIAS</a:t>
            </a:r>
          </a:p>
          <a:p xmlns:a="http://schemas.openxmlformats.org/drawingml/2006/main">
            <a:pPr>
              <a:lnSpc>
                <a:spcPct val="98000"/>
              </a:lnSpc>
              <a:buNone/>
            </a:pPr>
            <a:r>
              <a:rPr sz="2350" b="1">
                <a:solidFill>
                  <a:srgbClr val="20252C"/>
                </a:solidFill>
              </a:rPr>
              <a:t>The hidden bias: keyword shortcut</a:t>
            </a:r>
          </a:p>
        </p:txBody>
      </p:sp>
      <p:sp>
        <p:nvSpPr>
          <p:cNvPr id="4" name="Footer Placeholder 3">
            <a:extLst xmlns:a="http://schemas.openxmlformats.org/drawingml/2006/main">
              <a:ext uri="{FF2B5EF4-FFF2-40B4-BE49-F238E27FC236}">
                <a16:creationId xmlns:a16="http://schemas.microsoft.com/office/drawing/2014/main" id="{9D7E30FE-8B25-54AA-6004-C821A5B299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02 / DATALOC · LOCATE</a:t>
            </a:r>
          </a:p>
        </p:txBody>
      </p:sp>
      <p:pic>
        <p:nvPicPr>
          <p:cNvPr id="9" name="Picture 6"/>
          <p:cNvPicPr>
            <a:picLocks xmlns:a="http://schemas.openxmlformats.org/drawingml/2006/main" noChangeAspect="1"/>
          </p:cNvPicPr>
          <p:nvPr/>
        </p:nvPicPr>
        <p:blipFill>
          <a:blip xmlns:r="http://schemas.openxmlformats.org/officeDocument/2006/relationships" xmlns:a="http://schemas.openxmlformats.org/drawingml/2006/main" r:embed="Rc84f7eb9496c4518"/>
          <a:srcRect xmlns:a="http://schemas.openxmlformats.org/drawingml/2006/main" l="0" t="0" r="26078" b="0"/>
          <a:stretch xmlns:a="http://schemas.openxmlformats.org/drawingml/2006/main">
            <a:fillRect l="0" t="0" r="0" b="0"/>
          </a:stretch>
        </p:blipFill>
        <p:spPr>
          <a:xfrm xmlns:a="http://schemas.openxmlformats.org/drawingml/2006/main">
            <a:off x="457200" y="1227122"/>
            <a:ext cx="4577713" cy="3136155"/>
          </a:xfrm>
          <a:prstGeom xmlns:a="http://schemas.openxmlformats.org/drawingml/2006/main" prst="rect">
            <a:avLst/>
          </a:prstGeom>
        </p:spPr>
      </p:pic>
      <p:pic>
        <p:nvPicPr>
          <p:cNvPr id="10" name="Picture 7"/>
          <p:cNvPicPr>
            <a:picLocks xmlns:a="http://schemas.openxmlformats.org/drawingml/2006/main" noChangeAspect="1"/>
          </p:cNvPicPr>
          <p:nvPr/>
        </p:nvPicPr>
        <p:blipFill>
          <a:blip xmlns:r="http://schemas.openxmlformats.org/officeDocument/2006/relationships" xmlns:a="http://schemas.openxmlformats.org/drawingml/2006/main" r:embed="R57ee7bd24a8a414a"/>
          <a:srcRect xmlns:a="http://schemas.openxmlformats.org/drawingml/2006/main" l="0" t="0" r="40274" b="0"/>
          <a:stretch xmlns:a="http://schemas.openxmlformats.org/drawingml/2006/main">
            <a:fillRect l="0" t="0" r="0" b="0"/>
          </a:stretch>
        </p:blipFill>
        <p:spPr>
          <a:xfrm xmlns:a="http://schemas.openxmlformats.org/drawingml/2006/main">
            <a:off x="5034913" y="2204418"/>
            <a:ext cx="3938249" cy="1711960"/>
          </a:xfrm>
          <a:prstGeom xmlns:a="http://schemas.openxmlformats.org/drawingml/2006/main" prst="rect">
            <a:avLst/>
          </a:prstGeom>
        </p:spPr>
      </p:pic>
    </p:spTree>
    <p:extLst>
      <p:ext uri="{BB962C8B-B14F-4D97-AF65-F5344CB8AC3E}">
        <p14:creationId xmlns:p14="http://schemas.microsoft.com/office/powerpoint/2010/main" val="115859869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08E6E0-EA23-7323-F63D-D083226F5831}"/>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7A78"/>
                </a:solidFill>
              </a:rPr>
              <a:t>02 / DATALOC · </a:t>
            </a:r>
            <a:r>
              <a:rPr sz="950" b="1">
                <a:solidFill>
                  <a:srgbClr val="007A78"/>
                </a:solidFill>
              </a:rPr>
              <a:t>NEW TASK</a:t>
            </a:r>
          </a:p>
          <a:p xmlns:a="http://schemas.openxmlformats.org/drawingml/2006/main">
            <a:pPr>
              <a:lnSpc>
                <a:spcPct val="98000"/>
              </a:lnSpc>
              <a:buNone/>
            </a:pPr>
            <a:r>
              <a:rPr sz="2350" b="1">
                <a:solidFill>
                  <a:srgbClr val="20252C"/>
                </a:solidFill>
              </a:rPr>
              <a:t>Keyword-Agnostic Logical Code Localization (KA-LCL)</a:t>
            </a:r>
          </a:p>
        </p:txBody>
      </p:sp>
      <p:sp>
        <p:nvSpPr>
          <p:cNvPr id="3" name="Content Placeholder 2">
            <a:extLst xmlns:a="http://schemas.openxmlformats.org/drawingml/2006/main">
              <a:ext uri="{FF2B5EF4-FFF2-40B4-BE49-F238E27FC236}">
                <a16:creationId xmlns:a16="http://schemas.microsoft.com/office/drawing/2014/main" id="{B49BF330-2B92-0B8A-D2ED-AAB4BA44B1B7}"/>
              </a:ext>
            </a:extLst>
          </p:cNvPr>
          <p:cNvSpPr>
            <a:spLocks xmlns:a="http://schemas.openxmlformats.org/drawingml/2006/main" noGrp="1"/>
          </p:cNvSpPr>
          <p:nvPr>
            <p:ph idx="1"/>
          </p:nvPr>
        </p:nvSpPr>
        <p:spPr>
          <a:xfrm xmlns:a="http://schemas.openxmlformats.org/drawingml/2006/main">
            <a:off x="666750" y="1381125"/>
            <a:ext cx="7715250" cy="3239001"/>
          </a:xfrm>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2"/>
              </a:spcAft>
              <a:buNone/>
            </a:pPr>
            <a:r>
              <a:rPr sz="1700" b="1" i="0">
                <a:solidFill>
                  <a:srgbClr val="007A78"/>
                </a:solidFill>
                <a:latin typeface="Arial"/>
                <a:ea typeface="Arial"/>
                <a:cs typeface="Arial"/>
              </a:rPr>
              <a:t>KA-LCL isolates structural reasoning</a:t>
            </a:r>
          </a:p>
          <a:p xmlns:a="http://schemas.openxmlformats.org/drawingml/2006/main">
            <a:pPr marL="0" indent="0">
              <a:lnSpc>
                <a:spcPct val="103000"/>
              </a:lnSpc>
              <a:spcBef>
                <a:spcPts val="0"/>
              </a:spcBef>
              <a:spcAft>
                <a:spcPts val="1"/>
              </a:spcAft>
              <a:buNone/>
            </a:pPr>
            <a:r>
              <a:rPr sz="1450" b="0" i="0">
                <a:solidFill>
                  <a:srgbClr val="20252C"/>
                </a:solidFill>
                <a:latin typeface="Arial"/>
                <a:ea typeface="Arial"/>
                <a:cs typeface="Arial"/>
              </a:rPr>
              <a:t>No keywords—only logic and structure.</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KA-LogicQuery: 225 questions across 9 repositories.</a:t>
            </a:r>
          </a:p>
        </p:txBody>
      </p:sp>
      <p:sp>
        <p:nvSpPr>
          <p:cNvPr id="4" name="Footer Placeholder 3">
            <a:extLst xmlns:a="http://schemas.openxmlformats.org/drawingml/2006/main">
              <a:ext uri="{FF2B5EF4-FFF2-40B4-BE49-F238E27FC236}">
                <a16:creationId xmlns:a16="http://schemas.microsoft.com/office/drawing/2014/main" id="{BEB30866-FBA7-D67D-9785-148795ECB69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02 / DATALOC · LOCATE</a:t>
            </a:r>
          </a:p>
        </p:txBody>
      </p:sp>
      <p:pic>
        <p:nvPicPr>
          <p:cNvPr id="9" name="Picture 8"/>
          <p:cNvPicPr>
            <a:picLocks xmlns:a="http://schemas.openxmlformats.org/drawingml/2006/main" noChangeAspect="1"/>
          </p:cNvPicPr>
          <p:nvPr/>
        </p:nvPicPr>
        <p:blipFill>
          <a:blip xmlns:r="http://schemas.openxmlformats.org/officeDocument/2006/relationships" xmlns:a="http://schemas.openxmlformats.org/drawingml/2006/main" r:embed="Rb0eda4588a414938"/>
          <a:stretch xmlns:a="http://schemas.openxmlformats.org/drawingml/2006/main">
            <a:fillRect l="0" t="0" r="0" b="0"/>
          </a:stretch>
        </p:blipFill>
        <p:spPr>
          <a:xfrm xmlns:a="http://schemas.openxmlformats.org/drawingml/2006/main">
            <a:off x="666750" y="2269034"/>
            <a:ext cx="7604154" cy="1058922"/>
          </a:xfrm>
          <a:prstGeom xmlns:a="http://schemas.openxmlformats.org/drawingml/2006/main" prst="rect">
            <a:avLst/>
          </a:prstGeom>
        </p:spPr>
      </p:pic>
    </p:spTree>
    <p:extLst>
      <p:ext uri="{BB962C8B-B14F-4D97-AF65-F5344CB8AC3E}">
        <p14:creationId xmlns:p14="http://schemas.microsoft.com/office/powerpoint/2010/main" val="403633356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341C1A8-5A87-482E-BD6B-7478B65F82BD}"/>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7A78"/>
                </a:solidFill>
              </a:rPr>
              <a:t>02 / DATALOC · METHOD</a:t>
            </a:r>
          </a:p>
          <a:p xmlns:a="http://schemas.openxmlformats.org/drawingml/2006/main">
            <a:pPr>
              <a:lnSpc>
                <a:spcPct val="98000"/>
              </a:lnSpc>
              <a:buNone/>
            </a:pPr>
            <a:r>
              <a:rPr sz="2250" b="1">
                <a:solidFill>
                  <a:srgbClr val="20252C"/>
                </a:solidFill>
              </a:rPr>
              <a:t>DataLoc</a:t>
            </a:r>
            <a:r>
              <a:rPr sz="2250" b="1">
                <a:solidFill>
                  <a:srgbClr val="20252C"/>
                </a:solidFill>
              </a:rPr>
              <a:t> translates intent into inspectable </a:t>
            </a:r>
            <a:r>
              <a:rPr sz="2250" b="1">
                <a:solidFill>
                  <a:srgbClr val="20252C"/>
                </a:solidFill>
              </a:rPr>
              <a:t>Datalog</a:t>
            </a:r>
          </a:p>
        </p:txBody>
      </p:sp>
      <p:sp>
        <p:nvSpPr>
          <p:cNvPr id="3" name="Content Placeholder 2">
            <a:extLst xmlns:a="http://schemas.openxmlformats.org/drawingml/2006/main">
              <a:ext uri="{FF2B5EF4-FFF2-40B4-BE49-F238E27FC236}">
                <a16:creationId xmlns:a16="http://schemas.microsoft.com/office/drawing/2014/main" id="{93188B2E-172E-4F35-AE61-2055E08986B4}"/>
              </a:ext>
            </a:extLst>
          </p:cNvPr>
          <p:cNvSpPr>
            <a:spLocks xmlns:a="http://schemas.openxmlformats.org/drawingml/2006/main" noGrp="1"/>
          </p:cNvSpPr>
          <p:nvPr>
            <p:ph idx="1"/>
          </p:nvPr>
        </p:nvSpPr>
        <p:spPr>
          <a:xfrm xmlns:a="http://schemas.openxmlformats.org/drawingml/2006/main">
            <a:off x="457200" y="1428750"/>
            <a:ext cx="1952625" cy="2476500"/>
          </a:xfrm>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1"/>
              </a:spcAft>
              <a:buNone/>
            </a:pPr>
            <a:r>
              <a:rPr sz="1450" b="1" i="0">
                <a:solidFill>
                  <a:srgbClr val="007A78"/>
                </a:solidFill>
                <a:latin typeface="Arial"/>
                <a:ea typeface="Arial"/>
                <a:cs typeface="Arial"/>
              </a:rPr>
              <a:t>1. Make repository structure queryable</a:t>
            </a:r>
          </a:p>
          <a:p xmlns:a="http://schemas.openxmlformats.org/drawingml/2006/main">
            <a:pPr marL="0" indent="0">
              <a:lnSpc>
                <a:spcPct val="103000"/>
              </a:lnSpc>
              <a:spcBef>
                <a:spcPts val="0"/>
              </a:spcBef>
              <a:spcAft>
                <a:spcPts val="0"/>
              </a:spcAft>
              <a:buNone/>
            </a:pPr>
            <a:r>
              <a:rPr sz="1300" b="0" i="0">
                <a:solidFill>
                  <a:srgbClr val="20252C"/>
                </a:solidFill>
                <a:latin typeface="Arial"/>
                <a:ea typeface="Arial"/>
                <a:cs typeface="Arial"/>
              </a:rPr>
              <a:t>Extract facts from the codebase.</a:t>
            </a:r>
          </a:p>
          <a:p xmlns:a="http://schemas.openxmlformats.org/drawingml/2006/main">
            <a:pPr marL="0" indent="0">
              <a:lnSpc>
                <a:spcPct val="103000"/>
              </a:lnSpc>
              <a:spcBef>
                <a:spcPts val="5"/>
              </a:spcBef>
              <a:spcAft>
                <a:spcPts val="1"/>
              </a:spcAft>
              <a:buNone/>
            </a:pPr>
            <a:r>
              <a:rPr sz="1450" b="1" i="0">
                <a:solidFill>
                  <a:srgbClr val="007A78"/>
                </a:solidFill>
                <a:latin typeface="Arial"/>
                <a:ea typeface="Arial"/>
                <a:cs typeface="Arial"/>
              </a:rPr>
              <a:t>2. Turn intent into Datalog</a:t>
            </a:r>
          </a:p>
          <a:p xmlns:a="http://schemas.openxmlformats.org/drawingml/2006/main">
            <a:pPr marL="0" indent="0">
              <a:lnSpc>
                <a:spcPct val="103000"/>
              </a:lnSpc>
              <a:spcBef>
                <a:spcPts val="0"/>
              </a:spcBef>
              <a:spcAft>
                <a:spcPts val="0"/>
              </a:spcAft>
              <a:buNone/>
            </a:pPr>
            <a:r>
              <a:rPr sz="1300" b="0" i="0">
                <a:solidFill>
                  <a:srgbClr val="20252C"/>
                </a:solidFill>
                <a:latin typeface="Arial"/>
                <a:ea typeface="Arial"/>
                <a:cs typeface="Arial"/>
              </a:rPr>
              <a:t>The LLM synthesizes an inspectable rule.</a:t>
            </a:r>
          </a:p>
          <a:p xmlns:a="http://schemas.openxmlformats.org/drawingml/2006/main">
            <a:pPr marL="0" indent="0">
              <a:lnSpc>
                <a:spcPct val="103000"/>
              </a:lnSpc>
              <a:spcBef>
                <a:spcPts val="5"/>
              </a:spcBef>
              <a:spcAft>
                <a:spcPts val="1"/>
              </a:spcAft>
              <a:buNone/>
            </a:pPr>
            <a:r>
              <a:rPr sz="1450" b="1" i="0">
                <a:solidFill>
                  <a:srgbClr val="007A78"/>
                </a:solidFill>
                <a:latin typeface="Arial"/>
                <a:ea typeface="Arial"/>
                <a:cs typeface="Arial"/>
              </a:rPr>
              <a:t>3. Derive matches deterministically</a:t>
            </a:r>
          </a:p>
          <a:p xmlns:a="http://schemas.openxmlformats.org/drawingml/2006/main">
            <a:pPr marL="0" indent="0">
              <a:lnSpc>
                <a:spcPct val="103000"/>
              </a:lnSpc>
              <a:spcBef>
                <a:spcPts val="0"/>
              </a:spcBef>
              <a:spcAft>
                <a:spcPts val="0"/>
              </a:spcAft>
              <a:buNone/>
            </a:pPr>
            <a:r>
              <a:rPr sz="1300" b="0" i="0">
                <a:solidFill>
                  <a:srgbClr val="20252C"/>
                </a:solidFill>
                <a:latin typeface="Arial"/>
                <a:ea typeface="Arial"/>
                <a:cs typeface="Arial"/>
              </a:rPr>
              <a:t>Soufflé executes the rule over the facts.</a:t>
            </a:r>
          </a:p>
        </p:txBody>
      </p:sp>
      <p:sp>
        <p:nvSpPr>
          <p:cNvPr id="4" name="Footer Placeholder 3">
            <a:extLst xmlns:a="http://schemas.openxmlformats.org/drawingml/2006/main">
              <a:ext uri="{FF2B5EF4-FFF2-40B4-BE49-F238E27FC236}">
                <a16:creationId xmlns:a16="http://schemas.microsoft.com/office/drawing/2014/main" id="{809FEF1E-06B8-4B90-8292-2374FD45CC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02 / DATALOC · LOCATE</a:t>
            </a:r>
          </a:p>
        </p:txBody>
      </p:sp>
      <p:pic>
        <p:nvPicPr>
          <p:cNvPr id="10" name="Picture 4"/>
          <p:cNvPicPr>
            <a:picLocks xmlns:a="http://schemas.openxmlformats.org/drawingml/2006/main" noChangeAspect="1"/>
          </p:cNvPicPr>
          <p:nvPr/>
        </p:nvPicPr>
        <p:blipFill>
          <a:blip xmlns:r="http://schemas.openxmlformats.org/officeDocument/2006/relationships" xmlns:a="http://schemas.openxmlformats.org/drawingml/2006/main" r:embed="R32f86bde0f734798"/>
          <a:stretch xmlns:a="http://schemas.openxmlformats.org/drawingml/2006/main"/>
        </p:blipFill>
        <p:spPr>
          <a:xfrm xmlns:a="http://schemas.openxmlformats.org/drawingml/2006/main">
            <a:off x="3881438" y="952500"/>
            <a:ext cx="3667125" cy="3667125"/>
          </a:xfrm>
          <a:prstGeom xmlns:a="http://schemas.openxmlformats.org/drawingml/2006/main" prst="rect">
            <a:avLst/>
          </a:prstGeom>
        </p:spPr>
      </p:pic>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fa0666157c0a491a"/>
          <a:stretch xmlns:a="http://schemas.openxmlformats.org/drawingml/2006/main"/>
        </p:blipFill>
        <p:spPr>
          <a:xfrm xmlns:a="http://schemas.openxmlformats.org/drawingml/2006/main">
            <a:off x="2524125" y="1054231"/>
            <a:ext cx="6381750" cy="3463664"/>
          </a:xfrm>
          <a:prstGeom xmlns:a="http://schemas.openxmlformats.org/drawingml/2006/main" prst="rect">
            <a:avLst/>
          </a:prstGeom>
        </p:spPr>
      </p:pic>
    </p:spTree>
    <p:extLst>
      <p:ext uri="{BB962C8B-B14F-4D97-AF65-F5344CB8AC3E}">
        <p14:creationId xmlns:p14="http://schemas.microsoft.com/office/powerpoint/2010/main" val="31578152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9" name="Picture 10"/>
          <p:cNvPicPr>
            <a:picLocks xmlns:a="http://schemas.openxmlformats.org/drawingml/2006/main" noChangeAspect="1"/>
          </p:cNvPicPr>
          <p:nvPr/>
        </p:nvPicPr>
        <p:blipFill>
          <a:blip xmlns:r="http://schemas.openxmlformats.org/officeDocument/2006/relationships" xmlns:a="http://schemas.openxmlformats.org/drawingml/2006/main" r:embed="Rd5387ba4bfe445d4"/>
          <a:stretch xmlns:a="http://schemas.openxmlformats.org/drawingml/2006/main"/>
        </p:blipFill>
        <p:spPr>
          <a:xfrm xmlns:a="http://schemas.openxmlformats.org/drawingml/2006/main">
            <a:off x="869219" y="795873"/>
            <a:ext cx="7405561" cy="4019332"/>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81A566ED-EAEA-0AE0-4B65-C6A4C72DD6A1}"/>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7A78"/>
                </a:solidFill>
              </a:rPr>
              <a:t>02 / DATALOC · METHOD</a:t>
            </a:r>
          </a:p>
          <a:p xmlns:a="http://schemas.openxmlformats.org/drawingml/2006/main">
            <a:pPr>
              <a:lnSpc>
                <a:spcPct val="98000"/>
              </a:lnSpc>
              <a:buNone/>
            </a:pPr>
            <a:r>
              <a:rPr sz="2250" b="1">
                <a:solidFill>
                  <a:srgbClr val="20252C"/>
                </a:solidFill>
              </a:rPr>
              <a:t>Program facts make repository structure queryable</a:t>
            </a:r>
          </a:p>
        </p:txBody>
      </p:sp>
      <p:sp>
        <p:nvSpPr>
          <p:cNvPr id="4" name="Footer Placeholder 3">
            <a:extLst xmlns:a="http://schemas.openxmlformats.org/drawingml/2006/main">
              <a:ext uri="{FF2B5EF4-FFF2-40B4-BE49-F238E27FC236}">
                <a16:creationId xmlns:a16="http://schemas.microsoft.com/office/drawing/2014/main" id="{F6DA2F26-A1C7-57DC-0416-223E3ADB5B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02 / DATALOC · LOCATE</a:t>
            </a:r>
          </a:p>
        </p:txBody>
      </p:sp>
      <p:sp>
        <p:nvSpPr>
          <p:cNvPr id="7" name="Rectangle 6">
            <a:extLst xmlns:a="http://schemas.openxmlformats.org/drawingml/2006/main">
              <a:ext uri="{FF2B5EF4-FFF2-40B4-BE49-F238E27FC236}">
                <a16:creationId xmlns:a16="http://schemas.microsoft.com/office/drawing/2014/main" id="{720D6350-C75E-1A5C-200A-DD342BDBDBD9}"/>
              </a:ext>
            </a:extLst>
          </p:cNvPr>
          <p:cNvSpPr>
            <a:spLocks xmlns:a="http://schemas.openxmlformats.org/drawingml/2006/main" noGrp="1"/>
          </p:cNvSpPr>
          <p:nvPr/>
        </p:nvSpPr>
        <p:spPr>
          <a:xfrm xmlns:a="http://schemas.openxmlformats.org/drawingml/2006/main">
            <a:off x="1078029" y="3360615"/>
            <a:ext cx="6997567" cy="1269137"/>
          </a:xfrm>
          <a:prstGeom xmlns:a="http://schemas.openxmlformats.org/drawingml/2006/main" prst="rect">
            <a:avLst/>
          </a:prstGeom>
          <a:noFill xmlns:a="http://schemas.openxmlformats.org/drawingml/2006/main"/>
          <a:ln xmlns:a="http://schemas.openxmlformats.org/drawingml/2006/main" w="25400">
            <a:solidFill>
              <a:srgbClr val="FF0000"/>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34667141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9" name="Picture 10"/>
          <p:cNvPicPr>
            <a:picLocks xmlns:a="http://schemas.openxmlformats.org/drawingml/2006/main" noChangeAspect="1"/>
          </p:cNvPicPr>
          <p:nvPr/>
        </p:nvPicPr>
        <p:blipFill>
          <a:blip xmlns:r="http://schemas.openxmlformats.org/officeDocument/2006/relationships" xmlns:a="http://schemas.openxmlformats.org/drawingml/2006/main" r:embed="Rd1ec4747bb50476a"/>
          <a:stretch xmlns:a="http://schemas.openxmlformats.org/drawingml/2006/main"/>
        </p:blipFill>
        <p:spPr>
          <a:xfrm xmlns:a="http://schemas.openxmlformats.org/drawingml/2006/main">
            <a:off x="869219" y="795873"/>
            <a:ext cx="7405561" cy="4019332"/>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FFE29B21-518E-3423-6BA6-1FE9CCDF7868}"/>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7A78"/>
                </a:solidFill>
              </a:rPr>
              <a:t>02 / DATALOC · METHOD</a:t>
            </a:r>
          </a:p>
          <a:p xmlns:a="http://schemas.openxmlformats.org/drawingml/2006/main">
            <a:pPr>
              <a:lnSpc>
                <a:spcPct val="98000"/>
              </a:lnSpc>
              <a:buNone/>
            </a:pPr>
            <a:r>
              <a:rPr sz="2250" b="1">
                <a:solidFill>
                  <a:srgbClr val="20252C"/>
                </a:solidFill>
              </a:rPr>
              <a:t>DataLoc accepts logical queries and issue descriptions</a:t>
            </a:r>
          </a:p>
        </p:txBody>
      </p:sp>
      <p:sp>
        <p:nvSpPr>
          <p:cNvPr id="4" name="Footer Placeholder 3">
            <a:extLst xmlns:a="http://schemas.openxmlformats.org/drawingml/2006/main">
              <a:ext uri="{FF2B5EF4-FFF2-40B4-BE49-F238E27FC236}">
                <a16:creationId xmlns:a16="http://schemas.microsoft.com/office/drawing/2014/main" id="{81BFC268-0EE1-2426-0687-84928BB3F05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02 / DATALOC · LOCATE</a:t>
            </a:r>
          </a:p>
        </p:txBody>
      </p:sp>
      <p:sp>
        <p:nvSpPr>
          <p:cNvPr id="7" name="Rectangle 6">
            <a:extLst xmlns:a="http://schemas.openxmlformats.org/drawingml/2006/main">
              <a:ext uri="{FF2B5EF4-FFF2-40B4-BE49-F238E27FC236}">
                <a16:creationId xmlns:a16="http://schemas.microsoft.com/office/drawing/2014/main" id="{E016F7CC-C6E2-856E-7D97-95EE21F8D7D0}"/>
              </a:ext>
            </a:extLst>
          </p:cNvPr>
          <p:cNvSpPr>
            <a:spLocks xmlns:a="http://schemas.openxmlformats.org/drawingml/2006/main" noGrp="1"/>
          </p:cNvSpPr>
          <p:nvPr/>
        </p:nvSpPr>
        <p:spPr>
          <a:xfrm xmlns:a="http://schemas.openxmlformats.org/drawingml/2006/main">
            <a:off x="1086338" y="992555"/>
            <a:ext cx="2164862" cy="2243014"/>
          </a:xfrm>
          <a:prstGeom xmlns:a="http://schemas.openxmlformats.org/drawingml/2006/main" prst="rect">
            <a:avLst/>
          </a:prstGeom>
          <a:noFill xmlns:a="http://schemas.openxmlformats.org/drawingml/2006/main"/>
          <a:ln xmlns:a="http://schemas.openxmlformats.org/drawingml/2006/main" w="25400">
            <a:solidFill>
              <a:srgbClr val="FF0000"/>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327355763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9" name="Picture 10"/>
          <p:cNvPicPr>
            <a:picLocks xmlns:a="http://schemas.openxmlformats.org/drawingml/2006/main" noChangeAspect="1"/>
          </p:cNvPicPr>
          <p:nvPr/>
        </p:nvPicPr>
        <p:blipFill>
          <a:blip xmlns:r="http://schemas.openxmlformats.org/officeDocument/2006/relationships" xmlns:a="http://schemas.openxmlformats.org/drawingml/2006/main" r:embed="Red0d5d52659e4ba5"/>
          <a:stretch xmlns:a="http://schemas.openxmlformats.org/drawingml/2006/main"/>
        </p:blipFill>
        <p:spPr>
          <a:xfrm xmlns:a="http://schemas.openxmlformats.org/drawingml/2006/main">
            <a:off x="869219" y="795873"/>
            <a:ext cx="7405561" cy="4019332"/>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B9D10341-B1D4-88ED-7029-347ABFD88871}"/>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7A78"/>
                </a:solidFill>
              </a:rPr>
              <a:t>02 / DATALOC · METHOD</a:t>
            </a:r>
          </a:p>
          <a:p xmlns:a="http://schemas.openxmlformats.org/drawingml/2006/main">
            <a:pPr>
              <a:lnSpc>
                <a:spcPct val="98000"/>
              </a:lnSpc>
              <a:buNone/>
            </a:pPr>
            <a:r>
              <a:rPr sz="2250" b="1">
                <a:solidFill>
                  <a:srgbClr val="20252C"/>
                </a:solidFill>
              </a:rPr>
              <a:t>The agent turns intent into executable Datalog</a:t>
            </a:r>
          </a:p>
        </p:txBody>
      </p:sp>
      <p:sp>
        <p:nvSpPr>
          <p:cNvPr id="4" name="Footer Placeholder 3">
            <a:extLst xmlns:a="http://schemas.openxmlformats.org/drawingml/2006/main">
              <a:ext uri="{FF2B5EF4-FFF2-40B4-BE49-F238E27FC236}">
                <a16:creationId xmlns:a16="http://schemas.microsoft.com/office/drawing/2014/main" id="{B7F05454-8F30-9A9E-3643-C786F3CF98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02 / DATALOC · LOCATE</a:t>
            </a:r>
          </a:p>
        </p:txBody>
      </p:sp>
      <p:sp>
        <p:nvSpPr>
          <p:cNvPr id="7" name="Rectangle 6">
            <a:extLst xmlns:a="http://schemas.openxmlformats.org/drawingml/2006/main">
              <a:ext uri="{FF2B5EF4-FFF2-40B4-BE49-F238E27FC236}">
                <a16:creationId xmlns:a16="http://schemas.microsoft.com/office/drawing/2014/main" id="{FBADFC5A-EA3B-8121-9101-B617704AA4B1}"/>
              </a:ext>
            </a:extLst>
          </p:cNvPr>
          <p:cNvSpPr>
            <a:spLocks xmlns:a="http://schemas.openxmlformats.org/drawingml/2006/main" noGrp="1"/>
          </p:cNvSpPr>
          <p:nvPr/>
        </p:nvSpPr>
        <p:spPr>
          <a:xfrm xmlns:a="http://schemas.openxmlformats.org/drawingml/2006/main">
            <a:off x="6361723" y="1750647"/>
            <a:ext cx="679940" cy="703384"/>
          </a:xfrm>
          <a:prstGeom xmlns:a="http://schemas.openxmlformats.org/drawingml/2006/main" prst="rect">
            <a:avLst/>
          </a:prstGeom>
          <a:noFill xmlns:a="http://schemas.openxmlformats.org/drawingml/2006/main"/>
          <a:ln xmlns:a="http://schemas.openxmlformats.org/drawingml/2006/main" w="25400">
            <a:solidFill>
              <a:srgbClr val="FF0000"/>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100579182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9" name="Picture 10"/>
          <p:cNvPicPr>
            <a:picLocks xmlns:a="http://schemas.openxmlformats.org/drawingml/2006/main" noChangeAspect="1"/>
          </p:cNvPicPr>
          <p:nvPr/>
        </p:nvPicPr>
        <p:blipFill>
          <a:blip xmlns:r="http://schemas.openxmlformats.org/officeDocument/2006/relationships" xmlns:a="http://schemas.openxmlformats.org/drawingml/2006/main" r:embed="Rec9a79b8781949ce"/>
          <a:stretch xmlns:a="http://schemas.openxmlformats.org/drawingml/2006/main"/>
        </p:blipFill>
        <p:spPr>
          <a:xfrm xmlns:a="http://schemas.openxmlformats.org/drawingml/2006/main">
            <a:off x="869219" y="795873"/>
            <a:ext cx="7405561" cy="4019332"/>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C62395B4-7926-A9CF-F34C-B1A0BE50BB84}"/>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7A78"/>
                </a:solidFill>
              </a:rPr>
              <a:t>02 / DATALOC · METHOD</a:t>
            </a:r>
          </a:p>
          <a:p xmlns:a="http://schemas.openxmlformats.org/drawingml/2006/main">
            <a:pPr>
              <a:lnSpc>
                <a:spcPct val="98000"/>
              </a:lnSpc>
              <a:buNone/>
            </a:pPr>
            <a:r>
              <a:rPr sz="2250" b="1">
                <a:solidFill>
                  <a:srgbClr val="20252C"/>
                </a:solidFill>
              </a:rPr>
              <a:t>Execution feedback repairs unproductive rules</a:t>
            </a:r>
          </a:p>
        </p:txBody>
      </p:sp>
      <p:sp>
        <p:nvSpPr>
          <p:cNvPr id="4" name="Footer Placeholder 3">
            <a:extLst xmlns:a="http://schemas.openxmlformats.org/drawingml/2006/main">
              <a:ext uri="{FF2B5EF4-FFF2-40B4-BE49-F238E27FC236}">
                <a16:creationId xmlns:a16="http://schemas.microsoft.com/office/drawing/2014/main" id="{45A37ED4-3EBA-DD80-96A7-4F28B18DD5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02 / DATALOC · LOCATE</a:t>
            </a:r>
          </a:p>
        </p:txBody>
      </p:sp>
      <p:sp>
        <p:nvSpPr>
          <p:cNvPr id="7" name="Rectangle 6">
            <a:extLst xmlns:a="http://schemas.openxmlformats.org/drawingml/2006/main">
              <a:ext uri="{FF2B5EF4-FFF2-40B4-BE49-F238E27FC236}">
                <a16:creationId xmlns:a16="http://schemas.microsoft.com/office/drawing/2014/main" id="{169C7B12-E627-6942-4714-5EF9F429277B}"/>
              </a:ext>
            </a:extLst>
          </p:cNvPr>
          <p:cNvSpPr>
            <a:spLocks xmlns:a="http://schemas.openxmlformats.org/drawingml/2006/main" noGrp="1"/>
          </p:cNvSpPr>
          <p:nvPr/>
        </p:nvSpPr>
        <p:spPr>
          <a:xfrm xmlns:a="http://schemas.openxmlformats.org/drawingml/2006/main">
            <a:off x="7268308" y="2571751"/>
            <a:ext cx="713914" cy="710711"/>
          </a:xfrm>
          <a:prstGeom xmlns:a="http://schemas.openxmlformats.org/drawingml/2006/main" prst="rect">
            <a:avLst/>
          </a:prstGeom>
          <a:noFill xmlns:a="http://schemas.openxmlformats.org/drawingml/2006/main"/>
          <a:ln xmlns:a="http://schemas.openxmlformats.org/drawingml/2006/main" w="25400">
            <a:solidFill>
              <a:srgbClr val="FF0000"/>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826735317"/>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9" name="Picture 10"/>
          <p:cNvPicPr>
            <a:picLocks xmlns:a="http://schemas.openxmlformats.org/drawingml/2006/main" noChangeAspect="1"/>
          </p:cNvPicPr>
          <p:nvPr/>
        </p:nvPicPr>
        <p:blipFill>
          <a:blip xmlns:r="http://schemas.openxmlformats.org/officeDocument/2006/relationships" xmlns:a="http://schemas.openxmlformats.org/drawingml/2006/main" r:embed="R520e329b137d4684"/>
          <a:stretch xmlns:a="http://schemas.openxmlformats.org/drawingml/2006/main"/>
        </p:blipFill>
        <p:spPr>
          <a:xfrm xmlns:a="http://schemas.openxmlformats.org/drawingml/2006/main">
            <a:off x="869219" y="795873"/>
            <a:ext cx="7405561" cy="4019332"/>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F3E86993-3060-E017-209E-6D27A72FA355}"/>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7A78"/>
                </a:solidFill>
              </a:rPr>
              <a:t>02 / DATALOC · METHOD</a:t>
            </a:r>
          </a:p>
          <a:p xmlns:a="http://schemas.openxmlformats.org/drawingml/2006/main">
            <a:pPr>
              <a:lnSpc>
                <a:spcPct val="98000"/>
              </a:lnSpc>
              <a:buNone/>
            </a:pPr>
            <a:r>
              <a:rPr sz="2250" b="1">
                <a:solidFill>
                  <a:srgbClr val="20252C"/>
                </a:solidFill>
              </a:rPr>
              <a:t>Source retrieval grounds candidate verification</a:t>
            </a:r>
          </a:p>
        </p:txBody>
      </p:sp>
      <p:sp>
        <p:nvSpPr>
          <p:cNvPr id="4" name="Footer Placeholder 3">
            <a:extLst xmlns:a="http://schemas.openxmlformats.org/drawingml/2006/main">
              <a:ext uri="{FF2B5EF4-FFF2-40B4-BE49-F238E27FC236}">
                <a16:creationId xmlns:a16="http://schemas.microsoft.com/office/drawing/2014/main" id="{35A28349-8199-AB95-37F1-40C7BBE0D6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02 / DATALOC · LOCATE</a:t>
            </a:r>
          </a:p>
        </p:txBody>
      </p:sp>
      <p:sp>
        <p:nvSpPr>
          <p:cNvPr id="7" name="Rectangle 6">
            <a:extLst xmlns:a="http://schemas.openxmlformats.org/drawingml/2006/main">
              <a:ext uri="{FF2B5EF4-FFF2-40B4-BE49-F238E27FC236}">
                <a16:creationId xmlns:a16="http://schemas.microsoft.com/office/drawing/2014/main" id="{09428266-257F-962A-D8EC-FF3B4A9E0FA5}"/>
              </a:ext>
            </a:extLst>
          </p:cNvPr>
          <p:cNvSpPr>
            <a:spLocks xmlns:a="http://schemas.openxmlformats.org/drawingml/2006/main" noGrp="1"/>
          </p:cNvSpPr>
          <p:nvPr/>
        </p:nvSpPr>
        <p:spPr>
          <a:xfrm xmlns:a="http://schemas.openxmlformats.org/drawingml/2006/main">
            <a:off x="3321539" y="2421792"/>
            <a:ext cx="2594708" cy="931008"/>
          </a:xfrm>
          <a:prstGeom xmlns:a="http://schemas.openxmlformats.org/drawingml/2006/main" prst="rect">
            <a:avLst/>
          </a:prstGeom>
          <a:noFill xmlns:a="http://schemas.openxmlformats.org/drawingml/2006/main"/>
          <a:ln xmlns:a="http://schemas.openxmlformats.org/drawingml/2006/main" w="25400">
            <a:solidFill>
              <a:srgbClr val="FF0000"/>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328196292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E9478808-4B67-40F3-8FF1-4E7AFF420B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FAD317D-785F-D548-8C8D-E6A38DF552FC}" type="slidenum">
              <a:t>22</a:t>
            </a:fld>
          </a:p>
        </p:txBody>
      </p:sp>
      <p:pic>
        <p:nvPicPr>
          <p:cNvPr id="10" name="Picture 4"/>
          <p:cNvPicPr>
            <a:picLocks xmlns:a="http://schemas.openxmlformats.org/drawingml/2006/main" noChangeAspect="1"/>
          </p:cNvPicPr>
          <p:nvPr/>
        </p:nvPicPr>
        <p:blipFill>
          <a:blip xmlns:r="http://schemas.openxmlformats.org/officeDocument/2006/relationships" xmlns:a="http://schemas.openxmlformats.org/drawingml/2006/main" r:embed="R58ca9137b06a4ed7"/>
          <a:stretch xmlns:a="http://schemas.openxmlformats.org/drawingml/2006/main">
            <a:fillRect l="0" t="0" r="0" b="0"/>
          </a:stretch>
        </p:blipFill>
        <p:spPr>
          <a:xfrm xmlns:a="http://schemas.openxmlformats.org/drawingml/2006/main">
            <a:off x="301236" y="1268016"/>
            <a:ext cx="8541529" cy="2939021"/>
          </a:xfrm>
          <a:prstGeom xmlns:a="http://schemas.openxmlformats.org/drawingml/2006/main" prst="rect">
            <a:avLst/>
          </a:prstGeom>
        </p:spPr>
      </p:pic>
      <p:sp>
        <p:nvSpPr>
          <p:cNvPr id="7" name="Title 1">
            <a:extLst xmlns:a="http://schemas.openxmlformats.org/drawingml/2006/main">
              <a:ext uri="{FF2B5EF4-FFF2-40B4-BE49-F238E27FC236}">
                <a16:creationId xmlns:a16="http://schemas.microsoft.com/office/drawing/2014/main" id="{F2984738-7EEB-FB5B-00DF-4B1C19EE00E8}"/>
              </a:ext>
            </a:extLst>
          </p:cNvPr>
          <p:cNvSpPr>
            <a:spLocks xmlns:a="http://schemas.openxmlformats.org/drawingml/2006/main" noGrp="1"/>
          </p:cNvSpPr>
          <p:nvPr/>
        </p:nvSpPr>
        <p:spPr>
          <a:xfrm xmlns:a="http://schemas.openxmlformats.org/drawingml/2006/main">
            <a:off x="457200" y="422724"/>
            <a:ext cx="8229600" cy="85725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457200">
              <a:spcBef>
                <a:spcPct val="0"/>
              </a:spcBef>
              <a:buNone/>
              <a:defRPr sz="4400" kern="1200">
                <a:solidFill>
                  <a:schemeClr val="tx1"/>
                </a:solidFill>
                <a:latin typeface="Arial"/>
                <a:ea typeface="Arial"/>
                <a:cs typeface="Arial"/>
              </a:defRPr>
            </a:lvl1pPr>
          </a:lstStyle>
          <a:p xmlns:a="http://schemas.openxmlformats.org/drawingml/2006/main">
            <a:pPr>
              <a:lnSpc>
                <a:spcPct val="98000"/>
              </a:lnSpc>
              <a:spcAft>
                <a:spcPts val="4"/>
              </a:spcAft>
              <a:buNone/>
            </a:pPr>
            <a:r>
              <a:rPr sz="950" b="1">
                <a:solidFill>
                  <a:srgbClr val="007A78"/>
                </a:solidFill>
              </a:rPr>
              <a:t>02 / DATALOC · EVALUATION</a:t>
            </a:r>
          </a:p>
          <a:p xmlns:a="http://schemas.openxmlformats.org/drawingml/2006/main">
            <a:pPr>
              <a:lnSpc>
                <a:spcPct val="98000"/>
              </a:lnSpc>
              <a:buNone/>
            </a:pPr>
            <a:r>
              <a:rPr sz="2250" b="1">
                <a:solidFill>
                  <a:srgbClr val="20252C"/>
                </a:solidFill>
              </a:rPr>
              <a:t>Effectiveness on KA-</a:t>
            </a:r>
            <a:r>
              <a:rPr sz="2250" b="1">
                <a:solidFill>
                  <a:srgbClr val="20252C"/>
                </a:solidFill>
              </a:rPr>
              <a:t>LogicQuery</a:t>
            </a:r>
          </a:p>
        </p:txBody>
      </p:sp>
    </p:spTree>
    <p:extLst>
      <p:ext uri="{BB962C8B-B14F-4D97-AF65-F5344CB8AC3E}">
        <p14:creationId xmlns:p14="http://schemas.microsoft.com/office/powerpoint/2010/main" val="401954785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AC975548-F90C-BB7D-EFAD-0A35F4BF085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FAD317D-785F-D548-8C8D-E6A38DF552FC}" type="slidenum">
              <a:t>23</a:t>
            </a:fld>
          </a:p>
        </p:txBody>
      </p:sp>
      <p:pic>
        <p:nvPicPr>
          <p:cNvPr id="7" name="Picture 4"/>
          <p:cNvPicPr>
            <a:picLocks xmlns:a="http://schemas.openxmlformats.org/drawingml/2006/main" noChangeAspect="1"/>
          </p:cNvPicPr>
          <p:nvPr/>
        </p:nvPicPr>
        <p:blipFill>
          <a:blip xmlns:r="http://schemas.openxmlformats.org/officeDocument/2006/relationships" xmlns:a="http://schemas.openxmlformats.org/drawingml/2006/main" r:embed="R96ca1ee5d43e42b6"/>
          <a:stretch xmlns:a="http://schemas.openxmlformats.org/drawingml/2006/main">
            <a:fillRect l="0" t="0" r="0" b="0"/>
          </a:stretch>
        </p:blipFill>
        <p:spPr>
          <a:xfrm xmlns:a="http://schemas.openxmlformats.org/drawingml/2006/main">
            <a:off x="826542" y="1334833"/>
            <a:ext cx="7490917" cy="3114503"/>
          </a:xfrm>
          <a:prstGeom xmlns:a="http://schemas.openxmlformats.org/drawingml/2006/main" prst="rect">
            <a:avLst/>
          </a:prstGeom>
        </p:spPr>
      </p:pic>
      <p:sp>
        <p:nvSpPr>
          <p:cNvPr id="3" name="Title 1">
            <a:extLst xmlns:a="http://schemas.openxmlformats.org/drawingml/2006/main">
              <a:ext uri="{FF2B5EF4-FFF2-40B4-BE49-F238E27FC236}">
                <a16:creationId xmlns:a16="http://schemas.microsoft.com/office/drawing/2014/main" id="{CB1BA2D5-92C8-903D-3034-50D10D07DAD4}"/>
              </a:ext>
            </a:extLst>
          </p:cNvPr>
          <p:cNvSpPr>
            <a:spLocks xmlns:a="http://schemas.openxmlformats.org/drawingml/2006/main" noGrp="1"/>
          </p:cNvSpPr>
          <p:nvPr/>
        </p:nvSpPr>
        <p:spPr>
          <a:xfrm xmlns:a="http://schemas.openxmlformats.org/drawingml/2006/main">
            <a:off x="457200" y="422724"/>
            <a:ext cx="8229600" cy="85725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457200">
              <a:spcBef>
                <a:spcPct val="0"/>
              </a:spcBef>
              <a:buNone/>
              <a:defRPr sz="4400" kern="1200">
                <a:solidFill>
                  <a:schemeClr val="tx1"/>
                </a:solidFill>
                <a:latin typeface="Arial"/>
                <a:ea typeface="Arial"/>
                <a:cs typeface="Arial"/>
              </a:defRPr>
            </a:lvl1pPr>
          </a:lstStyle>
          <a:p xmlns:a="http://schemas.openxmlformats.org/drawingml/2006/main">
            <a:pPr>
              <a:lnSpc>
                <a:spcPct val="98000"/>
              </a:lnSpc>
              <a:spcAft>
                <a:spcPts val="4"/>
              </a:spcAft>
              <a:buNone/>
            </a:pPr>
            <a:r>
              <a:rPr sz="950" b="1">
                <a:solidFill>
                  <a:srgbClr val="007A78"/>
                </a:solidFill>
              </a:rPr>
              <a:t>02 / DATALOC · EVALUATION</a:t>
            </a:r>
          </a:p>
          <a:p xmlns:a="http://schemas.openxmlformats.org/drawingml/2006/main">
            <a:pPr>
              <a:lnSpc>
                <a:spcPct val="98000"/>
              </a:lnSpc>
              <a:buNone/>
            </a:pPr>
            <a:r>
              <a:rPr sz="2250" b="1">
                <a:solidFill>
                  <a:srgbClr val="20252C"/>
                </a:solidFill>
              </a:rPr>
              <a:t>Effectiveness on Swe-Bench Lite</a:t>
            </a:r>
          </a:p>
        </p:txBody>
      </p:sp>
    </p:spTree>
    <p:extLst>
      <p:ext uri="{BB962C8B-B14F-4D97-AF65-F5344CB8AC3E}">
        <p14:creationId xmlns:p14="http://schemas.microsoft.com/office/powerpoint/2010/main" val="3737085567"/>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58613364-65A9-E56B-38FE-DF6A4C13608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FAD317D-785F-D548-8C8D-E6A38DF552FC}" type="slidenum">
              <a:t>24</a:t>
            </a:fld>
          </a:p>
        </p:txBody>
      </p:sp>
      <p:pic>
        <p:nvPicPr>
          <p:cNvPr id="10" name="Picture 4"/>
          <p:cNvPicPr>
            <a:picLocks xmlns:a="http://schemas.openxmlformats.org/drawingml/2006/main" noChangeAspect="1"/>
          </p:cNvPicPr>
          <p:nvPr/>
        </p:nvPicPr>
        <p:blipFill>
          <a:blip xmlns:r="http://schemas.openxmlformats.org/officeDocument/2006/relationships" xmlns:a="http://schemas.openxmlformats.org/drawingml/2006/main" r:embed="R9292812508e94b2d"/>
          <a:stretch xmlns:a="http://schemas.openxmlformats.org/drawingml/2006/main">
            <a:fillRect l="0" t="0" r="0" b="0"/>
          </a:stretch>
        </p:blipFill>
        <p:spPr>
          <a:xfrm xmlns:a="http://schemas.openxmlformats.org/drawingml/2006/main">
            <a:off x="1132760" y="1088317"/>
            <a:ext cx="6878481" cy="3461381"/>
          </a:xfrm>
          <a:prstGeom xmlns:a="http://schemas.openxmlformats.org/drawingml/2006/main" prst="rect">
            <a:avLst/>
          </a:prstGeom>
        </p:spPr>
      </p:pic>
      <p:sp>
        <p:nvSpPr>
          <p:cNvPr id="7" name="Title 1">
            <a:extLst xmlns:a="http://schemas.openxmlformats.org/drawingml/2006/main">
              <a:ext uri="{FF2B5EF4-FFF2-40B4-BE49-F238E27FC236}">
                <a16:creationId xmlns:a16="http://schemas.microsoft.com/office/drawing/2014/main" id="{C5E090F2-0943-2043-287D-1C0E66C17113}"/>
              </a:ext>
            </a:extLst>
          </p:cNvPr>
          <p:cNvSpPr>
            <a:spLocks xmlns:a="http://schemas.openxmlformats.org/drawingml/2006/main" noGrp="1"/>
          </p:cNvSpPr>
          <p:nvPr>
            <p:ph type="title" idx="0"/>
          </p:nvPr>
        </p:nvSpPr>
        <p:spPr>
          <a:xfrm xmlns:a="http://schemas.openxmlformats.org/drawingml/2006/main">
            <a:off x="457200" y="422724"/>
            <a:ext cx="8229600" cy="85725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7A78"/>
                </a:solidFill>
              </a:rPr>
              <a:t>02 / DATALOC · </a:t>
            </a:r>
            <a:r>
              <a:rPr sz="950" b="1">
                <a:solidFill>
                  <a:srgbClr val="007A78"/>
                </a:solidFill>
              </a:rPr>
              <a:t>EVALUATION</a:t>
            </a:r>
          </a:p>
          <a:p xmlns:a="http://schemas.openxmlformats.org/drawingml/2006/main">
            <a:pPr>
              <a:lnSpc>
                <a:spcPct val="98000"/>
              </a:lnSpc>
              <a:buNone/>
            </a:pPr>
            <a:r>
              <a:rPr sz="2250" b="1">
                <a:solidFill>
                  <a:srgbClr val="20252C"/>
                </a:solidFill>
              </a:rPr>
              <a:t>Ablation Study</a:t>
            </a:r>
          </a:p>
        </p:txBody>
      </p:sp>
    </p:spTree>
    <p:extLst>
      <p:ext uri="{BB962C8B-B14F-4D97-AF65-F5344CB8AC3E}">
        <p14:creationId xmlns:p14="http://schemas.microsoft.com/office/powerpoint/2010/main" val="427747281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3B071218-10CE-5B07-465F-ABC877DEF5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FAD317D-785F-D548-8C8D-E6A38DF552FC}" type="slidenum">
              <a:t>25</a:t>
            </a:fld>
          </a:p>
        </p:txBody>
      </p:sp>
      <p:pic>
        <p:nvPicPr>
          <p:cNvPr id="10" name="Picture 4"/>
          <p:cNvPicPr>
            <a:picLocks xmlns:a="http://schemas.openxmlformats.org/drawingml/2006/main" noChangeAspect="1"/>
          </p:cNvPicPr>
          <p:nvPr/>
        </p:nvPicPr>
        <p:blipFill>
          <a:blip xmlns:r="http://schemas.openxmlformats.org/officeDocument/2006/relationships" xmlns:a="http://schemas.openxmlformats.org/drawingml/2006/main" r:embed="R12cf8992319f4971"/>
          <a:stretch xmlns:a="http://schemas.openxmlformats.org/drawingml/2006/main">
            <a:fillRect l="0" t="0" r="0" b="0"/>
          </a:stretch>
        </p:blipFill>
        <p:spPr>
          <a:xfrm xmlns:a="http://schemas.openxmlformats.org/drawingml/2006/main">
            <a:off x="173039" y="1268016"/>
            <a:ext cx="8797922" cy="3157958"/>
          </a:xfrm>
          <a:prstGeom xmlns:a="http://schemas.openxmlformats.org/drawingml/2006/main" prst="rect">
            <a:avLst/>
          </a:prstGeom>
        </p:spPr>
      </p:pic>
      <p:sp>
        <p:nvSpPr>
          <p:cNvPr id="7" name="Title 1">
            <a:extLst xmlns:a="http://schemas.openxmlformats.org/drawingml/2006/main">
              <a:ext uri="{FF2B5EF4-FFF2-40B4-BE49-F238E27FC236}">
                <a16:creationId xmlns:a16="http://schemas.microsoft.com/office/drawing/2014/main" id="{66C75424-B07C-65AE-8F27-F7D1BBA37C6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7A78"/>
                </a:solidFill>
              </a:rPr>
              <a:t>02 / DATALOC · </a:t>
            </a:r>
            <a:r>
              <a:rPr sz="950" b="1">
                <a:solidFill>
                  <a:srgbClr val="007A78"/>
                </a:solidFill>
              </a:rPr>
              <a:t>EVALUATION</a:t>
            </a:r>
          </a:p>
          <a:p xmlns:a="http://schemas.openxmlformats.org/drawingml/2006/main">
            <a:pPr>
              <a:lnSpc>
                <a:spcPct val="98000"/>
              </a:lnSpc>
              <a:buNone/>
            </a:pPr>
            <a:r>
              <a:rPr sz="2250" b="1">
                <a:solidFill>
                  <a:srgbClr val="20252C"/>
                </a:solidFill>
              </a:rPr>
              <a:t>Efficiency</a:t>
            </a:r>
          </a:p>
        </p:txBody>
      </p:sp>
    </p:spTree>
    <p:extLst>
      <p:ext uri="{BB962C8B-B14F-4D97-AF65-F5344CB8AC3E}">
        <p14:creationId xmlns:p14="http://schemas.microsoft.com/office/powerpoint/2010/main" val="367940465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341C1A8-5A87-482E-BD6B-7478B65F82BD}"/>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7A78"/>
                </a:solidFill>
              </a:rPr>
              <a:t>02 / DATALOC · VERIFICATION</a:t>
            </a:r>
          </a:p>
          <a:p xmlns:a="http://schemas.openxmlformats.org/drawingml/2006/main">
            <a:pPr>
              <a:lnSpc>
                <a:spcPct val="98000"/>
              </a:lnSpc>
              <a:buNone/>
            </a:pPr>
            <a:r>
              <a:rPr sz="2250" b="1">
                <a:solidFill>
                  <a:srgbClr val="20252C"/>
                </a:solidFill>
              </a:rPr>
              <a:t>Generated logic is checked before it is trusted</a:t>
            </a:r>
          </a:p>
        </p:txBody>
      </p:sp>
      <p:sp>
        <p:nvSpPr>
          <p:cNvPr id="3" name="Content Placeholder 2">
            <a:extLst xmlns:a="http://schemas.openxmlformats.org/drawingml/2006/main">
              <a:ext uri="{FF2B5EF4-FFF2-40B4-BE49-F238E27FC236}">
                <a16:creationId xmlns:a16="http://schemas.microsoft.com/office/drawing/2014/main" id="{93188B2E-172E-4F35-AE61-2055E08986B4}"/>
              </a:ext>
            </a:extLst>
          </p:cNvPr>
          <p:cNvSpPr>
            <a:spLocks xmlns:a="http://schemas.openxmlformats.org/drawingml/2006/main" noGrp="1"/>
          </p:cNvSpPr>
          <p:nvPr>
            <p:ph idx="1"/>
          </p:nvPr>
        </p:nvSpPr>
        <p:spPr>
          <a:xfrm xmlns:a="http://schemas.openxmlformats.org/drawingml/2006/main">
            <a:off x="457200" y="1428750"/>
            <a:ext cx="2000250" cy="2476500"/>
          </a:xfrm>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1"/>
              </a:spcAft>
              <a:buNone/>
            </a:pPr>
            <a:r>
              <a:rPr sz="1450" b="1" i="0">
                <a:solidFill>
                  <a:srgbClr val="007A78"/>
                </a:solidFill>
                <a:latin typeface="Arial"/>
                <a:ea typeface="Arial"/>
                <a:cs typeface="Arial"/>
              </a:rPr>
              <a:t>1. Reject malformed rules</a:t>
            </a:r>
          </a:p>
          <a:p xmlns:a="http://schemas.openxmlformats.org/drawingml/2006/main">
            <a:pPr marL="0" indent="0">
              <a:lnSpc>
                <a:spcPct val="103000"/>
              </a:lnSpc>
              <a:spcBef>
                <a:spcPts val="0"/>
              </a:spcBef>
              <a:spcAft>
                <a:spcPts val="0"/>
              </a:spcAft>
              <a:buNone/>
            </a:pPr>
            <a:r>
              <a:rPr sz="1300" b="0" i="0">
                <a:solidFill>
                  <a:srgbClr val="20252C"/>
                </a:solidFill>
                <a:latin typeface="Arial"/>
                <a:ea typeface="Arial"/>
                <a:cs typeface="Arial"/>
              </a:rPr>
              <a:t>Parse generated Datalog before execution.</a:t>
            </a:r>
          </a:p>
          <a:p xmlns:a="http://schemas.openxmlformats.org/drawingml/2006/main">
            <a:pPr marL="0" indent="0">
              <a:lnSpc>
                <a:spcPct val="103000"/>
              </a:lnSpc>
              <a:spcBef>
                <a:spcPts val="5"/>
              </a:spcBef>
              <a:spcAft>
                <a:spcPts val="1"/>
              </a:spcAft>
              <a:buNone/>
            </a:pPr>
            <a:r>
              <a:rPr sz="1450" b="1" i="0">
                <a:solidFill>
                  <a:srgbClr val="007A78"/>
                </a:solidFill>
                <a:latin typeface="Arial"/>
                <a:ea typeface="Arial"/>
                <a:cs typeface="Arial"/>
              </a:rPr>
              <a:t>2. Diagnose empty results</a:t>
            </a:r>
          </a:p>
          <a:p xmlns:a="http://schemas.openxmlformats.org/drawingml/2006/main">
            <a:pPr marL="0" indent="0">
              <a:lnSpc>
                <a:spcPct val="103000"/>
              </a:lnSpc>
              <a:spcBef>
                <a:spcPts val="0"/>
              </a:spcBef>
              <a:spcAft>
                <a:spcPts val="0"/>
              </a:spcAft>
              <a:buNone/>
            </a:pPr>
            <a:r>
              <a:rPr sz="1300" b="0" i="0">
                <a:solidFill>
                  <a:srgbClr val="20252C"/>
                </a:solidFill>
                <a:latin typeface="Arial"/>
                <a:ea typeface="Arial"/>
                <a:cs typeface="Arial"/>
              </a:rPr>
              <a:t>Probe intermediate relations and local mutations.</a:t>
            </a:r>
          </a:p>
          <a:p xmlns:a="http://schemas.openxmlformats.org/drawingml/2006/main">
            <a:pPr marL="0" indent="0">
              <a:lnSpc>
                <a:spcPct val="103000"/>
              </a:lnSpc>
              <a:spcBef>
                <a:spcPts val="5"/>
              </a:spcBef>
              <a:spcAft>
                <a:spcPts val="1"/>
              </a:spcAft>
              <a:buNone/>
            </a:pPr>
            <a:r>
              <a:rPr sz="1450" b="1" i="0">
                <a:solidFill>
                  <a:srgbClr val="007A78"/>
                </a:solidFill>
                <a:latin typeface="Arial"/>
                <a:ea typeface="Arial"/>
                <a:cs typeface="Arial"/>
              </a:rPr>
              <a:t>3. Verify returned locations</a:t>
            </a:r>
          </a:p>
          <a:p xmlns:a="http://schemas.openxmlformats.org/drawingml/2006/main">
            <a:pPr marL="0" indent="0">
              <a:lnSpc>
                <a:spcPct val="103000"/>
              </a:lnSpc>
              <a:spcBef>
                <a:spcPts val="0"/>
              </a:spcBef>
              <a:spcAft>
                <a:spcPts val="0"/>
              </a:spcAft>
              <a:buNone/>
            </a:pPr>
            <a:r>
              <a:rPr sz="1300" b="0" i="0">
                <a:solidFill>
                  <a:srgbClr val="20252C"/>
                </a:solidFill>
                <a:latin typeface="Arial"/>
                <a:ea typeface="Arial"/>
                <a:cs typeface="Arial"/>
              </a:rPr>
              <a:t>Check candidates against the original request.</a:t>
            </a:r>
          </a:p>
        </p:txBody>
      </p:sp>
      <p:sp>
        <p:nvSpPr>
          <p:cNvPr id="4" name="Footer Placeholder 3">
            <a:extLst xmlns:a="http://schemas.openxmlformats.org/drawingml/2006/main">
              <a:ext uri="{FF2B5EF4-FFF2-40B4-BE49-F238E27FC236}">
                <a16:creationId xmlns:a16="http://schemas.microsoft.com/office/drawing/2014/main" id="{809FEF1E-06B8-4B90-8292-2374FD45CC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02 / DATALOC · LOCATE</a:t>
            </a:r>
          </a:p>
        </p:txBody>
      </p:sp>
      <p:pic>
        <p:nvPicPr>
          <p:cNvPr id="10" name="Picture 4"/>
          <p:cNvPicPr>
            <a:picLocks xmlns:a="http://schemas.openxmlformats.org/drawingml/2006/main" noChangeAspect="1"/>
          </p:cNvPicPr>
          <p:nvPr/>
        </p:nvPicPr>
        <p:blipFill>
          <a:blip xmlns:r="http://schemas.openxmlformats.org/officeDocument/2006/relationships" xmlns:a="http://schemas.openxmlformats.org/drawingml/2006/main" r:embed="R474c6145bab94204"/>
          <a:stretch xmlns:a="http://schemas.openxmlformats.org/drawingml/2006/main"/>
        </p:blipFill>
        <p:spPr>
          <a:xfrm xmlns:a="http://schemas.openxmlformats.org/drawingml/2006/main">
            <a:off x="4071938" y="1047750"/>
            <a:ext cx="3333750" cy="3333750"/>
          </a:xfrm>
          <a:prstGeom xmlns:a="http://schemas.openxmlformats.org/drawingml/2006/main" prst="rect">
            <a:avLst/>
          </a:prstGeom>
        </p:spPr>
      </p:pic>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b9a5a31bb34849fa"/>
          <a:stretch xmlns:a="http://schemas.openxmlformats.org/drawingml/2006/main"/>
        </p:blipFill>
        <p:spPr>
          <a:xfrm xmlns:a="http://schemas.openxmlformats.org/drawingml/2006/main">
            <a:off x="2619375" y="1955330"/>
            <a:ext cx="6238875" cy="1518590"/>
          </a:xfrm>
          <a:prstGeom xmlns:a="http://schemas.openxmlformats.org/drawingml/2006/main" prst="rect">
            <a:avLst/>
          </a:prstGeom>
        </p:spPr>
      </p:pic>
    </p:spTree>
    <p:extLst>
      <p:ext uri="{BB962C8B-B14F-4D97-AF65-F5344CB8AC3E}">
        <p14:creationId xmlns:p14="http://schemas.microsoft.com/office/powerpoint/2010/main" val="31578152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F7442D-2ED6-4D3A-929D-1799FAFB1D20}"/>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7A78"/>
                </a:solidFill>
              </a:rPr>
              <a:t>02 / DATALOC · RESULTS</a:t>
            </a:r>
          </a:p>
          <a:p xmlns:a="http://schemas.openxmlformats.org/drawingml/2006/main">
            <a:pPr>
              <a:lnSpc>
                <a:spcPct val="98000"/>
              </a:lnSpc>
              <a:buNone/>
            </a:pPr>
            <a:r>
              <a:rPr sz="2250" b="1">
                <a:solidFill>
                  <a:srgbClr val="20252C"/>
                </a:solidFill>
              </a:rPr>
              <a:t>DataLoc improves precision—and enables abstention</a:t>
            </a:r>
          </a:p>
        </p:txBody>
      </p:sp>
      <p:sp>
        <p:nvSpPr>
          <p:cNvPr id="3" name="Content Placeholder 2">
            <a:extLst xmlns:a="http://schemas.openxmlformats.org/drawingml/2006/main">
              <a:ext uri="{FF2B5EF4-FFF2-40B4-BE49-F238E27FC236}">
                <a16:creationId xmlns:a16="http://schemas.microsoft.com/office/drawing/2014/main" id="{FC68985F-895B-4EFE-AFB6-4144BF2DF34E}"/>
              </a:ext>
            </a:extLst>
          </p:cNvPr>
          <p:cNvSpPr>
            <a:spLocks xmlns:a="http://schemas.openxmlformats.org/drawingml/2006/main" noGrp="1"/>
          </p:cNvSpPr>
          <p:nvPr>
            <p:ph idx="1"/>
          </p:nvPr>
        </p:nvSpPr>
        <p:spPr>
          <a:xfrm xmlns:a="http://schemas.openxmlformats.org/drawingml/2006/main">
            <a:off x="571500" y="1409700"/>
            <a:ext cx="7953375" cy="2857500"/>
          </a:xfrm>
        </p:spPr>
        <p:txBody>
          <a:bodyPr xmlns:a="http://schemas.openxmlformats.org/drawingml/2006/main"/>
          <a:lstStyle xmlns:a="http://schemas.openxmlformats.org/drawingml/2006/main"/>
          <a:p xmlns:a="http://schemas.openxmlformats.org/drawingml/2006/main">
            <a:pPr marL="0" indent="0">
              <a:lnSpc>
                <a:spcPct val="102000"/>
              </a:lnSpc>
              <a:spcAft>
                <a:spcPts val="0"/>
              </a:spcAft>
              <a:buNone/>
            </a:pPr>
            <a:r>
              <a:rPr sz="4600" b="1">
                <a:solidFill>
                  <a:srgbClr val="007A78"/>
                </a:solidFill>
              </a:rPr>
              <a:t>38.27% vs. 0%</a:t>
            </a:r>
          </a:p>
          <a:p xmlns:a="http://schemas.openxmlformats.org/drawingml/2006/main">
            <a:pPr marL="0" indent="0">
              <a:lnSpc>
                <a:spcPct val="102000"/>
              </a:lnSpc>
              <a:spcAft>
                <a:spcPts val="15"/>
              </a:spcAft>
              <a:buNone/>
            </a:pPr>
            <a:r>
              <a:rPr sz="1700">
                <a:solidFill>
                  <a:srgbClr val="20252C"/>
                </a:solidFill>
              </a:rPr>
              <a:t>function-level PLR vs. all baselines · Qwen3-Max on KA-LogicQuery</a:t>
            </a:r>
          </a:p>
          <a:p xmlns:a="http://schemas.openxmlformats.org/drawingml/2006/main">
            <a:pPr marL="0" indent="0">
              <a:lnSpc>
                <a:spcPct val="102000"/>
              </a:lnSpc>
              <a:spcAft>
                <a:spcPts val="5"/>
              </a:spcAft>
              <a:buNone/>
            </a:pPr>
            <a:r>
              <a:rPr sz="2300" b="1">
                <a:solidFill>
                  <a:srgbClr val="20252C"/>
                </a:solidFill>
              </a:rPr>
              <a:t>73.35%</a:t>
            </a:r>
            <a:r>
              <a:rPr sz="1550">
                <a:solidFill>
                  <a:srgbClr val="667085"/>
                </a:solidFill>
              </a:rPr>
              <a:t>   file-level precision</a:t>
            </a:r>
          </a:p>
          <a:p xmlns:a="http://schemas.openxmlformats.org/drawingml/2006/main">
            <a:pPr marL="0" indent="0">
              <a:lnSpc>
                <a:spcPct val="102000"/>
              </a:lnSpc>
              <a:spcAft>
                <a:spcPts val="5"/>
              </a:spcAft>
              <a:buNone/>
            </a:pPr>
            <a:r>
              <a:rPr sz="2300" b="1">
                <a:solidFill>
                  <a:srgbClr val="20252C"/>
                </a:solidFill>
              </a:rPr>
              <a:t>48.44%</a:t>
            </a:r>
            <a:r>
              <a:rPr sz="1550">
                <a:solidFill>
                  <a:srgbClr val="667085"/>
                </a:solidFill>
              </a:rPr>
              <a:t>   exact file-set localization</a:t>
            </a:r>
          </a:p>
          <a:p xmlns:a="http://schemas.openxmlformats.org/drawingml/2006/main">
            <a:pPr marL="0" indent="0">
              <a:lnSpc>
                <a:spcPct val="102000"/>
              </a:lnSpc>
              <a:spcAft>
                <a:spcPts val="5"/>
              </a:spcAft>
              <a:buNone/>
            </a:pPr>
            <a:r>
              <a:rPr sz="2300" b="1">
                <a:solidFill>
                  <a:srgbClr val="20252C"/>
                </a:solidFill>
              </a:rPr>
              <a:t>&gt;70%</a:t>
            </a:r>
            <a:r>
              <a:rPr sz="1550">
                <a:solidFill>
                  <a:srgbClr val="667085"/>
                </a:solidFill>
              </a:rPr>
              <a:t>   correct no-match on KA-LogicQuery-Neg</a:t>
            </a:r>
          </a:p>
          <a:p xmlns:a="http://schemas.openxmlformats.org/drawingml/2006/main">
            <a:pPr marL="0" indent="0">
              <a:lnSpc>
                <a:spcPct val="102000"/>
              </a:lnSpc>
              <a:spcBef>
                <a:spcPts val="12"/>
              </a:spcBef>
              <a:buNone/>
            </a:pPr>
            <a:r>
              <a:rPr sz="1600" b="1" i="1">
                <a:solidFill>
                  <a:srgbClr val="007A78"/>
                </a:solidFill>
              </a:rPr>
              <a:t>Formal execution can return no match instead of a plausible guess.</a:t>
            </a:r>
          </a:p>
        </p:txBody>
      </p:sp>
      <p:sp>
        <p:nvSpPr>
          <p:cNvPr id="4" name="Footer Placeholder 3">
            <a:extLst xmlns:a="http://schemas.openxmlformats.org/drawingml/2006/main">
              <a:ext uri="{FF2B5EF4-FFF2-40B4-BE49-F238E27FC236}">
                <a16:creationId xmlns:a16="http://schemas.microsoft.com/office/drawing/2014/main" id="{FCAF4D8E-091D-4042-A2CC-D15FCC74C2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02 / DATALOC · LOCATE</a:t>
            </a:r>
          </a:p>
        </p:txBody>
      </p:sp>
    </p:spTree>
    <p:extLst>
      <p:ext uri="{BB962C8B-B14F-4D97-AF65-F5344CB8AC3E}">
        <p14:creationId xmlns:p14="http://schemas.microsoft.com/office/powerpoint/2010/main" val="1930108052"/>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F7442D-2ED6-4D3A-929D-1799FAFB1D20}"/>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7A78"/>
                </a:solidFill>
              </a:rPr>
              <a:t>02 / DATALOC · TAKEAWAY</a:t>
            </a:r>
          </a:p>
          <a:p xmlns:a="http://schemas.openxmlformats.org/drawingml/2006/main">
            <a:pPr>
              <a:lnSpc>
                <a:spcPct val="98000"/>
              </a:lnSpc>
              <a:buNone/>
            </a:pPr>
            <a:r>
              <a:rPr sz="2250" b="1">
                <a:solidFill>
                  <a:srgbClr val="20252C"/>
                </a:solidFill>
              </a:rPr>
              <a:t>Reusable inference replaces repeated exploration</a:t>
            </a:r>
          </a:p>
        </p:txBody>
      </p:sp>
      <p:sp>
        <p:nvSpPr>
          <p:cNvPr id="3" name="Content Placeholder 2">
            <a:extLst xmlns:a="http://schemas.openxmlformats.org/drawingml/2006/main">
              <a:ext uri="{FF2B5EF4-FFF2-40B4-BE49-F238E27FC236}">
                <a16:creationId xmlns:a16="http://schemas.microsoft.com/office/drawing/2014/main" id="{FC68985F-895B-4EFE-AFB6-4144BF2DF34E}"/>
              </a:ext>
            </a:extLst>
          </p:cNvPr>
          <p:cNvSpPr>
            <a:spLocks xmlns:a="http://schemas.openxmlformats.org/drawingml/2006/main" noGrp="1"/>
          </p:cNvSpPr>
          <p:nvPr>
            <p:ph idx="1"/>
          </p:nvPr>
        </p:nvSpPr>
        <p:spPr>
          <a:xfrm xmlns:a="http://schemas.openxmlformats.org/drawingml/2006/main">
            <a:off x="571500" y="1409700"/>
            <a:ext cx="7953375" cy="2857500"/>
          </a:xfrm>
        </p:spPr>
        <p:txBody>
          <a:bodyPr xmlns:a="http://schemas.openxmlformats.org/drawingml/2006/main"/>
          <a:lstStyle xmlns:a="http://schemas.openxmlformats.org/drawingml/2006/main"/>
          <a:p xmlns:a="http://schemas.openxmlformats.org/drawingml/2006/main">
            <a:pPr marL="0" indent="0">
              <a:lnSpc>
                <a:spcPct val="102000"/>
              </a:lnSpc>
              <a:spcAft>
                <a:spcPts val="0"/>
              </a:spcAft>
              <a:buNone/>
            </a:pPr>
            <a:r>
              <a:rPr sz="4600" b="1">
                <a:solidFill>
                  <a:srgbClr val="007A78"/>
                </a:solidFill>
              </a:rPr>
              <a:t>81.02% Acc@5</a:t>
            </a:r>
          </a:p>
          <a:p xmlns:a="http://schemas.openxmlformats.org/drawingml/2006/main">
            <a:pPr marL="0" indent="0">
              <a:lnSpc>
                <a:spcPct val="102000"/>
              </a:lnSpc>
              <a:spcAft>
                <a:spcPts val="15"/>
              </a:spcAft>
              <a:buNone/>
            </a:pPr>
            <a:r>
              <a:rPr sz="1700">
                <a:solidFill>
                  <a:srgbClr val="20252C"/>
                </a:solidFill>
              </a:rPr>
              <a:t>file-level on SWE-bench Lite · ≈2 candidates per issue</a:t>
            </a:r>
          </a:p>
          <a:p xmlns:a="http://schemas.openxmlformats.org/drawingml/2006/main">
            <a:pPr marL="0" indent="0">
              <a:lnSpc>
                <a:spcPct val="102000"/>
              </a:lnSpc>
              <a:spcAft>
                <a:spcPts val="5"/>
              </a:spcAft>
              <a:buNone/>
            </a:pPr>
            <a:r>
              <a:rPr sz="2300" b="1">
                <a:solidFill>
                  <a:srgbClr val="20252C"/>
                </a:solidFill>
              </a:rPr>
              <a:t>39.3 s/query</a:t>
            </a:r>
            <a:r>
              <a:rPr sz="1550">
                <a:solidFill>
                  <a:srgbClr val="667085"/>
                </a:solidFill>
              </a:rPr>
              <a:t>   Claude-3.5 on KA-LogicQuery</a:t>
            </a:r>
          </a:p>
          <a:p xmlns:a="http://schemas.openxmlformats.org/drawingml/2006/main">
            <a:pPr marL="0" indent="0">
              <a:lnSpc>
                <a:spcPct val="102000"/>
              </a:lnSpc>
              <a:spcAft>
                <a:spcPts val="5"/>
              </a:spcAft>
              <a:buNone/>
            </a:pPr>
            <a:r>
              <a:rPr sz="2000" b="1">
                <a:solidFill>
                  <a:srgbClr val="20252C"/>
                </a:solidFill>
              </a:rPr>
              <a:t>16.2k tokens/query</a:t>
            </a:r>
            <a:r>
              <a:rPr sz="1550">
                <a:solidFill>
                  <a:srgbClr val="667085"/>
                </a:solidFill>
              </a:rPr>
              <a:t>   same setting</a:t>
            </a:r>
          </a:p>
          <a:p xmlns:a="http://schemas.openxmlformats.org/drawingml/2006/main">
            <a:pPr marL="0" indent="0">
              <a:lnSpc>
                <a:spcPct val="102000"/>
              </a:lnSpc>
              <a:spcBef>
                <a:spcPts val="12"/>
              </a:spcBef>
              <a:buNone/>
            </a:pPr>
            <a:r>
              <a:rPr sz="1600" b="1" i="1">
                <a:solidFill>
                  <a:srgbClr val="007A78"/>
                </a:solidFill>
              </a:rPr>
              <a:t>Localization becomes a query that can be inspected, executed, and rejected.</a:t>
            </a:r>
          </a:p>
        </p:txBody>
      </p:sp>
      <p:sp>
        <p:nvSpPr>
          <p:cNvPr id="4" name="Footer Placeholder 3">
            <a:extLst xmlns:a="http://schemas.openxmlformats.org/drawingml/2006/main">
              <a:ext uri="{FF2B5EF4-FFF2-40B4-BE49-F238E27FC236}">
                <a16:creationId xmlns:a16="http://schemas.microsoft.com/office/drawing/2014/main" id="{FCAF4D8E-091D-4042-A2CC-D15FCC74C2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02 / DATALOC · LOCATE</a:t>
            </a:r>
          </a:p>
        </p:txBody>
      </p:sp>
    </p:spTree>
    <p:extLst>
      <p:ext uri="{BB962C8B-B14F-4D97-AF65-F5344CB8AC3E}">
        <p14:creationId xmlns:p14="http://schemas.microsoft.com/office/powerpoint/2010/main" val="1930108052"/>
      </p:ext>
    </p:extLst>
  </p:cSld>
</p:sld>
</file>

<file path=ppt/slides/slide29.xml><?xml version="1.0" encoding="utf-8"?>
<p:sld xmlns:p="http://schemas.openxmlformats.org/presentationml/2006/main" showMasterSp="0">
  <p:cSld>
    <p:bg>
      <p:bgPr>
        <a:blipFill xmlns:a="http://schemas.openxmlformats.org/drawingml/2006/main" rotWithShape="1">
          <a:blip xmlns:r="http://schemas.openxmlformats.org/officeDocument/2006/relationships" r:embed="R7ec1af9e729543cb"/>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AF1F75-9662-49B5-A479-C9C75D6EEF74}"/>
              </a:ext>
            </a:extLst>
          </p:cNvPr>
          <p:cNvSpPr>
            <a:spLocks xmlns:a="http://schemas.openxmlformats.org/drawingml/2006/main" noGrp="1"/>
          </p:cNvSpPr>
          <p:nvPr>
            <p:ph type="ctrTitle" idx="0"/>
          </p:nvPr>
        </p:nvSpPr>
        <p:spPr>
          <a:xfrm xmlns:a="http://schemas.openxmlformats.org/drawingml/2006/main">
            <a:off x="2686050" y="1409700"/>
            <a:ext cx="5810250" cy="1524000"/>
          </a:xfrm>
        </p:spPr>
        <p:txBody>
          <a:bodyPr xmlns:a="http://schemas.openxmlformats.org/drawingml/2006/main" lIns="0" tIns="0" rIns="0" bIns="0" anchor="ctr">
            <a:normAutofit/>
          </a:bodyPr>
          <a:lstStyle xmlns:a="http://schemas.openxmlformats.org/drawingml/2006/main"/>
          <a:p xmlns:a="http://schemas.openxmlformats.org/drawingml/2006/main">
            <a:pPr>
              <a:lnSpc>
                <a:spcPct val="95000"/>
              </a:lnSpc>
              <a:spcAft>
                <a:spcPts val="5"/>
              </a:spcAft>
              <a:buNone/>
            </a:pPr>
            <a:r>
              <a:rPr sz="1300" b="1">
                <a:solidFill>
                  <a:srgbClr val="FFFFFF"/>
                </a:solidFill>
              </a:rPr>
              <a:t>03 / VERIFY</a:t>
            </a:r>
          </a:p>
          <a:p xmlns:a="http://schemas.openxmlformats.org/drawingml/2006/main">
            <a:pPr>
              <a:lnSpc>
                <a:spcPct val="95000"/>
              </a:lnSpc>
              <a:buNone/>
            </a:pPr>
            <a:r>
              <a:rPr sz="3900" b="1">
                <a:solidFill>
                  <a:srgbClr val="FFFFFF"/>
                </a:solidFill>
              </a:rPr>
              <a:t>MPChecker</a:t>
            </a:r>
          </a:p>
        </p:txBody>
      </p:sp>
      <p:sp>
        <p:nvSpPr>
          <p:cNvPr id="3" name="Subtitle 2">
            <a:extLst xmlns:a="http://schemas.openxmlformats.org/drawingml/2006/main">
              <a:ext uri="{FF2B5EF4-FFF2-40B4-BE49-F238E27FC236}">
                <a16:creationId xmlns:a16="http://schemas.microsoft.com/office/drawing/2014/main" id="{9C674DA4-4902-47E5-A15A-5A8E5AC5057C}"/>
              </a:ext>
            </a:extLst>
          </p:cNvPr>
          <p:cNvSpPr>
            <a:spLocks xmlns:a="http://schemas.openxmlformats.org/drawingml/2006/main" noGrp="1"/>
          </p:cNvSpPr>
          <p:nvPr>
            <p:ph type="subTitle" idx="1"/>
          </p:nvPr>
        </p:nvSpPr>
        <p:spPr>
          <a:xfrm xmlns:a="http://schemas.openxmlformats.org/drawingml/2006/main">
            <a:off x="2686050" y="3095625"/>
            <a:ext cx="5619750" cy="1619250"/>
          </a:xfrm>
        </p:spPr>
        <p:txBody>
          <a:bodyPr xmlns:a="http://schemas.openxmlformats.org/drawingml/2006/main" lIns="0" tIns="0" rIns="0" bIns="0">
            <a:normAutofit/>
          </a:bodyPr>
          <a:lstStyle xmlns:a="http://schemas.openxmlformats.org/drawingml/2006/main"/>
          <a:p xmlns:a="http://schemas.openxmlformats.org/drawingml/2006/main">
            <a:pPr>
              <a:lnSpc>
                <a:spcPct val="103000"/>
              </a:lnSpc>
              <a:spcAft>
                <a:spcPts val="9"/>
              </a:spcAft>
              <a:buNone/>
            </a:pPr>
            <a:r>
              <a:rPr sz="1150" b="1">
                <a:solidFill>
                  <a:srgbClr val="FFFFFF"/>
                </a:solidFill>
              </a:rPr>
              <a:t>ARTIFACT DELIVERY</a:t>
            </a:r>
          </a:p>
          <a:p xmlns:a="http://schemas.openxmlformats.org/drawingml/2006/main">
            <a:pPr>
              <a:lnSpc>
                <a:spcPct val="103000"/>
              </a:lnSpc>
              <a:spcAft>
                <a:spcPts val="16"/>
              </a:spcAft>
              <a:buNone/>
            </a:pPr>
            <a:r>
              <a:rPr sz="1800" b="1">
                <a:solidFill>
                  <a:srgbClr val="FFFFFF"/>
                </a:solidFill>
              </a:rPr>
              <a:t>Does the delivered contract still agree with </a:t>
            </a:r>
          </a:p>
          <a:p xmlns:a="http://schemas.openxmlformats.org/drawingml/2006/main">
            <a:pPr>
              <a:lnSpc>
                <a:spcPct val="103000"/>
              </a:lnSpc>
              <a:spcAft>
                <a:spcPts val="16"/>
              </a:spcAft>
              <a:buNone/>
            </a:pPr>
            <a:r>
              <a:rPr sz="1800" b="1">
                <a:solidFill>
                  <a:srgbClr val="FFFFFF"/>
                </a:solidFill>
              </a:rPr>
              <a:t>the code?</a:t>
            </a:r>
          </a:p>
          <a:p xmlns:a="http://schemas.openxmlformats.org/drawingml/2006/main">
            <a:pPr>
              <a:lnSpc>
                <a:spcPct val="103000"/>
              </a:lnSpc>
              <a:buNone/>
            </a:pPr>
            <a:r>
              <a:rPr sz="1050">
                <a:solidFill>
                  <a:srgbClr val="E6EEF7"/>
                </a:solidFill>
              </a:rPr>
              <a:t>Perceive  →  Locate  →  VERIFY</a:t>
            </a:r>
          </a:p>
        </p:txBody>
      </p:sp>
    </p:spTree>
    <p:extLst>
      <p:ext uri="{BB962C8B-B14F-4D97-AF65-F5344CB8AC3E}">
        <p14:creationId xmlns:p14="http://schemas.microsoft.com/office/powerpoint/2010/main" val="1160207140"/>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F641941-3C3C-456F-8B5E-1008801F44CD}"/>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PROBLEM</a:t>
            </a:r>
          </a:p>
          <a:p xmlns:a="http://schemas.openxmlformats.org/drawingml/2006/main">
            <a:pPr>
              <a:lnSpc>
                <a:spcPct val="98000"/>
              </a:lnSpc>
              <a:buNone/>
            </a:pPr>
            <a:r>
              <a:rPr sz="2250" b="1">
                <a:solidFill>
                  <a:srgbClr val="20252C"/>
                </a:solidFill>
              </a:rPr>
              <a:t>Code-doc inconsistencies in data science libraries</a:t>
            </a:r>
          </a:p>
        </p:txBody>
      </p:sp>
      <p:sp>
        <p:nvSpPr>
          <p:cNvPr id="3" name="Content Placeholder 2">
            <a:extLst xmlns:a="http://schemas.openxmlformats.org/drawingml/2006/main">
              <a:ext uri="{FF2B5EF4-FFF2-40B4-BE49-F238E27FC236}">
                <a16:creationId xmlns:a16="http://schemas.microsoft.com/office/drawing/2014/main" id="{A0B95B00-FF42-444E-859F-05E0368D57CC}"/>
              </a:ext>
            </a:extLst>
          </p:cNvPr>
          <p:cNvSpPr>
            <a:spLocks xmlns:a="http://schemas.openxmlformats.org/drawingml/2006/main" noGrp="1"/>
          </p:cNvSpPr>
          <p:nvPr>
            <p:ph idx="1"/>
          </p:nvPr>
        </p:nvSpPr>
        <p:spPr>
          <a:xfrm xmlns:a="http://schemas.openxmlformats.org/drawingml/2006/main">
            <a:off x="457200" y="964164"/>
            <a:ext cx="8151446" cy="2476500"/>
          </a:xfrm>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1"/>
              </a:spcAft>
              <a:buNone/>
            </a:pPr>
            <a:r>
              <a:rPr sz="1700" b="1" i="0">
                <a:solidFill>
                  <a:srgbClr val="654A9B"/>
                </a:solidFill>
                <a:latin typeface="Arial"/>
                <a:ea typeface="Arial"/>
                <a:cs typeface="Arial"/>
              </a:rPr>
              <a:t>The documented configuration is ambiguous</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Can newton-cg, sag, and lbfgs be used with no penalty?</a:t>
            </a:r>
          </a:p>
          <a:p xmlns:a="http://schemas.openxmlformats.org/drawingml/2006/main">
            <a:pPr marL="0" indent="0">
              <a:lnSpc>
                <a:spcPct val="103000"/>
              </a:lnSpc>
              <a:spcBef>
                <a:spcPts val="6"/>
              </a:spcBef>
              <a:spcAft>
                <a:spcPts val="1"/>
              </a:spcAft>
              <a:buNone/>
            </a:pPr>
            <a:r>
              <a:rPr sz="1700" b="1" i="0">
                <a:solidFill>
                  <a:srgbClr val="654A9B"/>
                </a:solidFill>
                <a:latin typeface="Arial"/>
                <a:ea typeface="Arial"/>
                <a:cs typeface="Arial"/>
              </a:rPr>
              <a:t>A wrong configuration can cause underfitting</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Misinterpreting the contract can silently degrade model quality.</a:t>
            </a:r>
          </a:p>
        </p:txBody>
      </p:sp>
      <p:sp>
        <p:nvSpPr>
          <p:cNvPr id="4" name="Footer Placeholder 3">
            <a:extLst xmlns:a="http://schemas.openxmlformats.org/drawingml/2006/main">
              <a:ext uri="{FF2B5EF4-FFF2-40B4-BE49-F238E27FC236}">
                <a16:creationId xmlns:a16="http://schemas.microsoft.com/office/drawing/2014/main" id="{91462FD5-5A02-4B77-B3AD-13023F6D369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03 / MPCHECKER · VERIFY</a:t>
            </a:r>
          </a:p>
        </p:txBody>
      </p:sp>
      <p:pic>
        <p:nvPicPr>
          <p:cNvPr id="9" name="Picture 18"/>
          <p:cNvPicPr>
            <a:picLocks xmlns:a="http://schemas.openxmlformats.org/drawingml/2006/main" noChangeAspect="1"/>
          </p:cNvPicPr>
          <p:nvPr/>
        </p:nvPicPr>
        <p:blipFill>
          <a:blip xmlns:r="http://schemas.openxmlformats.org/officeDocument/2006/relationships" xmlns:a="http://schemas.openxmlformats.org/drawingml/2006/main" r:embed="R304f83182c4844b2"/>
          <a:stretch xmlns:a="http://schemas.openxmlformats.org/drawingml/2006/main">
            <a:fillRect l="0" t="0" r="0" b="0"/>
          </a:stretch>
        </p:blipFill>
        <p:spPr>
          <a:xfrm xmlns:a="http://schemas.openxmlformats.org/drawingml/2006/main">
            <a:off x="457200" y="2497104"/>
            <a:ext cx="8461750" cy="2314557"/>
          </a:xfrm>
          <a:prstGeom xmlns:a="http://schemas.openxmlformats.org/drawingml/2006/main" prst="rect">
            <a:avLst/>
          </a:prstGeom>
        </p:spPr>
      </p:pic>
    </p:spTree>
    <p:extLst>
      <p:ext uri="{BB962C8B-B14F-4D97-AF65-F5344CB8AC3E}">
        <p14:creationId xmlns:p14="http://schemas.microsoft.com/office/powerpoint/2010/main" val="1599417606"/>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4F68980-CAAD-844D-614F-7B018C635A30}"/>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PROBLEM</a:t>
            </a:r>
          </a:p>
          <a:p xmlns:a="http://schemas.openxmlformats.org/drawingml/2006/main">
            <a:pPr>
              <a:lnSpc>
                <a:spcPct val="98000"/>
              </a:lnSpc>
              <a:buNone/>
            </a:pPr>
            <a:r>
              <a:rPr sz="2250" b="1">
                <a:solidFill>
                  <a:srgbClr val="20252C"/>
                </a:solidFill>
              </a:rPr>
              <a:t>Code-doc inconsistencies in data science libraries</a:t>
            </a:r>
          </a:p>
        </p:txBody>
      </p:sp>
      <p:sp>
        <p:nvSpPr>
          <p:cNvPr id="3" name="Content Placeholder 2">
            <a:extLst xmlns:a="http://schemas.openxmlformats.org/drawingml/2006/main">
              <a:ext uri="{FF2B5EF4-FFF2-40B4-BE49-F238E27FC236}">
                <a16:creationId xmlns:a16="http://schemas.microsoft.com/office/drawing/2014/main" id="{3C25D46B-FDA4-52B7-7A8B-43AD6ABFEB87}"/>
              </a:ext>
            </a:extLst>
          </p:cNvPr>
          <p:cNvSpPr>
            <a:spLocks xmlns:a="http://schemas.openxmlformats.org/drawingml/2006/main" noGrp="1"/>
          </p:cNvSpPr>
          <p:nvPr>
            <p:ph idx="1"/>
          </p:nvPr>
        </p:nvSpPr>
        <p:spPr>
          <a:xfrm xmlns:a="http://schemas.openxmlformats.org/drawingml/2006/main">
            <a:off x="457200" y="964164"/>
            <a:ext cx="8151446" cy="2476500"/>
          </a:xfrm>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1"/>
              </a:spcAft>
              <a:buNone/>
            </a:pPr>
            <a:r>
              <a:rPr sz="1700" b="1" i="0">
                <a:solidFill>
                  <a:srgbClr val="654A9B"/>
                </a:solidFill>
                <a:latin typeface="Arial"/>
                <a:ea typeface="Arial"/>
                <a:cs typeface="Arial"/>
              </a:rPr>
              <a:t>Code and documentation evolve out of sync</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API behavior can change faster than its description.</a:t>
            </a:r>
          </a:p>
          <a:p xmlns:a="http://schemas.openxmlformats.org/drawingml/2006/main">
            <a:pPr marL="0" indent="0">
              <a:lnSpc>
                <a:spcPct val="103000"/>
              </a:lnSpc>
              <a:spcBef>
                <a:spcPts val="6"/>
              </a:spcBef>
              <a:spcAft>
                <a:spcPts val="1"/>
              </a:spcAft>
              <a:buNone/>
            </a:pPr>
            <a:r>
              <a:rPr sz="1700" b="1" i="0">
                <a:solidFill>
                  <a:srgbClr val="654A9B"/>
                </a:solidFill>
                <a:latin typeface="Arial"/>
                <a:ea typeface="Arial"/>
                <a:cs typeface="Arial"/>
              </a:rPr>
              <a:t>Multi-parameter constraints are the blind spot</a:t>
            </a:r>
          </a:p>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Data-science APIs contain many interacting rules that existing tools fail to check.</a:t>
            </a:r>
          </a:p>
        </p:txBody>
      </p:sp>
      <p:sp>
        <p:nvSpPr>
          <p:cNvPr id="4" name="Footer Placeholder 3">
            <a:extLst xmlns:a="http://schemas.openxmlformats.org/drawingml/2006/main">
              <a:ext uri="{FF2B5EF4-FFF2-40B4-BE49-F238E27FC236}">
                <a16:creationId xmlns:a16="http://schemas.microsoft.com/office/drawing/2014/main" id="{B2DA392E-2A47-4156-1BE3-886902D5B0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03 / MPCHECKER · VERIFY</a:t>
            </a:r>
          </a:p>
        </p:txBody>
      </p:sp>
      <p:sp>
        <p:nvSpPr>
          <p:cNvPr id="6" name="TextBox 5">
            <a:extLst xmlns:a="http://schemas.openxmlformats.org/drawingml/2006/main">
              <a:ext uri="{FF2B5EF4-FFF2-40B4-BE49-F238E27FC236}">
                <a16:creationId xmlns:a16="http://schemas.microsoft.com/office/drawing/2014/main" id="{B1B5E36B-85CA-8B13-0682-554FC0474750}"/>
              </a:ext>
            </a:extLst>
          </p:cNvPr>
          <p:cNvSpPr>
            <a:spLocks xmlns:a="http://schemas.openxmlformats.org/drawingml/2006/main" noGrp="1"/>
          </p:cNvSpPr>
          <p:nvPr/>
        </p:nvSpPr>
        <p:spPr>
          <a:xfrm xmlns:a="http://schemas.openxmlformats.org/drawingml/2006/main" rot="0" flipH="0" flipV="0">
            <a:off x="261065" y="4069914"/>
            <a:ext cx="862090" cy="30777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Gill Sans MT"/>
                <a:ea typeface="Gill Sans MT"/>
                <a:cs typeface="Gill Sans MT"/>
              </a:rPr>
              <a:t>V</a:t>
            </a:r>
            <a:r>
              <a:rPr sz="1400">
                <a:latin typeface="Gill Sans MT"/>
                <a:ea typeface="Gill Sans MT"/>
                <a:cs typeface="Gill Sans MT"/>
              </a:rPr>
              <a:t>1.0</a:t>
            </a:r>
          </a:p>
        </p:txBody>
      </p:sp>
      <p:sp>
        <p:nvSpPr>
          <p:cNvPr id="7" name="TextBox 6">
            <a:extLst xmlns:a="http://schemas.openxmlformats.org/drawingml/2006/main">
              <a:ext uri="{FF2B5EF4-FFF2-40B4-BE49-F238E27FC236}">
                <a16:creationId xmlns:a16="http://schemas.microsoft.com/office/drawing/2014/main" id="{F1F0BF9E-573C-76DD-F8C5-2D7FDD565AE2}"/>
              </a:ext>
            </a:extLst>
          </p:cNvPr>
          <p:cNvSpPr>
            <a:spLocks xmlns:a="http://schemas.openxmlformats.org/drawingml/2006/main" noGrp="1"/>
          </p:cNvSpPr>
          <p:nvPr/>
        </p:nvSpPr>
        <p:spPr>
          <a:xfrm xmlns:a="http://schemas.openxmlformats.org/drawingml/2006/main" rot="0" flipH="0" flipV="0">
            <a:off x="261065" y="2915055"/>
            <a:ext cx="629146" cy="30777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Gill Sans MT"/>
                <a:ea typeface="Gill Sans MT"/>
                <a:cs typeface="Gill Sans MT"/>
              </a:rPr>
              <a:t>V</a:t>
            </a:r>
            <a:r>
              <a:rPr sz="1400">
                <a:latin typeface="Gill Sans MT"/>
                <a:ea typeface="Gill Sans MT"/>
                <a:cs typeface="Gill Sans MT"/>
              </a:rPr>
              <a:t>1.0</a:t>
            </a:r>
          </a:p>
        </p:txBody>
      </p:sp>
      <p:sp>
        <p:nvSpPr>
          <p:cNvPr id="8" name="TextBox 7">
            <a:extLst xmlns:a="http://schemas.openxmlformats.org/drawingml/2006/main">
              <a:ext uri="{FF2B5EF4-FFF2-40B4-BE49-F238E27FC236}">
                <a16:creationId xmlns:a16="http://schemas.microsoft.com/office/drawing/2014/main" id="{F146B038-1B45-1AA2-E645-3C6966CA717B}"/>
              </a:ext>
            </a:extLst>
          </p:cNvPr>
          <p:cNvSpPr>
            <a:spLocks xmlns:a="http://schemas.openxmlformats.org/drawingml/2006/main" noGrp="1"/>
          </p:cNvSpPr>
          <p:nvPr/>
        </p:nvSpPr>
        <p:spPr>
          <a:xfrm xmlns:a="http://schemas.openxmlformats.org/drawingml/2006/main" rot="18626384" flipH="0" flipV="0">
            <a:off x="1486103" y="3419234"/>
            <a:ext cx="503911" cy="3407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rgbClr val="FF0000"/>
                </a:solidFill>
              </a:rPr>
              <a:t>❌</a:t>
            </a:r>
          </a:p>
        </p:txBody>
      </p:sp>
      <p:pic>
        <p:nvPicPr>
          <p:cNvPr id="33" name="Picture 8"/>
          <p:cNvPicPr>
            <a:picLocks xmlns:a="http://schemas.openxmlformats.org/drawingml/2006/main" noChangeAspect="1"/>
          </p:cNvPicPr>
          <p:nvPr/>
        </p:nvPicPr>
        <p:blipFill>
          <a:blip xmlns:r="http://schemas.openxmlformats.org/officeDocument/2006/relationships" xmlns:a="http://schemas.openxmlformats.org/drawingml/2006/main" r:embed="Rb3dcf759d3e04fc4"/>
          <a:stretch xmlns:a="http://schemas.openxmlformats.org/drawingml/2006/main">
            <a:fillRect l="0" t="0" r="0" b="0"/>
          </a:stretch>
        </p:blipFill>
        <p:spPr>
          <a:xfrm xmlns:a="http://schemas.openxmlformats.org/drawingml/2006/main" rot="0" flipH="0" flipV="0">
            <a:off x="665361" y="2783384"/>
            <a:ext cx="495894" cy="499249"/>
          </a:xfrm>
          <a:prstGeom xmlns:a="http://schemas.openxmlformats.org/drawingml/2006/main" prst="rect">
            <a:avLst/>
          </a:prstGeom>
        </p:spPr>
      </p:pic>
      <p:pic>
        <p:nvPicPr>
          <p:cNvPr id="34" name="Picture 9"/>
          <p:cNvPicPr>
            <a:picLocks xmlns:a="http://schemas.openxmlformats.org/drawingml/2006/main" noChangeAspect="1"/>
          </p:cNvPicPr>
          <p:nvPr/>
        </p:nvPicPr>
        <p:blipFill>
          <a:blip xmlns:r="http://schemas.openxmlformats.org/officeDocument/2006/relationships" xmlns:a="http://schemas.openxmlformats.org/drawingml/2006/main" r:embed="Rf3e5d008f7d4450c"/>
          <a:stretch xmlns:a="http://schemas.openxmlformats.org/drawingml/2006/main">
            <a:fillRect l="0" t="0" r="0" b="0"/>
          </a:stretch>
        </p:blipFill>
        <p:spPr>
          <a:xfrm xmlns:a="http://schemas.openxmlformats.org/drawingml/2006/main" rot="0" flipH="0" flipV="0">
            <a:off x="703460" y="4018836"/>
            <a:ext cx="419696" cy="422534"/>
          </a:xfrm>
          <a:prstGeom xmlns:a="http://schemas.openxmlformats.org/drawingml/2006/main" prst="rect">
            <a:avLst/>
          </a:prstGeom>
        </p:spPr>
      </p:pic>
      <p:pic>
        <p:nvPicPr>
          <p:cNvPr id="35" name="Picture 10"/>
          <p:cNvPicPr>
            <a:picLocks xmlns:a="http://schemas.openxmlformats.org/drawingml/2006/main" noChangeAspect="1"/>
          </p:cNvPicPr>
          <p:nvPr/>
        </p:nvPicPr>
        <p:blipFill>
          <a:blip xmlns:r="http://schemas.openxmlformats.org/officeDocument/2006/relationships" xmlns:a="http://schemas.openxmlformats.org/drawingml/2006/main" r:embed="Rf3e5d008f7d4450c"/>
          <a:stretch xmlns:a="http://schemas.openxmlformats.org/drawingml/2006/main">
            <a:fillRect l="0" t="0" r="0" b="0"/>
          </a:stretch>
        </p:blipFill>
        <p:spPr>
          <a:xfrm xmlns:a="http://schemas.openxmlformats.org/drawingml/2006/main" rot="0" flipH="0" flipV="0">
            <a:off x="2160269" y="4018836"/>
            <a:ext cx="419696" cy="422534"/>
          </a:xfrm>
          <a:prstGeom xmlns:a="http://schemas.openxmlformats.org/drawingml/2006/main" prst="rect">
            <a:avLst/>
          </a:prstGeom>
        </p:spPr>
      </p:pic>
      <p:sp>
        <p:nvSpPr>
          <p:cNvPr id="12" name="TextBox 11">
            <a:extLst xmlns:a="http://schemas.openxmlformats.org/drawingml/2006/main">
              <a:ext uri="{FF2B5EF4-FFF2-40B4-BE49-F238E27FC236}">
                <a16:creationId xmlns:a16="http://schemas.microsoft.com/office/drawing/2014/main" id="{C968EEC3-9A0B-1C8D-B960-6AE4047FCFE7}"/>
              </a:ext>
            </a:extLst>
          </p:cNvPr>
          <p:cNvSpPr>
            <a:spLocks xmlns:a="http://schemas.openxmlformats.org/drawingml/2006/main" noGrp="1"/>
          </p:cNvSpPr>
          <p:nvPr/>
        </p:nvSpPr>
        <p:spPr>
          <a:xfrm xmlns:a="http://schemas.openxmlformats.org/drawingml/2006/main" rot="0" flipH="0" flipV="0">
            <a:off x="2512654" y="4069914"/>
            <a:ext cx="699629" cy="30777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Gill Sans MT"/>
                <a:ea typeface="Gill Sans MT"/>
                <a:cs typeface="Gill Sans MT"/>
              </a:rPr>
              <a:t>V</a:t>
            </a:r>
            <a:r>
              <a:rPr sz="1400">
                <a:latin typeface="Gill Sans MT"/>
                <a:ea typeface="Gill Sans MT"/>
                <a:cs typeface="Gill Sans MT"/>
              </a:rPr>
              <a:t>2.0</a:t>
            </a:r>
          </a:p>
        </p:txBody>
      </p:sp>
      <p:cxnSp>
        <p:nvCxnSpPr>
          <p:cNvPr id="37" name="Straight Arrow Connector 12"/>
          <p:cNvCxnSpPr/>
          <p:nvPr/>
        </p:nvCxnSpPr>
        <p:spPr>
          <a:xfrm xmlns:a="http://schemas.openxmlformats.org/drawingml/2006/main" rot="0" flipH="1" flipV="1">
            <a:off x="1123157" y="3194935"/>
            <a:ext cx="1062552" cy="823901"/>
          </a:xfrm>
          <a:prstGeom xmlns:a="http://schemas.openxmlformats.org/drawingml/2006/main" prst="straightConnector1">
            <a:avLst/>
          </a:prstGeom>
          <a:ln xmlns:a="http://schemas.openxmlformats.org/drawingml/2006/main" w="50800">
            <a:solidFill>
              <a:srgbClr val="FF0000"/>
            </a:solidFill>
            <a:prstDash val="solid"/>
            <a:headEnd type="triangle"/>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cxnSp>
        <p:nvCxnSpPr>
          <p:cNvPr id="38" name="Straight Arrow Connector 13"/>
          <p:cNvCxnSpPr>
            <a:stCxn xmlns:a="http://schemas.openxmlformats.org/drawingml/2006/main" id="10" idx="3"/>
            <a:endCxn xmlns:a="http://schemas.openxmlformats.org/drawingml/2006/main" id="11" idx="1"/>
          </p:cNvCxnSpPr>
          <p:nvPr/>
        </p:nvCxnSpPr>
        <p:spPr>
          <a:xfrm xmlns:a="http://schemas.openxmlformats.org/drawingml/2006/main" rot="0" flipH="0" flipV="0">
            <a:off x="1123157" y="4230104"/>
            <a:ext cx="1037112" cy="0"/>
          </a:xfrm>
          <a:prstGeom xmlns:a="http://schemas.openxmlformats.org/drawingml/2006/main" prst="straightConnector1">
            <a:avLst/>
          </a:prstGeom>
          <a:ln xmlns:a="http://schemas.openxmlformats.org/drawingml/2006/main" w="50800">
            <a:solidFill>
              <a:schemeClr val="tx1"/>
            </a:solidFill>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cxnSp>
        <p:nvCxnSpPr>
          <p:cNvPr id="39" name="Straight Arrow Connector 14"/>
          <p:cNvCxnSpPr>
            <a:stCxn xmlns:a="http://schemas.openxmlformats.org/drawingml/2006/main" id="9" idx="2"/>
            <a:endCxn xmlns:a="http://schemas.openxmlformats.org/drawingml/2006/main" id="10" idx="0"/>
          </p:cNvCxnSpPr>
          <p:nvPr/>
        </p:nvCxnSpPr>
        <p:spPr>
          <a:xfrm xmlns:a="http://schemas.openxmlformats.org/drawingml/2006/main" rot="0" flipH="0" flipV="0">
            <a:off x="913308" y="3282633"/>
            <a:ext cx="0" cy="736203"/>
          </a:xfrm>
          <a:prstGeom xmlns:a="http://schemas.openxmlformats.org/drawingml/2006/main" prst="straightConnector1">
            <a:avLst/>
          </a:prstGeom>
          <a:ln xmlns:a="http://schemas.openxmlformats.org/drawingml/2006/main" w="50800">
            <a:solidFill>
              <a:schemeClr val="accent6">
                <a:lumMod val="75000"/>
              </a:schemeClr>
            </a:solidFill>
            <a:prstDash val="solid"/>
            <a:headEnd type="triangle"/>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pic>
        <p:nvPicPr>
          <p:cNvPr id="40" name="Content Placeholder 3"/>
          <p:cNvPicPr>
            <a:picLocks xmlns:a="http://schemas.openxmlformats.org/drawingml/2006/main" noChangeAspect="1"/>
          </p:cNvPicPr>
          <p:nvPr/>
        </p:nvPicPr>
        <p:blipFill>
          <a:blip xmlns:r="http://schemas.openxmlformats.org/officeDocument/2006/relationships" xmlns:a="http://schemas.openxmlformats.org/drawingml/2006/main" r:embed="R5e99185eda1641b9"/>
          <a:stretch xmlns:a="http://schemas.openxmlformats.org/drawingml/2006/main">
            <a:fillRect l="0" t="0" r="0" b="0"/>
          </a:stretch>
        </p:blipFill>
        <p:spPr>
          <a:xfrm xmlns:a="http://schemas.openxmlformats.org/drawingml/2006/main" rot="0" flipH="0" flipV="0">
            <a:off x="3793078" y="2571750"/>
            <a:ext cx="4838663" cy="2116899"/>
          </a:xfrm>
          <a:prstGeom xmlns:a="http://schemas.openxmlformats.org/drawingml/2006/main" prst="rect">
            <a:avLst/>
          </a:prstGeom>
        </p:spPr>
      </p:pic>
      <p:sp>
        <p:nvSpPr>
          <p:cNvPr id="18" name="Oval 17">
            <a:extLst xmlns:a="http://schemas.openxmlformats.org/drawingml/2006/main">
              <a:ext uri="{FF2B5EF4-FFF2-40B4-BE49-F238E27FC236}">
                <a16:creationId xmlns:a16="http://schemas.microsoft.com/office/drawing/2014/main" id="{B50C2D9C-AE43-839D-701A-557A8CC50F1B}"/>
              </a:ext>
            </a:extLst>
          </p:cNvPr>
          <p:cNvSpPr>
            <a:spLocks xmlns:a="http://schemas.openxmlformats.org/drawingml/2006/main" noGrp="1"/>
          </p:cNvSpPr>
          <p:nvPr/>
        </p:nvSpPr>
        <p:spPr>
          <a:xfrm xmlns:a="http://schemas.openxmlformats.org/drawingml/2006/main" rot="0" flipH="0" flipV="0">
            <a:off x="4751110" y="3213130"/>
            <a:ext cx="230205" cy="193985"/>
          </a:xfrm>
          <a:prstGeom xmlns:a="http://schemas.openxmlformats.org/drawingml/2006/main" prst="ellipse">
            <a:avLst/>
          </a:prstGeom>
          <a:noFill xmlns:a="http://schemas.openxmlformats.org/drawingml/2006/main"/>
          <a:ln xmlns:a="http://schemas.openxmlformats.org/drawingml/2006/main" w="25400" cmpd="sng">
            <a:solidFill>
              <a:srgbClr val="FF0000"/>
            </a:solidFill>
            <a:prstDash val="soli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Oval 19">
            <a:extLst xmlns:a="http://schemas.openxmlformats.org/drawingml/2006/main">
              <a:ext uri="{FF2B5EF4-FFF2-40B4-BE49-F238E27FC236}">
                <a16:creationId xmlns:a16="http://schemas.microsoft.com/office/drawing/2014/main" id="{14A96AB9-8D54-E380-F254-22A1F458CAF3}"/>
              </a:ext>
            </a:extLst>
          </p:cNvPr>
          <p:cNvSpPr>
            <a:spLocks xmlns:a="http://schemas.openxmlformats.org/drawingml/2006/main" noGrp="1"/>
          </p:cNvSpPr>
          <p:nvPr/>
        </p:nvSpPr>
        <p:spPr>
          <a:xfrm xmlns:a="http://schemas.openxmlformats.org/drawingml/2006/main" rot="0" flipH="0" flipV="0">
            <a:off x="6850369" y="4139110"/>
            <a:ext cx="156759" cy="168030"/>
          </a:xfrm>
          <a:prstGeom xmlns:a="http://schemas.openxmlformats.org/drawingml/2006/main" prst="ellipse">
            <a:avLst/>
          </a:prstGeom>
          <a:noFill xmlns:a="http://schemas.openxmlformats.org/drawingml/2006/main"/>
          <a:ln xmlns:a="http://schemas.openxmlformats.org/drawingml/2006/main" w="25400" cmpd="sng">
            <a:solidFill>
              <a:srgbClr val="FF0000"/>
            </a:solidFill>
            <a:prstDash val="soli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ctr"/>
          <a:lstStyle xmlns:a="http://schemas.openxmlformats.org/drawingml/2006/main"/>
          <a:p xmlns:a="http://schemas.openxmlformats.org/drawingml/2006/main">
            <a:pPr algn="ctr">
              <a:buNone/>
            </a:pPr>
          </a:p>
        </p:txBody>
      </p:sp>
      <p:cxnSp>
        <p:nvCxnSpPr>
          <p:cNvPr id="43" name="Straight Arrow Connector 20"/>
          <p:cNvCxnSpPr>
            <a:stCxn xmlns:a="http://schemas.openxmlformats.org/drawingml/2006/main" id="20" idx="1"/>
            <a:endCxn xmlns:a="http://schemas.openxmlformats.org/drawingml/2006/main" id="18" idx="5"/>
          </p:cNvCxnSpPr>
          <p:nvPr/>
        </p:nvCxnSpPr>
        <p:spPr>
          <a:xfrm xmlns:a="http://schemas.openxmlformats.org/drawingml/2006/main" rot="0" flipH="1" flipV="1">
            <a:off x="4947603" y="3378707"/>
            <a:ext cx="1925722" cy="785011"/>
          </a:xfrm>
          <a:prstGeom xmlns:a="http://schemas.openxmlformats.org/drawingml/2006/main" prst="straightConnector1">
            <a:avLst/>
          </a:prstGeom>
          <a:ln xmlns:a="http://schemas.openxmlformats.org/drawingml/2006/main" w="25400">
            <a:solidFill>
              <a:srgbClr val="FF0000"/>
            </a:solidFill>
            <a:prstDash val="solid"/>
            <a:headEnd type="triangle"/>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pic>
        <p:nvPicPr>
          <p:cNvPr id="44" name="Picture 4"/>
          <p:cNvPicPr>
            <a:picLocks xmlns:a="http://schemas.openxmlformats.org/drawingml/2006/main" noChangeAspect="1"/>
          </p:cNvPicPr>
          <p:nvPr/>
        </p:nvPicPr>
        <p:blipFill>
          <a:blip xmlns:r="http://schemas.openxmlformats.org/officeDocument/2006/relationships" xmlns:a="http://schemas.openxmlformats.org/drawingml/2006/main" r:embed="R69a810a18e3e40bf"/>
          <a:srcRect xmlns:a="http://schemas.openxmlformats.org/drawingml/2006/main" l="0" t="0" r="0" b="0"/>
          <a:stretch xmlns:a="http://schemas.openxmlformats.org/drawingml/2006/main">
            <a:fillRect l="0" t="0" r="0" b="0"/>
          </a:stretch>
        </p:blipFill>
        <p:spPr>
          <a:xfrm xmlns:a="http://schemas.openxmlformats.org/drawingml/2006/main">
            <a:off x="7711706" y="1709852"/>
            <a:ext cx="975094" cy="705466"/>
          </a:xfrm>
          <a:prstGeom xmlns:a="http://schemas.openxmlformats.org/drawingml/2006/main" prst="rect">
            <a:avLst/>
          </a:prstGeom>
        </p:spPr>
      </p:pic>
    </p:spTree>
    <p:extLst>
      <p:ext uri="{BB962C8B-B14F-4D97-AF65-F5344CB8AC3E}">
        <p14:creationId xmlns:p14="http://schemas.microsoft.com/office/powerpoint/2010/main" val="70802557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8A22E00-72BA-4E9C-9684-8E7F9033AD9A}"/>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PROBLEM</a:t>
            </a:r>
          </a:p>
          <a:p xmlns:a="http://schemas.openxmlformats.org/drawingml/2006/main">
            <a:pPr>
              <a:lnSpc>
                <a:spcPct val="98000"/>
              </a:lnSpc>
              <a:buNone/>
            </a:pPr>
            <a:r>
              <a:rPr sz="2250" b="1">
                <a:solidFill>
                  <a:srgbClr val="20252C"/>
                </a:solidFill>
              </a:rPr>
              <a:t>Why is it challenging?</a:t>
            </a:r>
          </a:p>
        </p:txBody>
      </p:sp>
      <p:sp>
        <p:nvSpPr>
          <p:cNvPr id="3" name="Content Placeholder 2">
            <a:extLst xmlns:a="http://schemas.openxmlformats.org/drawingml/2006/main">
              <a:ext uri="{FF2B5EF4-FFF2-40B4-BE49-F238E27FC236}">
                <a16:creationId xmlns:a16="http://schemas.microsoft.com/office/drawing/2014/main" id="{23FE3141-3087-05DE-7FCF-410B12624F68}"/>
              </a:ext>
            </a:extLst>
          </p:cNvPr>
          <p:cNvSpPr>
            <a:spLocks xmlns:a="http://schemas.openxmlformats.org/drawingml/2006/main" noGrp="1"/>
          </p:cNvSpPr>
          <p:nvPr>
            <p:ph idx="1"/>
          </p:nvPr>
        </p:nvSpPr>
        <p:spPr>
          <a:xfrm xmlns:a="http://schemas.openxmlformats.org/drawingml/2006/main">
            <a:off x="457200" y="1239189"/>
            <a:ext cx="8151446" cy="2665122"/>
          </a:xfrm>
        </p:spPr>
        <p:txBody>
          <a:bodyPr xmlns:a="http://schemas.openxmlformats.org/drawingml/2006/main" wrap="square" anchor="t">
            <a:noAutofit/>
          </a:bodyPr>
          <a:lstStyle xmlns:a="http://schemas.openxmlformats.org/drawingml/2006/main"/>
          <a:p xmlns:a="http://schemas.openxmlformats.org/drawingml/2006/main">
            <a:pPr marL="0" indent="0">
              <a:lnSpc>
                <a:spcPct val="101000"/>
              </a:lnSpc>
              <a:spcBef>
                <a:spcPts val="0"/>
              </a:spcBef>
              <a:spcAft>
                <a:spcPts val="1"/>
              </a:spcAft>
              <a:buNone/>
            </a:pPr>
            <a:r>
              <a:rPr sz="1550" b="1" i="0">
                <a:solidFill>
                  <a:srgbClr val="654A9B"/>
                </a:solidFill>
                <a:latin typeface="Arial"/>
                <a:ea typeface="Arial"/>
                <a:cs typeface="Arial"/>
              </a:rPr>
              <a:t>Many parameters interact</a:t>
            </a:r>
          </a:p>
          <a:p xmlns:a="http://schemas.openxmlformats.org/drawingml/2006/main">
            <a:pPr marL="0" indent="0">
              <a:lnSpc>
                <a:spcPct val="101000"/>
              </a:lnSpc>
              <a:spcBef>
                <a:spcPts val="0"/>
              </a:spcBef>
              <a:spcAft>
                <a:spcPts val="0"/>
              </a:spcAft>
              <a:buNone/>
            </a:pPr>
            <a:r>
              <a:rPr sz="1325" b="0" i="0">
                <a:solidFill>
                  <a:srgbClr val="20252C"/>
                </a:solidFill>
                <a:latin typeface="Arial"/>
                <a:ea typeface="Arial"/>
                <a:cs typeface="Arial"/>
              </a:rPr>
              <a:t>Complex dependencies emerge across parameter combinations.</a:t>
            </a:r>
          </a:p>
          <a:p xmlns:a="http://schemas.openxmlformats.org/drawingml/2006/main">
            <a:pPr marL="0" indent="0">
              <a:lnSpc>
                <a:spcPct val="101000"/>
              </a:lnSpc>
              <a:spcBef>
                <a:spcPts val="3"/>
              </a:spcBef>
              <a:spcAft>
                <a:spcPts val="1"/>
              </a:spcAft>
              <a:buNone/>
            </a:pPr>
            <a:r>
              <a:rPr sz="1550" b="1" i="0">
                <a:solidFill>
                  <a:srgbClr val="654A9B"/>
                </a:solidFill>
                <a:latin typeface="Arial"/>
                <a:ea typeface="Arial"/>
                <a:cs typeface="Arial"/>
              </a:rPr>
              <a:t>Violations can fail silently</a:t>
            </a:r>
          </a:p>
          <a:p xmlns:a="http://schemas.openxmlformats.org/drawingml/2006/main">
            <a:pPr marL="0" indent="0">
              <a:lnSpc>
                <a:spcPct val="101000"/>
              </a:lnSpc>
              <a:spcBef>
                <a:spcPts val="0"/>
              </a:spcBef>
              <a:spcAft>
                <a:spcPts val="0"/>
              </a:spcAft>
              <a:buNone/>
            </a:pPr>
            <a:r>
              <a:rPr sz="1325" b="0" i="0">
                <a:solidFill>
                  <a:srgbClr val="20252C"/>
                </a:solidFill>
                <a:latin typeface="Arial"/>
                <a:ea typeface="Arial"/>
                <a:cs typeface="Arial"/>
              </a:rPr>
              <a:t>Invalid combinations may change behavior without raising exceptions.</a:t>
            </a:r>
          </a:p>
          <a:p xmlns:a="http://schemas.openxmlformats.org/drawingml/2006/main">
            <a:pPr marL="0" indent="0">
              <a:lnSpc>
                <a:spcPct val="101000"/>
              </a:lnSpc>
              <a:spcBef>
                <a:spcPts val="3"/>
              </a:spcBef>
              <a:spcAft>
                <a:spcPts val="1"/>
              </a:spcAft>
              <a:buNone/>
            </a:pPr>
            <a:r>
              <a:rPr sz="1550" b="1" i="0">
                <a:solidFill>
                  <a:srgbClr val="654A9B"/>
                </a:solidFill>
                <a:latin typeface="Arial"/>
                <a:ea typeface="Arial"/>
                <a:cs typeface="Arial"/>
              </a:rPr>
              <a:t>Documentation is unstructured</a:t>
            </a:r>
          </a:p>
          <a:p xmlns:a="http://schemas.openxmlformats.org/drawingml/2006/main">
            <a:pPr marL="0" indent="0">
              <a:lnSpc>
                <a:spcPct val="101000"/>
              </a:lnSpc>
              <a:spcBef>
                <a:spcPts val="0"/>
              </a:spcBef>
              <a:spcAft>
                <a:spcPts val="0"/>
              </a:spcAft>
              <a:buNone/>
            </a:pPr>
            <a:r>
              <a:rPr sz="1325" b="0" i="0">
                <a:solidFill>
                  <a:srgbClr val="20252C"/>
                </a:solidFill>
                <a:latin typeface="Arial"/>
                <a:ea typeface="Arial"/>
                <a:cs typeface="Arial"/>
              </a:rPr>
              <a:t>Free-form prose can hide or blur constraints.</a:t>
            </a:r>
          </a:p>
          <a:p xmlns:a="http://schemas.openxmlformats.org/drawingml/2006/main">
            <a:pPr marL="0" indent="0">
              <a:lnSpc>
                <a:spcPct val="101000"/>
              </a:lnSpc>
              <a:spcBef>
                <a:spcPts val="3"/>
              </a:spcBef>
              <a:spcAft>
                <a:spcPts val="1"/>
              </a:spcAft>
              <a:buNone/>
            </a:pPr>
            <a:r>
              <a:rPr sz="1550" b="1" i="0">
                <a:solidFill>
                  <a:srgbClr val="654A9B"/>
                </a:solidFill>
                <a:latin typeface="Arial"/>
                <a:ea typeface="Arial"/>
                <a:cs typeface="Arial"/>
              </a:rPr>
              <a:t>Code–documentation links stay implicit</a:t>
            </a:r>
          </a:p>
          <a:p xmlns:a="http://schemas.openxmlformats.org/drawingml/2006/main">
            <a:pPr marL="0" indent="0">
              <a:lnSpc>
                <a:spcPct val="101000"/>
              </a:lnSpc>
              <a:spcBef>
                <a:spcPts val="0"/>
              </a:spcBef>
              <a:spcAft>
                <a:spcPts val="0"/>
              </a:spcAft>
              <a:buNone/>
            </a:pPr>
            <a:r>
              <a:rPr sz="1325" b="0" i="0">
                <a:solidFill>
                  <a:srgbClr val="20252C"/>
                </a:solidFill>
                <a:latin typeface="Arial"/>
                <a:ea typeface="Arial"/>
                <a:cs typeface="Arial"/>
              </a:rPr>
              <a:t>The relevant implementation logic is hard to isolate and compare.</a:t>
            </a:r>
          </a:p>
        </p:txBody>
      </p:sp>
      <p:sp>
        <p:nvSpPr>
          <p:cNvPr id="4" name="Footer Placeholder 3">
            <a:extLst xmlns:a="http://schemas.openxmlformats.org/drawingml/2006/main">
              <a:ext uri="{FF2B5EF4-FFF2-40B4-BE49-F238E27FC236}">
                <a16:creationId xmlns:a16="http://schemas.microsoft.com/office/drawing/2014/main" id="{280437B7-E9E9-2B8C-EB0D-3498E2D0CC4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03 / MPCHECKER · VERIFY</a:t>
            </a:r>
          </a:p>
        </p:txBody>
      </p:sp>
    </p:spTree>
    <p:extLst>
      <p:ext uri="{BB962C8B-B14F-4D97-AF65-F5344CB8AC3E}">
        <p14:creationId xmlns:p14="http://schemas.microsoft.com/office/powerpoint/2010/main" val="233680795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pic>
        <p:nvPicPr>
          <p:cNvPr id="6" name="Picture 4"/>
          <p:cNvPicPr>
            <a:picLocks xmlns:a="http://schemas.openxmlformats.org/drawingml/2006/main" noChangeAspect="1"/>
          </p:cNvPicPr>
          <p:nvPr/>
        </p:nvPicPr>
        <p:blipFill>
          <a:blip xmlns:r="http://schemas.openxmlformats.org/officeDocument/2006/relationships" xmlns:a="http://schemas.openxmlformats.org/drawingml/2006/main" r:embed="R699b71beaefe4a5f"/>
          <a:srcRect xmlns:a="http://schemas.openxmlformats.org/drawingml/2006/main" l="1827" t="3691" r="1703" b="4262"/>
          <a:stretch xmlns:a="http://schemas.openxmlformats.org/drawingml/2006/main">
            <a:fillRect l="0" t="0" r="0" b="0"/>
          </a:stretch>
        </p:blipFill>
        <p:spPr>
          <a:xfrm xmlns:a="http://schemas.openxmlformats.org/drawingml/2006/main">
            <a:off x="1675578" y="2886834"/>
            <a:ext cx="5714690" cy="1715479"/>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C63E3E4C-C75C-ACA0-C5FF-83792B6C9592}"/>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PROBLEM</a:t>
            </a:r>
          </a:p>
          <a:p xmlns:a="http://schemas.openxmlformats.org/drawingml/2006/main">
            <a:pPr>
              <a:lnSpc>
                <a:spcPct val="98000"/>
              </a:lnSpc>
              <a:buNone/>
            </a:pPr>
            <a:r>
              <a:rPr sz="2250" b="1">
                <a:solidFill>
                  <a:srgbClr val="20252C"/>
                </a:solidFill>
              </a:rPr>
              <a:t>LLM may be a promising solution, but …</a:t>
            </a:r>
          </a:p>
        </p:txBody>
      </p:sp>
      <p:sp>
        <p:nvSpPr>
          <p:cNvPr id="3" name="Content Placeholder 2">
            <a:extLst xmlns:a="http://schemas.openxmlformats.org/drawingml/2006/main">
              <a:ext uri="{FF2B5EF4-FFF2-40B4-BE49-F238E27FC236}">
                <a16:creationId xmlns:a16="http://schemas.microsoft.com/office/drawing/2014/main" id="{8D15A1E1-0CFB-395C-817C-8457D9618AB9}"/>
              </a:ext>
            </a:extLst>
          </p:cNvPr>
          <p:cNvSpPr>
            <a:spLocks xmlns:a="http://schemas.openxmlformats.org/drawingml/2006/main" noGrp="1"/>
          </p:cNvSpPr>
          <p:nvPr>
            <p:ph idx="1"/>
          </p:nvPr>
        </p:nvSpPr>
        <p:spPr>
          <a:xfrm xmlns:a="http://schemas.openxmlformats.org/drawingml/2006/main">
            <a:off x="457200" y="964164"/>
            <a:ext cx="8151446" cy="2476500"/>
          </a:xfrm>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1"/>
              </a:spcAft>
              <a:buNone/>
            </a:pPr>
            <a:r>
              <a:rPr sz="1650" b="1" i="0">
                <a:solidFill>
                  <a:srgbClr val="654A9B"/>
                </a:solidFill>
                <a:latin typeface="Arial"/>
                <a:ea typeface="Arial"/>
                <a:cs typeface="Arial"/>
              </a:rPr>
              <a:t>An LLM-only checker cannot provide a guarantee</a:t>
            </a:r>
          </a:p>
          <a:p xmlns:a="http://schemas.openxmlformats.org/drawingml/2006/main">
            <a:pPr marL="0" indent="0">
              <a:lnSpc>
                <a:spcPct val="103000"/>
              </a:lnSpc>
              <a:spcBef>
                <a:spcPts val="0"/>
              </a:spcBef>
              <a:spcAft>
                <a:spcPts val="0"/>
              </a:spcAft>
              <a:buNone/>
            </a:pPr>
            <a:r>
              <a:rPr sz="1400" b="0" i="0">
                <a:solidFill>
                  <a:srgbClr val="20252C"/>
                </a:solidFill>
                <a:latin typeface="Arial"/>
                <a:ea typeface="Arial"/>
                <a:cs typeface="Arial"/>
              </a:rPr>
              <a:t>Stochastic behavior and hallucination remain unavoidable.</a:t>
            </a:r>
          </a:p>
          <a:p xmlns:a="http://schemas.openxmlformats.org/drawingml/2006/main">
            <a:pPr marL="0" indent="0">
              <a:lnSpc>
                <a:spcPct val="103000"/>
              </a:lnSpc>
              <a:spcBef>
                <a:spcPts val="0"/>
              </a:spcBef>
              <a:spcAft>
                <a:spcPts val="1"/>
              </a:spcAft>
              <a:buNone/>
            </a:pPr>
            <a:r>
              <a:rPr sz="1400" b="0" i="0">
                <a:solidFill>
                  <a:srgbClr val="20252C"/>
                </a:solidFill>
                <a:latin typeface="Arial"/>
                <a:ea typeface="Arial"/>
                <a:cs typeface="Arial"/>
              </a:rPr>
              <a:t>Code comprehension and logical reasoning remain unreliable.</a:t>
            </a:r>
          </a:p>
          <a:p xmlns:a="http://schemas.openxmlformats.org/drawingml/2006/main">
            <a:pPr marL="0" indent="0">
              <a:lnSpc>
                <a:spcPct val="103000"/>
              </a:lnSpc>
              <a:spcBef>
                <a:spcPts val="5"/>
              </a:spcBef>
              <a:spcAft>
                <a:spcPts val="1"/>
              </a:spcAft>
              <a:buNone/>
            </a:pPr>
            <a:r>
              <a:rPr sz="1650" b="1" i="0">
                <a:solidFill>
                  <a:srgbClr val="654A9B"/>
                </a:solidFill>
                <a:latin typeface="Arial"/>
                <a:ea typeface="Arial"/>
                <a:cs typeface="Arial"/>
              </a:rPr>
              <a:t>Use language models to interpret—and symbols to verify</a:t>
            </a:r>
          </a:p>
          <a:p xmlns:a="http://schemas.openxmlformats.org/drawingml/2006/main">
            <a:pPr marL="0" indent="0">
              <a:lnSpc>
                <a:spcPct val="103000"/>
              </a:lnSpc>
              <a:spcBef>
                <a:spcPts val="0"/>
              </a:spcBef>
              <a:spcAft>
                <a:spcPts val="0"/>
              </a:spcAft>
              <a:buNone/>
            </a:pPr>
            <a:r>
              <a:rPr sz="1400" b="0" i="0">
                <a:solidFill>
                  <a:srgbClr val="20252C"/>
                </a:solidFill>
                <a:latin typeface="Arial"/>
                <a:ea typeface="Arial"/>
                <a:cs typeface="Arial"/>
              </a:rPr>
              <a:t>Combine natural-language understanding with symbolic reasoning.</a:t>
            </a:r>
          </a:p>
        </p:txBody>
      </p:sp>
      <p:sp>
        <p:nvSpPr>
          <p:cNvPr id="4" name="Footer Placeholder 3">
            <a:extLst xmlns:a="http://schemas.openxmlformats.org/drawingml/2006/main">
              <a:ext uri="{FF2B5EF4-FFF2-40B4-BE49-F238E27FC236}">
                <a16:creationId xmlns:a16="http://schemas.microsoft.com/office/drawing/2014/main" id="{AB1C92A0-FD5D-52C0-06EF-39EF24E61E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03 / MPCHECKER · VERIFY</a:t>
            </a:r>
          </a:p>
        </p:txBody>
      </p:sp>
    </p:spTree>
    <p:extLst>
      <p:ext uri="{BB962C8B-B14F-4D97-AF65-F5344CB8AC3E}">
        <p14:creationId xmlns:p14="http://schemas.microsoft.com/office/powerpoint/2010/main" val="78456717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341C1A8-5A87-482E-BD6B-7478B65F82BD}"/>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654A9B"/>
                </a:solidFill>
              </a:rPr>
              <a:t>03 / MPCHECKER · METHOD</a:t>
            </a:r>
          </a:p>
          <a:p xmlns:a="http://schemas.openxmlformats.org/drawingml/2006/main">
            <a:pPr>
              <a:lnSpc>
                <a:spcPct val="98000"/>
              </a:lnSpc>
              <a:buNone/>
            </a:pPr>
            <a:r>
              <a:rPr sz="2350" b="1">
                <a:solidFill>
                  <a:srgbClr val="20252C"/>
                </a:solidFill>
              </a:rPr>
              <a:t>MPChecker makes text and code comparable</a:t>
            </a:r>
          </a:p>
        </p:txBody>
      </p:sp>
      <p:sp>
        <p:nvSpPr>
          <p:cNvPr id="3" name="Content Placeholder 2">
            <a:extLst xmlns:a="http://schemas.openxmlformats.org/drawingml/2006/main">
              <a:ext uri="{FF2B5EF4-FFF2-40B4-BE49-F238E27FC236}">
                <a16:creationId xmlns:a16="http://schemas.microsoft.com/office/drawing/2014/main" id="{93188B2E-172E-4F35-AE61-2055E08986B4}"/>
              </a:ext>
            </a:extLst>
          </p:cNvPr>
          <p:cNvSpPr>
            <a:spLocks xmlns:a="http://schemas.openxmlformats.org/drawingml/2006/main" noGrp="1"/>
          </p:cNvSpPr>
          <p:nvPr>
            <p:ph idx="1"/>
          </p:nvPr>
        </p:nvSpPr>
        <p:spPr>
          <a:xfrm xmlns:a="http://schemas.openxmlformats.org/drawingml/2006/main">
            <a:off x="428625" y="1428750"/>
            <a:ext cx="2183946" cy="2524125"/>
          </a:xfrm>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1"/>
              </a:spcAft>
              <a:buNone/>
            </a:pPr>
            <a:r>
              <a:rPr sz="1450" b="1" i="0">
                <a:solidFill>
                  <a:srgbClr val="654A9B"/>
                </a:solidFill>
                <a:latin typeface="Arial"/>
                <a:ea typeface="Arial"/>
                <a:cs typeface="Arial"/>
              </a:rPr>
              <a:t>1. Extract the stated constraint</a:t>
            </a:r>
          </a:p>
          <a:p xmlns:a="http://schemas.openxmlformats.org/drawingml/2006/main">
            <a:pPr marL="0" indent="0">
              <a:lnSpc>
                <a:spcPct val="103000"/>
              </a:lnSpc>
              <a:spcBef>
                <a:spcPts val="0"/>
              </a:spcBef>
              <a:spcAft>
                <a:spcPts val="0"/>
              </a:spcAft>
              <a:buNone/>
            </a:pPr>
            <a:r>
              <a:rPr sz="1300" b="0" i="0">
                <a:solidFill>
                  <a:srgbClr val="20252C"/>
                </a:solidFill>
                <a:latin typeface="Arial"/>
                <a:ea typeface="Arial"/>
                <a:cs typeface="Arial"/>
              </a:rPr>
              <a:t>The LLM reads the documentation.</a:t>
            </a:r>
          </a:p>
          <a:p xmlns:a="http://schemas.openxmlformats.org/drawingml/2006/main">
            <a:pPr marL="0" indent="0">
              <a:lnSpc>
                <a:spcPct val="103000"/>
              </a:lnSpc>
              <a:spcBef>
                <a:spcPts val="5"/>
              </a:spcBef>
              <a:spcAft>
                <a:spcPts val="1"/>
              </a:spcAft>
              <a:buNone/>
            </a:pPr>
            <a:r>
              <a:rPr sz="1450" b="1" i="0">
                <a:solidFill>
                  <a:srgbClr val="654A9B"/>
                </a:solidFill>
                <a:latin typeface="Arial"/>
                <a:ea typeface="Arial"/>
                <a:cs typeface="Arial"/>
              </a:rPr>
              <a:t>2. Derive the implemented paths</a:t>
            </a:r>
          </a:p>
          <a:p xmlns:a="http://schemas.openxmlformats.org/drawingml/2006/main">
            <a:pPr marL="0" indent="0">
              <a:lnSpc>
                <a:spcPct val="103000"/>
              </a:lnSpc>
              <a:spcBef>
                <a:spcPts val="0"/>
              </a:spcBef>
              <a:spcAft>
                <a:spcPts val="0"/>
              </a:spcAft>
              <a:buNone/>
            </a:pPr>
            <a:r>
              <a:rPr sz="1300" b="0" i="0">
                <a:solidFill>
                  <a:srgbClr val="20252C"/>
                </a:solidFill>
                <a:latin typeface="Arial"/>
                <a:ea typeface="Arial"/>
                <a:cs typeface="Arial"/>
              </a:rPr>
              <a:t>Symbolic execution exposes code constraints.</a:t>
            </a:r>
          </a:p>
          <a:p xmlns:a="http://schemas.openxmlformats.org/drawingml/2006/main">
            <a:pPr marL="0" indent="0">
              <a:lnSpc>
                <a:spcPct val="103000"/>
              </a:lnSpc>
              <a:spcBef>
                <a:spcPts val="5"/>
              </a:spcBef>
              <a:spcAft>
                <a:spcPts val="1"/>
              </a:spcAft>
              <a:buNone/>
            </a:pPr>
            <a:r>
              <a:rPr sz="1450" b="1" i="0">
                <a:solidFill>
                  <a:srgbClr val="654A9B"/>
                </a:solidFill>
                <a:latin typeface="Arial"/>
                <a:ea typeface="Arial"/>
                <a:cs typeface="Arial"/>
              </a:rPr>
              <a:t>3. Compare the two contracts</a:t>
            </a:r>
          </a:p>
          <a:p xmlns:a="http://schemas.openxmlformats.org/drawingml/2006/main">
            <a:pPr marL="0" indent="0">
              <a:lnSpc>
                <a:spcPct val="103000"/>
              </a:lnSpc>
              <a:spcBef>
                <a:spcPts val="0"/>
              </a:spcBef>
              <a:spcAft>
                <a:spcPts val="0"/>
              </a:spcAft>
              <a:buNone/>
            </a:pPr>
            <a:r>
              <a:rPr sz="1300" b="0" i="0">
                <a:solidFill>
                  <a:srgbClr val="20252C"/>
                </a:solidFill>
                <a:latin typeface="Arial"/>
                <a:ea typeface="Arial"/>
                <a:cs typeface="Arial"/>
              </a:rPr>
              <a:t>Fuzzy logic and SMT reveal disagreements.</a:t>
            </a:r>
          </a:p>
        </p:txBody>
      </p:sp>
      <p:sp>
        <p:nvSpPr>
          <p:cNvPr id="4" name="Footer Placeholder 3">
            <a:extLst xmlns:a="http://schemas.openxmlformats.org/drawingml/2006/main">
              <a:ext uri="{FF2B5EF4-FFF2-40B4-BE49-F238E27FC236}">
                <a16:creationId xmlns:a16="http://schemas.microsoft.com/office/drawing/2014/main" id="{809FEF1E-06B8-4B90-8292-2374FD45CC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03 / MPCHECKER · VERIFY</a:t>
            </a:r>
          </a:p>
        </p:txBody>
      </p:sp>
      <p:pic>
        <p:nvPicPr>
          <p:cNvPr id="10" name="Picture 4"/>
          <p:cNvPicPr>
            <a:picLocks xmlns:a="http://schemas.openxmlformats.org/drawingml/2006/main" noChangeAspect="1"/>
          </p:cNvPicPr>
          <p:nvPr/>
        </p:nvPicPr>
        <p:blipFill>
          <a:blip xmlns:r="http://schemas.openxmlformats.org/officeDocument/2006/relationships" xmlns:a="http://schemas.openxmlformats.org/drawingml/2006/main" r:embed="R26ba56b62c1b44d4"/>
          <a:stretch xmlns:a="http://schemas.openxmlformats.org/drawingml/2006/main"/>
        </p:blipFill>
        <p:spPr>
          <a:xfrm xmlns:a="http://schemas.openxmlformats.org/drawingml/2006/main">
            <a:off x="3714750" y="914400"/>
            <a:ext cx="3762375" cy="3762375"/>
          </a:xfrm>
          <a:prstGeom xmlns:a="http://schemas.openxmlformats.org/drawingml/2006/main" prst="rect">
            <a:avLst/>
          </a:prstGeom>
        </p:spPr>
      </p:pic>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2dd022ab308c4a55"/>
          <a:stretch xmlns:a="http://schemas.openxmlformats.org/drawingml/2006/main"/>
        </p:blipFill>
        <p:spPr>
          <a:xfrm xmlns:a="http://schemas.openxmlformats.org/drawingml/2006/main">
            <a:off x="2799076" y="914400"/>
            <a:ext cx="5593723" cy="3762375"/>
          </a:xfrm>
          <a:prstGeom xmlns:a="http://schemas.openxmlformats.org/drawingml/2006/main" prst="rect">
            <a:avLst/>
          </a:prstGeom>
        </p:spPr>
      </p:pic>
    </p:spTree>
    <p:extLst>
      <p:ext uri="{BB962C8B-B14F-4D97-AF65-F5344CB8AC3E}">
        <p14:creationId xmlns:p14="http://schemas.microsoft.com/office/powerpoint/2010/main" val="315781521"/>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AEDFFFC-6727-829E-FF5C-A8ED69B628F4}"/>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a:t>
            </a:r>
            <a:r>
              <a:rPr sz="950" b="1">
                <a:solidFill>
                  <a:srgbClr val="654A9B"/>
                </a:solidFill>
              </a:rPr>
              <a:t>METHOD</a:t>
            </a:r>
          </a:p>
          <a:p xmlns:a="http://schemas.openxmlformats.org/drawingml/2006/main">
            <a:pPr>
              <a:lnSpc>
                <a:spcPct val="98000"/>
              </a:lnSpc>
              <a:buNone/>
            </a:pPr>
            <a:r>
              <a:rPr sz="2250" b="1">
                <a:solidFill>
                  <a:srgbClr val="20252C"/>
                </a:solidFill>
              </a:rPr>
              <a:t>Phase I: Preprocessing</a:t>
            </a:r>
          </a:p>
        </p:txBody>
      </p:sp>
      <p:sp>
        <p:nvSpPr>
          <p:cNvPr id="4" name="Footer Placeholder 3">
            <a:extLst xmlns:a="http://schemas.openxmlformats.org/drawingml/2006/main">
              <a:ext uri="{FF2B5EF4-FFF2-40B4-BE49-F238E27FC236}">
                <a16:creationId xmlns:a16="http://schemas.microsoft.com/office/drawing/2014/main" id="{39A0F82B-4C56-AFBF-D8BC-BCE2E0100E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03 / MPCHECKER · VERIFY</a:t>
            </a:r>
          </a:p>
        </p:txBody>
      </p:sp>
      <p:pic>
        <p:nvPicPr>
          <p:cNvPr id="11" name="Picture 4"/>
          <p:cNvPicPr>
            <a:picLocks xmlns:a="http://schemas.openxmlformats.org/drawingml/2006/main" noChangeAspect="1"/>
          </p:cNvPicPr>
          <p:nvPr/>
        </p:nvPicPr>
        <p:blipFill>
          <a:blip xmlns:r="http://schemas.openxmlformats.org/officeDocument/2006/relationships" xmlns:a="http://schemas.openxmlformats.org/drawingml/2006/main" r:embed="R5e4563380d0b48e7"/>
          <a:stretch xmlns:a="http://schemas.openxmlformats.org/drawingml/2006/main">
            <a:fillRect l="0" t="0" r="0" b="0"/>
          </a:stretch>
        </p:blipFill>
        <p:spPr>
          <a:xfrm xmlns:a="http://schemas.openxmlformats.org/drawingml/2006/main">
            <a:off x="6332872" y="531845"/>
            <a:ext cx="2811128" cy="3956178"/>
          </a:xfrm>
          <a:prstGeom xmlns:a="http://schemas.openxmlformats.org/drawingml/2006/main" prst="rect">
            <a:avLst/>
          </a:prstGeom>
        </p:spPr>
      </p:pic>
      <p:sp>
        <p:nvSpPr>
          <p:cNvPr id="7" name="Content Placeholder 6">
            <a:extLst xmlns:a="http://schemas.openxmlformats.org/drawingml/2006/main">
              <a:ext uri="{FF2B5EF4-FFF2-40B4-BE49-F238E27FC236}">
                <a16:creationId xmlns:a16="http://schemas.microsoft.com/office/drawing/2014/main" id="{14FBC592-4532-AA70-2A92-71BA3CF6A17F}"/>
              </a:ext>
            </a:extLst>
          </p:cNvPr>
          <p:cNvSpPr>
            <a:spLocks xmlns:a="http://schemas.openxmlformats.org/drawingml/2006/main" noGrp="1"/>
          </p:cNvSpPr>
          <p:nvPr>
            <p:ph idx="1"/>
          </p:nvPr>
        </p:nvSpPr>
        <p:spPr>
          <a:xfrm xmlns:a="http://schemas.openxmlformats.org/drawingml/2006/main">
            <a:off x="457200" y="1118204"/>
            <a:ext cx="6074229" cy="2907092"/>
          </a:xfrm>
        </p:spPr>
        <p:txBody>
          <a:bodyPr xmlns:a="http://schemas.openxmlformats.org/drawingml/2006/main">
            <a:normAutofit fontScale="92500" lnSpcReduction="10000"/>
          </a:bodyPr>
          <a:lstStyle xmlns:a="http://schemas.openxmlformats.org/drawingml/2006/main"/>
          <a:p xmlns:a="http://schemas.openxmlformats.org/drawingml/2006/main">
            <a:pPr>
              <a:lnSpc>
                <a:spcPct val="100000"/>
              </a:lnSpc>
              <a:buNone/>
            </a:pPr>
            <a:r>
              <a:rPr sz="2000">
                <a:latin typeface="Arial"/>
                <a:ea typeface="Arial"/>
                <a:cs typeface="Arial"/>
              </a:rPr>
              <a:t>Split code into analyzable function units</a:t>
            </a:r>
          </a:p>
          <a:p xmlns:a="http://schemas.openxmlformats.org/drawingml/2006/main">
            <a:pPr>
              <a:lnSpc>
                <a:spcPct val="100000"/>
              </a:lnSpc>
              <a:buNone/>
            </a:pPr>
            <a:r>
              <a:rPr sz="2000">
                <a:latin typeface="Arial"/>
                <a:ea typeface="Arial"/>
                <a:cs typeface="Arial"/>
              </a:rPr>
              <a:t>Extract documentation texts</a:t>
            </a:r>
          </a:p>
          <a:p xmlns:a="http://schemas.openxmlformats.org/drawingml/2006/main">
            <a:pPr lvl="1">
              <a:lnSpc>
                <a:spcPct val="100000"/>
              </a:lnSpc>
              <a:buNone/>
            </a:pPr>
            <a:r>
              <a:rPr sz="1800">
                <a:latin typeface="Arial"/>
                <a:ea typeface="Arial"/>
                <a:cs typeface="Arial"/>
              </a:rPr>
              <a:t>Following Google or </a:t>
            </a:r>
            <a:r>
              <a:rPr sz="1800">
                <a:latin typeface="Arial"/>
                <a:ea typeface="Arial"/>
                <a:cs typeface="Arial"/>
              </a:rPr>
              <a:t>Numpy</a:t>
            </a:r>
            <a:r>
              <a:rPr sz="1800">
                <a:latin typeface="Arial"/>
                <a:ea typeface="Arial"/>
                <a:cs typeface="Arial"/>
              </a:rPr>
              <a:t> style</a:t>
            </a:r>
          </a:p>
          <a:p xmlns:a="http://schemas.openxmlformats.org/drawingml/2006/main">
            <a:pPr>
              <a:lnSpc>
                <a:spcPct val="100000"/>
              </a:lnSpc>
              <a:buNone/>
            </a:pPr>
            <a:r>
              <a:rPr sz="2000">
                <a:latin typeface="Arial"/>
                <a:ea typeface="Arial"/>
                <a:cs typeface="Arial"/>
              </a:rPr>
              <a:t>Equivalent Python code transformations to</a:t>
            </a:r>
            <a:r>
              <a:rPr sz="2000">
                <a:latin typeface="Arial"/>
                <a:ea typeface="Arial"/>
                <a:cs typeface="Arial"/>
              </a:rPr>
              <a:t> </a:t>
            </a:r>
            <a:r>
              <a:rPr sz="2000">
                <a:latin typeface="Arial"/>
                <a:ea typeface="Arial"/>
                <a:cs typeface="Arial"/>
              </a:rPr>
              <a:t>support</a:t>
            </a:r>
            <a:r>
              <a:rPr sz="2000">
                <a:latin typeface="Arial"/>
                <a:ea typeface="Arial"/>
                <a:cs typeface="Arial"/>
              </a:rPr>
              <a:t> </a:t>
            </a:r>
            <a:r>
              <a:rPr sz="2000">
                <a:latin typeface="Arial"/>
                <a:ea typeface="Arial"/>
                <a:cs typeface="Arial"/>
              </a:rPr>
              <a:t>dynamic symbolic execution</a:t>
            </a:r>
          </a:p>
          <a:p xmlns:a="http://schemas.openxmlformats.org/drawingml/2006/main">
            <a:pPr lvl="1">
              <a:lnSpc>
                <a:spcPct val="100000"/>
              </a:lnSpc>
              <a:buNone/>
            </a:pPr>
            <a:r>
              <a:rPr sz="1800">
                <a:latin typeface="Arial"/>
                <a:ea typeface="Arial"/>
                <a:cs typeface="Arial"/>
              </a:rPr>
              <a:t>Get rid of unnecessary complications that do not affect path constraints</a:t>
            </a:r>
          </a:p>
          <a:p xmlns:a="http://schemas.openxmlformats.org/drawingml/2006/main">
            <a:pPr lvl="2">
              <a:lnSpc>
                <a:spcPct val="100000"/>
              </a:lnSpc>
              <a:buNone/>
            </a:pPr>
            <a:r>
              <a:rPr sz="1400">
                <a:latin typeface="Arial"/>
                <a:ea typeface="Arial"/>
                <a:cs typeface="Arial"/>
              </a:rPr>
              <a:t>E.g., external calls, complex data structures</a:t>
            </a:r>
          </a:p>
          <a:p xmlns:a="http://schemas.openxmlformats.org/drawingml/2006/main">
            <a:pPr lvl="2">
              <a:lnSpc>
                <a:spcPct val="100000"/>
              </a:lnSpc>
              <a:buNone/>
            </a:pPr>
            <a:r>
              <a:rPr sz="1400">
                <a:latin typeface="Arial"/>
                <a:ea typeface="Arial"/>
                <a:cs typeface="Arial"/>
              </a:rPr>
              <a:t>Translate exceptions to special symbols</a:t>
            </a:r>
          </a:p>
          <a:p xmlns:a="http://schemas.openxmlformats.org/drawingml/2006/main">
            <a:pPr lvl="1">
              <a:lnSpc>
                <a:spcPct val="100000"/>
              </a:lnSpc>
              <a:buNone/>
            </a:pPr>
            <a:r>
              <a:rPr sz="1800">
                <a:latin typeface="Arial"/>
                <a:ea typeface="Arial"/>
                <a:cs typeface="Arial"/>
              </a:rPr>
              <a:t>Focus on visible API parameters</a:t>
            </a:r>
          </a:p>
          <a:p xmlns:a="http://schemas.openxmlformats.org/drawingml/2006/main"/>
        </p:txBody>
      </p:sp>
    </p:spTree>
    <p:extLst>
      <p:ext uri="{BB962C8B-B14F-4D97-AF65-F5344CB8AC3E}">
        <p14:creationId xmlns:p14="http://schemas.microsoft.com/office/powerpoint/2010/main" val="141033658"/>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118EEF2-6AA6-309F-2F1C-9C54AE995604}"/>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a:t>
            </a:r>
            <a:r>
              <a:rPr sz="950" b="1">
                <a:solidFill>
                  <a:srgbClr val="654A9B"/>
                </a:solidFill>
              </a:rPr>
              <a:t>METHOD</a:t>
            </a:r>
          </a:p>
          <a:p xmlns:a="http://schemas.openxmlformats.org/drawingml/2006/main">
            <a:pPr>
              <a:lnSpc>
                <a:spcPct val="98000"/>
              </a:lnSpc>
              <a:buNone/>
            </a:pPr>
            <a:r>
              <a:rPr sz="2250" b="1">
                <a:solidFill>
                  <a:srgbClr val="20252C"/>
                </a:solidFill>
              </a:rPr>
              <a:t>Phase II-A: Code-constraint extraction</a:t>
            </a:r>
          </a:p>
        </p:txBody>
      </p:sp>
      <p:sp>
        <p:nvSpPr>
          <p:cNvPr id="4" name="Footer Placeholder 3">
            <a:extLst xmlns:a="http://schemas.openxmlformats.org/drawingml/2006/main">
              <a:ext uri="{FF2B5EF4-FFF2-40B4-BE49-F238E27FC236}">
                <a16:creationId xmlns:a16="http://schemas.microsoft.com/office/drawing/2014/main" id="{E4F9DC4A-C9F0-00AC-4544-3DD3688F3B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03 / MPCHECKER · VERIFY</a:t>
            </a:r>
          </a:p>
        </p:txBody>
      </p:sp>
      <p:pic>
        <p:nvPicPr>
          <p:cNvPr id="18" name="Picture 7"/>
          <p:cNvPicPr>
            <a:picLocks xmlns:a="http://schemas.openxmlformats.org/drawingml/2006/main" noChangeAspect="1"/>
          </p:cNvPicPr>
          <p:nvPr/>
        </p:nvPicPr>
        <p:blipFill>
          <a:blip xmlns:r="http://schemas.openxmlformats.org/officeDocument/2006/relationships" xmlns:a="http://schemas.openxmlformats.org/drawingml/2006/main" r:embed="R38615167100140fa"/>
          <a:srcRect xmlns:a="http://schemas.openxmlformats.org/drawingml/2006/main" l="0" t="0" r="3370" b="0"/>
          <a:stretch xmlns:a="http://schemas.openxmlformats.org/drawingml/2006/main">
            <a:fillRect l="0" t="0" r="0" b="0"/>
          </a:stretch>
        </p:blipFill>
        <p:spPr>
          <a:xfrm xmlns:a="http://schemas.openxmlformats.org/drawingml/2006/main">
            <a:off x="6685614" y="531844"/>
            <a:ext cx="2464106" cy="3956177"/>
          </a:xfrm>
          <a:prstGeom xmlns:a="http://schemas.openxmlformats.org/drawingml/2006/main" prst="rect">
            <a:avLst/>
          </a:prstGeom>
        </p:spPr>
      </p:pic>
      <p:pic>
        <p:nvPicPr>
          <p:cNvPr id="19" name="Picture 8"/>
          <p:cNvPicPr>
            <a:picLocks xmlns:a="http://schemas.openxmlformats.org/drawingml/2006/main" noChangeAspect="1"/>
          </p:cNvPicPr>
          <p:nvPr/>
        </p:nvPicPr>
        <p:blipFill>
          <a:blip xmlns:r="http://schemas.openxmlformats.org/officeDocument/2006/relationships" xmlns:a="http://schemas.openxmlformats.org/drawingml/2006/main" r:embed="R70c2528e3cfd49d4"/>
          <a:stretch xmlns:a="http://schemas.openxmlformats.org/drawingml/2006/main">
            <a:fillRect l="0" t="0" r="0" b="0"/>
          </a:stretch>
        </p:blipFill>
        <p:spPr>
          <a:xfrm xmlns:a="http://schemas.openxmlformats.org/drawingml/2006/main">
            <a:off x="821092" y="1066800"/>
            <a:ext cx="5318451" cy="3014877"/>
          </a:xfrm>
          <a:prstGeom xmlns:a="http://schemas.openxmlformats.org/drawingml/2006/main" prst="rect">
            <a:avLst/>
          </a:prstGeom>
        </p:spPr>
      </p:pic>
      <p:sp>
        <p:nvSpPr>
          <p:cNvPr id="12" name="TextBox 11">
            <a:extLst xmlns:a="http://schemas.openxmlformats.org/drawingml/2006/main">
              <a:ext uri="{FF2B5EF4-FFF2-40B4-BE49-F238E27FC236}">
                <a16:creationId xmlns:a16="http://schemas.microsoft.com/office/drawing/2014/main" id="{E936175E-C977-3E6E-8CD2-572EB8C0DE46}"/>
              </a:ext>
            </a:extLst>
          </p:cNvPr>
          <p:cNvSpPr>
            <a:spLocks xmlns:a="http://schemas.openxmlformats.org/drawingml/2006/main" noGrp="1"/>
          </p:cNvSpPr>
          <p:nvPr/>
        </p:nvSpPr>
        <p:spPr>
          <a:xfrm xmlns:a="http://schemas.openxmlformats.org/drawingml/2006/main">
            <a:off x="821092" y="4193133"/>
            <a:ext cx="7701642" cy="510667"/>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nSpc>
                <a:spcPct val="100000"/>
              </a:lnSpc>
              <a:spcBef>
                <a:spcPts val="0"/>
              </a:spcBef>
              <a:spcAft>
                <a:spcPts val="1"/>
              </a:spcAft>
              <a:buNone/>
            </a:pPr>
            <a:r>
              <a:rPr sz="1450" b="1" i="0">
                <a:solidFill>
                  <a:srgbClr val="654A9B"/>
                </a:solidFill>
                <a:latin typeface="Arial"/>
                <a:ea typeface="Arial"/>
                <a:cs typeface="Arial"/>
              </a:rPr>
              <a:t>Symbolic execution exposes the failure condition</a:t>
            </a:r>
          </a:p>
          <a:p xmlns:a="http://schemas.openxmlformats.org/drawingml/2006/main">
            <a:pPr marL="0" indent="0">
              <a:lnSpc>
                <a:spcPct val="100000"/>
              </a:lnSpc>
              <a:spcBef>
                <a:spcPts val="0"/>
              </a:spcBef>
              <a:spcAft>
                <a:spcPts val="0"/>
              </a:spcAft>
              <a:buNone/>
            </a:pPr>
            <a:r>
              <a:rPr sz="1300" b="0" i="0">
                <a:solidFill>
                  <a:srgbClr val="0070C0"/>
                </a:solidFill>
                <a:latin typeface="Arial"/>
                <a:ea typeface="Arial"/>
                <a:cs typeface="Arial"/>
              </a:rPr>
              <a:t>(sample_weight ≠ None) ∧ (strategy = uniform) → ERROR</a:t>
            </a:r>
          </a:p>
        </p:txBody>
      </p:sp>
      <p:sp>
        <p:nvSpPr>
          <p:cNvPr id="13" name="Rectangle 12">
            <a:extLst xmlns:a="http://schemas.openxmlformats.org/drawingml/2006/main">
              <a:ext uri="{FF2B5EF4-FFF2-40B4-BE49-F238E27FC236}">
                <a16:creationId xmlns:a16="http://schemas.microsoft.com/office/drawing/2014/main" id="{419AA1A3-D0A4-3EA5-174E-3179B71E4F9C}"/>
              </a:ext>
            </a:extLst>
          </p:cNvPr>
          <p:cNvSpPr>
            <a:spLocks xmlns:a="http://schemas.openxmlformats.org/drawingml/2006/main" noGrp="1"/>
          </p:cNvSpPr>
          <p:nvPr/>
        </p:nvSpPr>
        <p:spPr>
          <a:xfrm xmlns:a="http://schemas.openxmlformats.org/drawingml/2006/main">
            <a:off x="6988628" y="687744"/>
            <a:ext cx="1548881" cy="1710223"/>
          </a:xfrm>
          <a:prstGeom xmlns:a="http://schemas.openxmlformats.org/drawingml/2006/main" prst="rect">
            <a:avLst/>
          </a:prstGeom>
          <a:noFill xmlns:a="http://schemas.openxmlformats.org/drawingml/2006/main"/>
          <a:ln xmlns:a="http://schemas.openxmlformats.org/drawingml/2006/main" w="25400">
            <a:solidFill>
              <a:srgbClr val="FF0000"/>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2145197976"/>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01EF25A-4AE3-9D40-45DA-61625F93EE0B}"/>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wrap="square" anchor="t">
            <a:noAutofit/>
          </a:bodyPr>
          <a:lstStyle xmlns:a="http://schemas.openxmlformats.org/drawingml/2006/main"/>
          <a:p xmlns:a="http://schemas.openxmlformats.org/drawingml/2006/main">
            <a:pPr marL="0" indent="0">
              <a:lnSpc>
                <a:spcPct val="100000"/>
              </a:lnSpc>
              <a:spcBef>
                <a:spcPts val="0"/>
              </a:spcBef>
              <a:spcAft>
                <a:spcPts val="0"/>
              </a:spcAft>
              <a:buNone/>
            </a:pPr>
            <a:r>
              <a:rPr sz="950" b="1" i="0">
                <a:solidFill>
                  <a:srgbClr val="654A9B"/>
                </a:solidFill>
                <a:latin typeface="Arial"/>
                <a:ea typeface="Arial"/>
                <a:cs typeface="Arial"/>
              </a:rPr>
              <a:t>03 / MPCHECKER · METHOD</a:t>
            </a:r>
          </a:p>
          <a:p xmlns:a="http://schemas.openxmlformats.org/drawingml/2006/main">
            <a:pPr marL="0" indent="0">
              <a:lnSpc>
                <a:spcPct val="100000"/>
              </a:lnSpc>
              <a:spcBef>
                <a:spcPts val="0"/>
              </a:spcBef>
              <a:spcAft>
                <a:spcPts val="0"/>
              </a:spcAft>
              <a:buNone/>
            </a:pPr>
            <a:r>
              <a:rPr sz="2200" b="1" i="0">
                <a:solidFill>
                  <a:srgbClr val="20252C"/>
                </a:solidFill>
                <a:latin typeface="Arial"/>
                <a:ea typeface="Arial"/>
                <a:cs typeface="Arial"/>
              </a:rPr>
              <a:t>Phase II-B: Documentation constraints</a:t>
            </a:r>
          </a:p>
        </p:txBody>
      </p:sp>
      <p:sp>
        <p:nvSpPr>
          <p:cNvPr id="4" name="Footer Placeholder 3">
            <a:extLst xmlns:a="http://schemas.openxmlformats.org/drawingml/2006/main">
              <a:ext uri="{FF2B5EF4-FFF2-40B4-BE49-F238E27FC236}">
                <a16:creationId xmlns:a16="http://schemas.microsoft.com/office/drawing/2014/main" id="{480431B7-7C1E-A0A4-5FFD-356F0353CF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03 / MPCHECKER · VERIFY</a:t>
            </a:r>
          </a:p>
        </p:txBody>
      </p:sp>
      <p:pic>
        <p:nvPicPr>
          <p:cNvPr id="18" name="Picture 7"/>
          <p:cNvPicPr>
            <a:picLocks xmlns:a="http://schemas.openxmlformats.org/drawingml/2006/main" noChangeAspect="1"/>
          </p:cNvPicPr>
          <p:nvPr/>
        </p:nvPicPr>
        <p:blipFill>
          <a:blip xmlns:r="http://schemas.openxmlformats.org/officeDocument/2006/relationships" xmlns:a="http://schemas.openxmlformats.org/drawingml/2006/main" r:embed="R556fc1393d954182"/>
          <a:srcRect xmlns:a="http://schemas.openxmlformats.org/drawingml/2006/main" l="0" t="0" r="3370" b="0"/>
          <a:stretch xmlns:a="http://schemas.openxmlformats.org/drawingml/2006/main">
            <a:fillRect l="0" t="0" r="0" b="0"/>
          </a:stretch>
        </p:blipFill>
        <p:spPr>
          <a:xfrm xmlns:a="http://schemas.openxmlformats.org/drawingml/2006/main">
            <a:off x="6685614" y="531844"/>
            <a:ext cx="2464106" cy="3956177"/>
          </a:xfrm>
          <a:prstGeom xmlns:a="http://schemas.openxmlformats.org/drawingml/2006/main" prst="rect">
            <a:avLst/>
          </a:prstGeom>
        </p:spPr>
      </p:pic>
      <p:sp>
        <p:nvSpPr>
          <p:cNvPr id="12" name="TextBox 11">
            <a:extLst xmlns:a="http://schemas.openxmlformats.org/drawingml/2006/main">
              <a:ext uri="{FF2B5EF4-FFF2-40B4-BE49-F238E27FC236}">
                <a16:creationId xmlns:a16="http://schemas.microsoft.com/office/drawing/2014/main" id="{C898A92A-1937-92BB-2EE9-BDEEAF922C54}"/>
              </a:ext>
            </a:extLst>
          </p:cNvPr>
          <p:cNvSpPr>
            <a:spLocks xmlns:a="http://schemas.openxmlformats.org/drawingml/2006/main" noGrp="1"/>
          </p:cNvSpPr>
          <p:nvPr/>
        </p:nvSpPr>
        <p:spPr>
          <a:xfrm xmlns:a="http://schemas.openxmlformats.org/drawingml/2006/main">
            <a:off x="606490" y="4139867"/>
            <a:ext cx="7701642" cy="510667"/>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nSpc>
                <a:spcPct val="100000"/>
              </a:lnSpc>
              <a:spcBef>
                <a:spcPts val="0"/>
              </a:spcBef>
              <a:spcAft>
                <a:spcPts val="1"/>
              </a:spcAft>
              <a:buNone/>
            </a:pPr>
            <a:r>
              <a:rPr sz="1450" b="1" i="0">
                <a:solidFill>
                  <a:srgbClr val="654A9B"/>
                </a:solidFill>
                <a:latin typeface="Arial"/>
                <a:ea typeface="Arial"/>
                <a:cs typeface="Arial"/>
              </a:rPr>
              <a:t>The LLM turns prose into a logical constraint</a:t>
            </a:r>
          </a:p>
          <a:p xmlns:a="http://schemas.openxmlformats.org/drawingml/2006/main">
            <a:pPr marL="0" indent="0">
              <a:lnSpc>
                <a:spcPct val="100000"/>
              </a:lnSpc>
              <a:spcBef>
                <a:spcPts val="0"/>
              </a:spcBef>
              <a:spcAft>
                <a:spcPts val="0"/>
              </a:spcAft>
              <a:buNone/>
            </a:pPr>
            <a:r>
              <a:rPr sz="1300" b="0" i="0">
                <a:solidFill>
                  <a:srgbClr val="F58220"/>
                </a:solidFill>
                <a:latin typeface="Arial"/>
                <a:ea typeface="Arial"/>
                <a:cs typeface="Arial"/>
              </a:rPr>
              <a:t>(affinity = nearest_neighbors) → ignore(gamma)</a:t>
            </a:r>
          </a:p>
        </p:txBody>
      </p:sp>
      <p:sp>
        <p:nvSpPr>
          <p:cNvPr id="13" name="Rectangle 12">
            <a:extLst xmlns:a="http://schemas.openxmlformats.org/drawingml/2006/main">
              <a:ext uri="{FF2B5EF4-FFF2-40B4-BE49-F238E27FC236}">
                <a16:creationId xmlns:a16="http://schemas.microsoft.com/office/drawing/2014/main" id="{082F8B59-CDEC-E821-05B5-DB59C2B1B8C4}"/>
              </a:ext>
            </a:extLst>
          </p:cNvPr>
          <p:cNvSpPr>
            <a:spLocks xmlns:a="http://schemas.openxmlformats.org/drawingml/2006/main" noGrp="1"/>
          </p:cNvSpPr>
          <p:nvPr/>
        </p:nvSpPr>
        <p:spPr>
          <a:xfrm xmlns:a="http://schemas.openxmlformats.org/drawingml/2006/main">
            <a:off x="6988629" y="2491273"/>
            <a:ext cx="1548881" cy="1838131"/>
          </a:xfrm>
          <a:prstGeom xmlns:a="http://schemas.openxmlformats.org/drawingml/2006/main" prst="rect">
            <a:avLst/>
          </a:prstGeom>
          <a:noFill xmlns:a="http://schemas.openxmlformats.org/drawingml/2006/main"/>
          <a:ln xmlns:a="http://schemas.openxmlformats.org/drawingml/2006/main" w="25400">
            <a:solidFill>
              <a:srgbClr val="FF0000"/>
            </a:solidFill>
          </a:ln>
        </p:spPr>
        <p: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p>
        </p:txBody>
      </p:sp>
      <p:pic>
        <p:nvPicPr>
          <p:cNvPr id="21" name="Picture 2"/>
          <p:cNvPicPr>
            <a:picLocks xmlns:a="http://schemas.openxmlformats.org/drawingml/2006/main" noChangeAspect="1"/>
          </p:cNvPicPr>
          <p:nvPr/>
        </p:nvPicPr>
        <p:blipFill>
          <a:blip xmlns:r="http://schemas.openxmlformats.org/officeDocument/2006/relationships" xmlns:a="http://schemas.openxmlformats.org/drawingml/2006/main" r:embed="R53867b71bd2c401b"/>
          <a:stretch xmlns:a="http://schemas.openxmlformats.org/drawingml/2006/main">
            <a:fillRect l="0" t="0" r="0" b="0"/>
          </a:stretch>
        </p:blipFill>
        <p:spPr>
          <a:xfrm xmlns:a="http://schemas.openxmlformats.org/drawingml/2006/main">
            <a:off x="606490" y="1570512"/>
            <a:ext cx="5347092" cy="2525762"/>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557098C0-71FF-86A2-6830-6A3071582D37}"/>
              </a:ext>
            </a:extLst>
          </p:cNvPr>
          <p:cNvSpPr>
            <a:spLocks xmlns:a="http://schemas.openxmlformats.org/drawingml/2006/main" noGrp="1"/>
          </p:cNvSpPr>
          <p:nvPr/>
        </p:nvSpPr>
        <p:spPr>
          <a:xfrm xmlns:a="http://schemas.openxmlformats.org/drawingml/2006/main">
            <a:off x="606490" y="1042979"/>
            <a:ext cx="7701642" cy="3651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nSpc>
                <a:spcPct val="102000"/>
              </a:lnSpc>
              <a:spcAft>
                <a:spcPts val="2"/>
              </a:spcAft>
              <a:buNone/>
            </a:pPr>
            <a:r>
              <a:rPr>
                <a:latin typeface="Arial"/>
                <a:ea typeface="Arial"/>
                <a:cs typeface="Arial"/>
              </a:rPr>
              <a:t>Parameter list + Few-shots + </a:t>
            </a:r>
            <a:r>
              <a:rPr>
                <a:latin typeface="Arial"/>
                <a:ea typeface="Arial"/>
                <a:cs typeface="Arial"/>
              </a:rPr>
              <a:t>CoT</a:t>
            </a:r>
          </a:p>
        </p:txBody>
      </p:sp>
    </p:spTree>
    <p:extLst>
      <p:ext uri="{BB962C8B-B14F-4D97-AF65-F5344CB8AC3E}">
        <p14:creationId xmlns:p14="http://schemas.microsoft.com/office/powerpoint/2010/main" val="775369458"/>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45" name="Content Placeholder 6"/>
          <p:cNvPicPr>
            <a:picLocks xmlns:a="http://schemas.openxmlformats.org/drawingml/2006/main" noChangeAspect="1"/>
          </p:cNvPicPr>
          <p:nvPr>
            <p:ph idx="1"/>
          </p:nvPr>
        </p:nvPicPr>
        <p:blipFill>
          <a:blip xmlns:r="http://schemas.openxmlformats.org/officeDocument/2006/relationships" xmlns:a="http://schemas.openxmlformats.org/drawingml/2006/main" r:embed="R05e706562c894afb"/>
          <a:stretch xmlns:a="http://schemas.openxmlformats.org/drawingml/2006/main">
            <a:fillRect l="0" t="0" r="0" b="0"/>
          </a:stretch>
        </p:blipFill>
        <p:spPr>
          <a:xfrm xmlns:a="http://schemas.openxmlformats.org/drawingml/2006/main">
            <a:off x="3805362" y="1202657"/>
            <a:ext cx="5180636" cy="3667000"/>
          </a:xfrm>
          <a:prstGeom xmlns:a="http://schemas.openxmlformats.org/drawingml/2006/main" prst="rect">
            <a:avLst/>
          </a:prstGeom>
        </p:spPr>
      </p:pic>
      <p:pic>
        <p:nvPicPr>
          <p:cNvPr id="46" name="Picture 3"/>
          <p:cNvPicPr>
            <a:picLocks xmlns:a="http://schemas.openxmlformats.org/drawingml/2006/main" noChangeAspect="1"/>
          </p:cNvPicPr>
          <p:nvPr/>
        </p:nvPicPr>
        <p:blipFill>
          <a:blip xmlns:r="http://schemas.openxmlformats.org/officeDocument/2006/relationships" xmlns:a="http://schemas.openxmlformats.org/drawingml/2006/main" r:embed="R822ff885e69341cb"/>
          <a:stretch xmlns:a="http://schemas.openxmlformats.org/drawingml/2006/main">
            <a:fillRect l="0" t="0" r="0" b="0"/>
          </a:stretch>
        </p:blipFill>
        <p:spPr>
          <a:xfrm xmlns:a="http://schemas.openxmlformats.org/drawingml/2006/main">
            <a:off x="1" y="2723552"/>
            <a:ext cx="3805361" cy="2146105"/>
          </a:xfrm>
          <a:prstGeom xmlns:a="http://schemas.openxmlformats.org/drawingml/2006/main" prst="rect">
            <a:avLst/>
          </a:prstGeom>
        </p:spPr>
      </p:pic>
      <p:graphicFrame>
        <p:nvGraphicFramePr>
          <p:cNvPr id="47" name="Table 5"/>
          <p:cNvGraphicFramePr/>
          <p:nvPr/>
        </p:nvGraphicFramePr>
        <p:xfrm>
          <a:off xmlns:a="http://schemas.openxmlformats.org/drawingml/2006/main" x="325501" y="1176125"/>
          <a:ext xmlns:a="http://schemas.openxmlformats.org/drawingml/2006/main" cx="3294530" cy="1042388"/>
        </p:xfrm>
        <a:graphic xmlns:a="http://schemas.openxmlformats.org/drawingml/2006/main">
          <a:graphicData uri="http://schemas.openxmlformats.org/drawingml/2006/table">
            <a:tbl>
              <a:tblPr firstRow="1" bandRow="1">
                <a:tableStyleId>{2D5ABB26-0587-4C30-8999-92F81FD0307C}</a:tableStyleId>
              </a:tblPr>
              <a:tblGrid>
                <a:gridCol w="1647265"/>
                <a:gridCol w="1647265"/>
              </a:tblGrid>
              <a:tr h="274320">
                <a:tc>
                  <a:txBody>
                    <a:bodyPr/>
                    <a:lstStyle/>
                    <a:p>
                      <a:pPr algn="ctr">
                        <a:buNone/>
                      </a:pPr>
                      <a:r>
                        <a:rPr sz="1400" b="1" i="0">
                          <a:latin typeface="Arial"/>
                          <a:ea typeface="Arial"/>
                          <a:cs typeface="Arial"/>
                        </a:rPr>
                        <a:t>Existence</a:t>
                      </a:r>
                    </a:p>
                  </a:txBody>
                  <a:tcPr marL="68580" marR="68580" marT="34290" marB="34290">
                    <a:lnL w="12700" cmpd="sng">
                      <a:no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algn="ctr">
                        <a:buNone/>
                      </a:pPr>
                      <a:r>
                        <a:rPr sz="1400" b="1" i="0">
                          <a:latin typeface="Arial"/>
                          <a:ea typeface="Arial"/>
                          <a:cs typeface="Arial"/>
                        </a:rPr>
                        <a:t>Non-existence</a:t>
                      </a:r>
                    </a:p>
                  </a:txBody>
                  <a:tcPr marL="68580" marR="68580" marT="34290" marB="34290">
                    <a:lnL w="12700" cmpd="sng">
                      <a:solidFill>
                        <a:schemeClr val="tx1"/>
                      </a:solidFill>
                      <a:prstDash val="solid"/>
                    </a:lnL>
                    <a:lnR w="12700" cmpd="sng">
                      <a:no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r>
              <a:tr h="760448">
                <a:tc>
                  <a:txBody>
                    <a:bodyPr/>
                    <a:lstStyle/>
                    <a:p>
                      <a:pPr marL="0" marR="0" lvl="0" indent="0" algn="ctr" defTabSz="914400">
                        <a:lnSpc>
                          <a:spcPct val="100000"/>
                        </a:lnSpc>
                        <a:spcBef>
                          <a:spcPts val="0"/>
                        </a:spcBef>
                        <a:spcAft>
                          <a:spcPts val="0"/>
                        </a:spcAft>
                        <a:buClrTx/>
                        <a:buSzTx/>
                        <a:buFontTx/>
                        <a:buNone/>
                      </a:pPr>
                      <a:r>
                        <a:rPr sz="1400">
                          <a:latin typeface="Arial"/>
                          <a:ea typeface="Arial"/>
                          <a:cs typeface="Arial"/>
                        </a:rPr>
                        <a:t>specify, have an effect, exist, significant, etc.</a:t>
                      </a:r>
                    </a:p>
                  </a:txBody>
                  <a:tcPr marL="68580" marR="68580" marT="34290" marB="34290">
                    <a:lnL w="12700" cmpd="sng">
                      <a:no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c>
                  <a:txBody>
                    <a:bodyPr/>
                    <a:lstStyle/>
                    <a:p>
                      <a:pPr marL="0" marR="0" lvl="0" indent="0" algn="ctr" defTabSz="914400">
                        <a:lnSpc>
                          <a:spcPct val="100000"/>
                        </a:lnSpc>
                        <a:spcBef>
                          <a:spcPts val="0"/>
                        </a:spcBef>
                        <a:spcAft>
                          <a:spcPts val="0"/>
                        </a:spcAft>
                        <a:buClrTx/>
                        <a:buSzTx/>
                        <a:buFontTx/>
                        <a:buNone/>
                      </a:pPr>
                      <a:r>
                        <a:rPr sz="1400">
                          <a:latin typeface="Arial"/>
                          <a:ea typeface="Arial"/>
                          <a:cs typeface="Arial"/>
                        </a:rPr>
                        <a:t>ignore, have no effect, unused, override, etc.</a:t>
                      </a:r>
                    </a:p>
                  </a:txBody>
                  <a:tcPr marL="68580" marR="68580" marT="34290" marB="34290">
                    <a:lnL w="12700" cmpd="sng">
                      <a:solidFill>
                        <a:schemeClr val="tx1"/>
                      </a:solidFill>
                      <a:prstDash val="solid"/>
                    </a:lnL>
                    <a:lnR w="12700" cmpd="sng">
                      <a:no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tcPr>
                </a:tc>
              </a:tr>
            </a:tbl>
          </a:graphicData>
        </a:graphic>
      </p:graphicFrame>
      <p:sp>
        <p:nvSpPr>
          <p:cNvPr id="8" name="Oval 7">
            <a:extLst xmlns:a="http://schemas.openxmlformats.org/drawingml/2006/main">
              <a:ext uri="{FF2B5EF4-FFF2-40B4-BE49-F238E27FC236}">
                <a16:creationId xmlns:a16="http://schemas.microsoft.com/office/drawing/2014/main" id="{696DA37B-F5D0-D9DA-3F5D-9C9F2B8A656F}"/>
              </a:ext>
            </a:extLst>
          </p:cNvPr>
          <p:cNvSpPr>
            <a:spLocks xmlns:a="http://schemas.openxmlformats.org/drawingml/2006/main" noGrp="1"/>
          </p:cNvSpPr>
          <p:nvPr/>
        </p:nvSpPr>
        <p:spPr>
          <a:xfrm xmlns:a="http://schemas.openxmlformats.org/drawingml/2006/main">
            <a:off x="8032330" y="1658030"/>
            <a:ext cx="553616" cy="231282"/>
          </a:xfrm>
          <a:prstGeom xmlns:a="http://schemas.openxmlformats.org/drawingml/2006/main" prst="ellipse">
            <a:avLst/>
          </a:prstGeom>
          <a:noFill xmlns:a="http://schemas.openxmlformats.org/drawingml/2006/main"/>
          <a:ln xmlns:a="http://schemas.openxmlformats.org/drawingml/2006/main" w="25400" cmpd="sng">
            <a:solidFill>
              <a:srgbClr val="FF0000"/>
            </a:solidFill>
            <a:prstDash val="soli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ctr"/>
          <a:lstStyle xmlns:a="http://schemas.openxmlformats.org/drawingml/2006/main"/>
          <a:p xmlns:a="http://schemas.openxmlformats.org/drawingml/2006/main">
            <a:pPr algn="ctr">
              <a:buNone/>
            </a:pPr>
          </a:p>
        </p:txBody>
      </p:sp>
      <p:cxnSp>
        <p:nvCxnSpPr>
          <p:cNvPr id="49" name="Straight Arrow Connector 8"/>
          <p:cNvCxnSpPr>
            <a:stCxn xmlns:a="http://schemas.openxmlformats.org/drawingml/2006/main" id="12" idx="4"/>
            <a:endCxn xmlns:a="http://schemas.openxmlformats.org/drawingml/2006/main" id="14" idx="0"/>
          </p:cNvCxnSpPr>
          <p:nvPr/>
        </p:nvCxnSpPr>
        <p:spPr>
          <a:xfrm xmlns:a="http://schemas.openxmlformats.org/drawingml/2006/main">
            <a:off x="4881389" y="2044207"/>
            <a:ext cx="564706" cy="708220"/>
          </a:xfrm>
          <a:prstGeom xmlns:a="http://schemas.openxmlformats.org/drawingml/2006/main" prst="straightConnector1">
            <a:avLst/>
          </a:prstGeom>
          <a:ln xmlns:a="http://schemas.openxmlformats.org/drawingml/2006/main" w="25400">
            <a:solidFill>
              <a:srgbClr val="FF0000"/>
            </a:solidFill>
            <a:prstDash val="solid"/>
            <a:headEnd type="none"/>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sp>
        <p:nvSpPr>
          <p:cNvPr id="11" name="Oval 10">
            <a:extLst xmlns:a="http://schemas.openxmlformats.org/drawingml/2006/main">
              <a:ext uri="{FF2B5EF4-FFF2-40B4-BE49-F238E27FC236}">
                <a16:creationId xmlns:a16="http://schemas.microsoft.com/office/drawing/2014/main" id="{032995BC-314F-93A3-1E61-02B8E1C113ED}"/>
              </a:ext>
            </a:extLst>
          </p:cNvPr>
          <p:cNvSpPr>
            <a:spLocks xmlns:a="http://schemas.openxmlformats.org/drawingml/2006/main" noGrp="1"/>
          </p:cNvSpPr>
          <p:nvPr/>
        </p:nvSpPr>
        <p:spPr>
          <a:xfrm xmlns:a="http://schemas.openxmlformats.org/drawingml/2006/main">
            <a:off x="4061012" y="1519160"/>
            <a:ext cx="504265" cy="192279"/>
          </a:xfrm>
          <a:prstGeom xmlns:a="http://schemas.openxmlformats.org/drawingml/2006/main" prst="ellipse">
            <a:avLst/>
          </a:prstGeom>
          <a:noFill xmlns:a="http://schemas.openxmlformats.org/drawingml/2006/main"/>
          <a:ln xmlns:a="http://schemas.openxmlformats.org/drawingml/2006/main" w="25400" cmpd="sng">
            <a:solidFill>
              <a:srgbClr val="FF0000"/>
            </a:solidFill>
            <a:prstDash val="soli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723499AC-4E33-2F8D-D60E-DF594D3ECF33}"/>
              </a:ext>
            </a:extLst>
          </p:cNvPr>
          <p:cNvSpPr>
            <a:spLocks xmlns:a="http://schemas.openxmlformats.org/drawingml/2006/main" noGrp="1"/>
          </p:cNvSpPr>
          <p:nvPr/>
        </p:nvSpPr>
        <p:spPr>
          <a:xfrm xmlns:a="http://schemas.openxmlformats.org/drawingml/2006/main">
            <a:off x="3951524" y="1812926"/>
            <a:ext cx="1859729" cy="231281"/>
          </a:xfrm>
          <a:prstGeom xmlns:a="http://schemas.openxmlformats.org/drawingml/2006/main" prst="ellipse">
            <a:avLst/>
          </a:prstGeom>
          <a:noFill xmlns:a="http://schemas.openxmlformats.org/drawingml/2006/main"/>
          <a:ln xmlns:a="http://schemas.openxmlformats.org/drawingml/2006/main" w="25400" cmpd="sng">
            <a:solidFill>
              <a:srgbClr val="FF0000"/>
            </a:solidFill>
            <a:prstDash val="soli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Oval 13">
            <a:extLst xmlns:a="http://schemas.openxmlformats.org/drawingml/2006/main">
              <a:ext uri="{FF2B5EF4-FFF2-40B4-BE49-F238E27FC236}">
                <a16:creationId xmlns:a16="http://schemas.microsoft.com/office/drawing/2014/main" id="{7B5D5EA5-B414-6406-17ED-BE485A0D02AA}"/>
              </a:ext>
            </a:extLst>
          </p:cNvPr>
          <p:cNvSpPr>
            <a:spLocks xmlns:a="http://schemas.openxmlformats.org/drawingml/2006/main" noGrp="1"/>
          </p:cNvSpPr>
          <p:nvPr/>
        </p:nvSpPr>
        <p:spPr>
          <a:xfrm xmlns:a="http://schemas.openxmlformats.org/drawingml/2006/main">
            <a:off x="4482966" y="2752426"/>
            <a:ext cx="1926256" cy="179288"/>
          </a:xfrm>
          <a:prstGeom xmlns:a="http://schemas.openxmlformats.org/drawingml/2006/main" prst="ellipse">
            <a:avLst/>
          </a:prstGeom>
          <a:noFill xmlns:a="http://schemas.openxmlformats.org/drawingml/2006/main"/>
          <a:ln xmlns:a="http://schemas.openxmlformats.org/drawingml/2006/main" w="25400" cmpd="sng">
            <a:solidFill>
              <a:srgbClr val="FF0000"/>
            </a:solidFill>
            <a:prstDash val="soli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Arc 30">
            <a:extLst xmlns:a="http://schemas.openxmlformats.org/drawingml/2006/main">
              <a:ext uri="{FF2B5EF4-FFF2-40B4-BE49-F238E27FC236}">
                <a16:creationId xmlns:a16="http://schemas.microsoft.com/office/drawing/2014/main" id="{57BBA1B6-886B-CF9C-1194-BE7713276BB6}"/>
              </a:ext>
            </a:extLst>
          </p:cNvPr>
          <p:cNvSpPr>
            <a:spLocks xmlns:a="http://schemas.openxmlformats.org/drawingml/2006/main" noGrp="1"/>
          </p:cNvSpPr>
          <p:nvPr/>
        </p:nvSpPr>
        <p:spPr>
          <a:xfrm xmlns:a="http://schemas.openxmlformats.org/drawingml/2006/main" rot="4332074">
            <a:off x="3034417" y="2443532"/>
            <a:ext cx="2811896" cy="1114103"/>
          </a:xfrm>
          <a:prstGeom xmlns:a="http://schemas.openxmlformats.org/drawingml/2006/main" prst="arc">
            <a:avLst>
              <a:gd name="adj1" fmla="val 261512"/>
              <a:gd name="adj2" fmla="val 10916945"/>
            </a:avLst>
          </a:prstGeom>
          <a:ln xmlns:a="http://schemas.openxmlformats.org/drawingml/2006/main" w="25400">
            <a:solidFill>
              <a:srgbClr val="FF0000"/>
            </a:solidFill>
            <a:headEnd type="triangle"/>
            <a:tailEnd type="non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Oval 31">
            <a:extLst xmlns:a="http://schemas.openxmlformats.org/drawingml/2006/main">
              <a:ext uri="{FF2B5EF4-FFF2-40B4-BE49-F238E27FC236}">
                <a16:creationId xmlns:a16="http://schemas.microsoft.com/office/drawing/2014/main" id="{FE36588A-5F40-C770-C12C-904F28AF9BE1}"/>
              </a:ext>
            </a:extLst>
          </p:cNvPr>
          <p:cNvSpPr>
            <a:spLocks xmlns:a="http://schemas.openxmlformats.org/drawingml/2006/main" noGrp="1"/>
          </p:cNvSpPr>
          <p:nvPr/>
        </p:nvSpPr>
        <p:spPr>
          <a:xfrm xmlns:a="http://schemas.openxmlformats.org/drawingml/2006/main">
            <a:off x="4482966" y="4337446"/>
            <a:ext cx="1645920" cy="172069"/>
          </a:xfrm>
          <a:prstGeom xmlns:a="http://schemas.openxmlformats.org/drawingml/2006/main" prst="ellipse">
            <a:avLst/>
          </a:prstGeom>
          <a:noFill xmlns:a="http://schemas.openxmlformats.org/drawingml/2006/main"/>
          <a:ln xmlns:a="http://schemas.openxmlformats.org/drawingml/2006/main" w="25400" cmpd="sng">
            <a:solidFill>
              <a:srgbClr val="FF0000"/>
            </a:solidFill>
            <a:prstDash val="soli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Oval 32">
            <a:extLst xmlns:a="http://schemas.openxmlformats.org/drawingml/2006/main">
              <a:ext uri="{FF2B5EF4-FFF2-40B4-BE49-F238E27FC236}">
                <a16:creationId xmlns:a16="http://schemas.microsoft.com/office/drawing/2014/main" id="{7B4265E4-93A5-3D0B-80F4-FF7FD1D82544}"/>
              </a:ext>
            </a:extLst>
          </p:cNvPr>
          <p:cNvSpPr>
            <a:spLocks xmlns:a="http://schemas.openxmlformats.org/drawingml/2006/main" noGrp="1"/>
          </p:cNvSpPr>
          <p:nvPr/>
        </p:nvSpPr>
        <p:spPr>
          <a:xfrm xmlns:a="http://schemas.openxmlformats.org/drawingml/2006/main">
            <a:off x="4297795" y="2734470"/>
            <a:ext cx="237323" cy="205285"/>
          </a:xfrm>
          <a:prstGeom xmlns:a="http://schemas.openxmlformats.org/drawingml/2006/main" prst="ellipse">
            <a:avLst/>
          </a:prstGeom>
          <a:noFill xmlns:a="http://schemas.openxmlformats.org/drawingml/2006/main"/>
          <a:ln xmlns:a="http://schemas.openxmlformats.org/drawingml/2006/main" w="25400" cmpd="sng">
            <a:solidFill>
              <a:srgbClr val="FF0000"/>
            </a:solidFill>
            <a:prstDash val="soli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Oval 35">
            <a:extLst xmlns:a="http://schemas.openxmlformats.org/drawingml/2006/main">
              <a:ext uri="{FF2B5EF4-FFF2-40B4-BE49-F238E27FC236}">
                <a16:creationId xmlns:a16="http://schemas.microsoft.com/office/drawing/2014/main" id="{4770F2FC-837D-4F9B-CF22-B0928B271CA7}"/>
              </a:ext>
            </a:extLst>
          </p:cNvPr>
          <p:cNvSpPr>
            <a:spLocks xmlns:a="http://schemas.openxmlformats.org/drawingml/2006/main" noGrp="1"/>
          </p:cNvSpPr>
          <p:nvPr/>
        </p:nvSpPr>
        <p:spPr>
          <a:xfrm xmlns:a="http://schemas.openxmlformats.org/drawingml/2006/main">
            <a:off x="4334306" y="3607598"/>
            <a:ext cx="321916" cy="179288"/>
          </a:xfrm>
          <a:prstGeom xmlns:a="http://schemas.openxmlformats.org/drawingml/2006/main" prst="ellipse">
            <a:avLst/>
          </a:prstGeom>
          <a:noFill xmlns:a="http://schemas.openxmlformats.org/drawingml/2006/main"/>
          <a:ln xmlns:a="http://schemas.openxmlformats.org/drawingml/2006/main" w="25400" cmpd="sng">
            <a:solidFill>
              <a:srgbClr val="FF0000"/>
            </a:solidFill>
            <a:prstDash val="soli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accent2"/>
          </a:fontRef>
        </p:style>
        <p:txBody>
          <a:bodyPr xmlns:a="http://schemas.openxmlformats.org/drawingml/2006/main" anchor="ctr"/>
          <a:lstStyle xmlns:a="http://schemas.openxmlformats.org/drawingml/2006/main"/>
          <a:p xmlns:a="http://schemas.openxmlformats.org/drawingml/2006/main">
            <a:pPr algn="ctr">
              <a:buNone/>
            </a:pPr>
          </a:p>
        </p:txBody>
      </p:sp>
      <p:cxnSp>
        <p:nvCxnSpPr>
          <p:cNvPr id="57" name="Straight Arrow Connector 37"/>
          <p:cNvCxnSpPr>
            <a:stCxn xmlns:a="http://schemas.openxmlformats.org/drawingml/2006/main" id="8" idx="2"/>
            <a:endCxn xmlns:a="http://schemas.openxmlformats.org/drawingml/2006/main" id="33" idx="7"/>
          </p:cNvCxnSpPr>
          <p:nvPr/>
        </p:nvCxnSpPr>
        <p:spPr>
          <a:xfrm xmlns:a="http://schemas.openxmlformats.org/drawingml/2006/main" flipH="1">
            <a:off x="4500363" y="1773671"/>
            <a:ext cx="3531967" cy="990862"/>
          </a:xfrm>
          <a:prstGeom xmlns:a="http://schemas.openxmlformats.org/drawingml/2006/main" prst="straightConnector1">
            <a:avLst/>
          </a:prstGeom>
          <a:ln xmlns:a="http://schemas.openxmlformats.org/drawingml/2006/main" w="25400">
            <a:solidFill>
              <a:srgbClr val="FF0000"/>
            </a:solidFill>
            <a:prstDash val="solid"/>
            <a:headEnd type="none"/>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cxnSp>
        <p:nvCxnSpPr>
          <p:cNvPr id="58" name="Straight Arrow Connector 40"/>
          <p:cNvCxnSpPr>
            <a:stCxn xmlns:a="http://schemas.openxmlformats.org/drawingml/2006/main" id="8" idx="4"/>
            <a:endCxn xmlns:a="http://schemas.openxmlformats.org/drawingml/2006/main" id="36" idx="6"/>
          </p:cNvCxnSpPr>
          <p:nvPr/>
        </p:nvCxnSpPr>
        <p:spPr>
          <a:xfrm xmlns:a="http://schemas.openxmlformats.org/drawingml/2006/main" flipH="1">
            <a:off x="4656221" y="1889311"/>
            <a:ext cx="3652917" cy="1807931"/>
          </a:xfrm>
          <a:prstGeom xmlns:a="http://schemas.openxmlformats.org/drawingml/2006/main" prst="straightConnector1">
            <a:avLst/>
          </a:prstGeom>
          <a:ln xmlns:a="http://schemas.openxmlformats.org/drawingml/2006/main" w="25400">
            <a:solidFill>
              <a:srgbClr val="FF0000"/>
            </a:solidFill>
            <a:prstDash val="solid"/>
            <a:headEnd type="none"/>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sp>
        <p:nvSpPr>
          <p:cNvPr id="3" name="Slide Number Placeholder 2">
            <a:extLst xmlns:a="http://schemas.openxmlformats.org/drawingml/2006/main">
              <a:ext uri="{FF2B5EF4-FFF2-40B4-BE49-F238E27FC236}">
                <a16:creationId xmlns:a16="http://schemas.microsoft.com/office/drawing/2014/main" id="{6B12638E-C008-A2B6-B98C-89FE4950BC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FAD317D-785F-D548-8C8D-E6A38DF552FC}" type="slidenum">
              <a:t>38</a:t>
            </a:fld>
          </a:p>
        </p:txBody>
      </p:sp>
      <p:sp>
        <p:nvSpPr>
          <p:cNvPr id="5" name="Content Placeholder 2">
            <a:extLst xmlns:a="http://schemas.openxmlformats.org/drawingml/2006/main">
              <a:ext uri="{FF2B5EF4-FFF2-40B4-BE49-F238E27FC236}">
                <a16:creationId xmlns:a16="http://schemas.microsoft.com/office/drawing/2014/main" id="{C81CB59C-78D8-4AAC-9E6D-017098DA7B97}"/>
              </a:ext>
            </a:extLst>
          </p:cNvPr>
          <p:cNvSpPr>
            <a:spLocks xmlns:a="http://schemas.openxmlformats.org/drawingml/2006/main" noGrp="1"/>
          </p:cNvSpPr>
          <p:nvPr/>
        </p:nvSpPr>
        <p:spPr>
          <a:xfrm xmlns:a="http://schemas.openxmlformats.org/drawingml/2006/main">
            <a:off x="-301753" y="2419948"/>
            <a:ext cx="4125256" cy="790575"/>
          </a:xfrm>
          <a:prstGeom xmlns:a="http://schemas.openxmlformats.org/drawingml/2006/main" prst="rect">
            <a:avLst/>
          </a:prstGeom>
        </p:spPr>
        <p:txBody>
          <a:bodyPr xmlns:a="http://schemas.openxmlformats.org/drawingml/2006/main" vert="horz" lIns="68580" tIns="34290" rIns="68580" bIns="34290">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342900" lvl="1" indent="0">
              <a:buNone/>
            </a:pPr>
            <a:r>
              <a:rPr sz="1100">
                <a:solidFill>
                  <a:srgbClr val="FF0000"/>
                </a:solidFill>
                <a:latin typeface="Consolas"/>
                <a:ea typeface="Consolas"/>
                <a:cs typeface="Consolas"/>
              </a:rPr>
              <a:t>(affinity = </a:t>
            </a:r>
            <a:r>
              <a:rPr sz="1100">
                <a:solidFill>
                  <a:srgbClr val="FF0000"/>
                </a:solidFill>
                <a:latin typeface="Consolas"/>
                <a:ea typeface="Consolas"/>
                <a:cs typeface="Consolas"/>
              </a:rPr>
              <a:t>nearest_neighbors</a:t>
            </a:r>
            <a:r>
              <a:rPr sz="1100">
                <a:solidFill>
                  <a:srgbClr val="FF0000"/>
                </a:solidFill>
                <a:latin typeface="Consolas"/>
                <a:ea typeface="Consolas"/>
                <a:cs typeface="Consolas"/>
              </a:rPr>
              <a:t>) </a:t>
            </a:r>
            <a:r>
              <a:rPr sz="1100">
                <a:solidFill>
                  <a:srgbClr val="FF0000"/>
                </a:solidFill>
                <a:latin typeface="Consolas"/>
                <a:ea typeface="Consolas"/>
                <a:cs typeface="Consolas"/>
              </a:rPr>
              <a:t></a:t>
            </a:r>
            <a:r>
              <a:rPr sz="1100">
                <a:solidFill>
                  <a:srgbClr val="FF0000"/>
                </a:solidFill>
                <a:latin typeface="Consolas"/>
                <a:ea typeface="Consolas"/>
                <a:cs typeface="Consolas"/>
              </a:rPr>
              <a:t> ignore(gamma)</a:t>
            </a:r>
          </a:p>
        </p:txBody>
      </p:sp>
      <p:sp>
        <p:nvSpPr>
          <p:cNvPr id="15" name="Title 1">
            <a:extLst xmlns:a="http://schemas.openxmlformats.org/drawingml/2006/main">
              <a:ext uri="{FF2B5EF4-FFF2-40B4-BE49-F238E27FC236}">
                <a16:creationId xmlns:a16="http://schemas.microsoft.com/office/drawing/2014/main" id="{E238C820-A090-9ACB-FA70-8FE9AD7AD83F}"/>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a:t>
            </a:r>
            <a:r>
              <a:rPr sz="950" b="1">
                <a:solidFill>
                  <a:srgbClr val="654A9B"/>
                </a:solidFill>
              </a:rPr>
              <a:t>METHOD</a:t>
            </a:r>
          </a:p>
          <a:p xmlns:a="http://schemas.openxmlformats.org/drawingml/2006/main">
            <a:pPr>
              <a:lnSpc>
                <a:spcPct val="98000"/>
              </a:lnSpc>
              <a:buNone/>
            </a:pPr>
            <a:r>
              <a:rPr sz="2250" b="1">
                <a:solidFill>
                  <a:srgbClr val="20252C"/>
                </a:solidFill>
              </a:rPr>
              <a:t>Implicit constraints and fuzzy words</a:t>
            </a:r>
          </a:p>
        </p:txBody>
      </p:sp>
    </p:spTree>
    <p:extLst>
      <p:ext uri="{BB962C8B-B14F-4D97-AF65-F5344CB8AC3E}">
        <p14:creationId xmlns:p14="http://schemas.microsoft.com/office/powerpoint/2010/main" val="845970527"/>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1" name="TextBox 10">
            <a:extLst xmlns:a="http://schemas.openxmlformats.org/drawingml/2006/main">
              <a:ext uri="{FF2B5EF4-FFF2-40B4-BE49-F238E27FC236}">
                <a16:creationId xmlns:a16="http://schemas.microsoft.com/office/drawing/2014/main" id="{D0DD800B-A5FE-10CF-686E-C09003911D98}"/>
              </a:ext>
            </a:extLst>
          </p:cNvPr>
          <p:cNvSpPr>
            <a:spLocks xmlns:a="http://schemas.openxmlformats.org/drawingml/2006/main" noGrp="1"/>
          </p:cNvSpPr>
          <p:nvPr/>
        </p:nvSpPr>
        <p:spPr>
          <a:xfrm xmlns:a="http://schemas.openxmlformats.org/drawingml/2006/main">
            <a:off x="457200" y="1162050"/>
            <a:ext cx="4000500" cy="6858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0"/>
              </a:spcAft>
              <a:buNone/>
            </a:pPr>
            <a:r>
              <a:rPr sz="1450" b="0" i="0">
                <a:solidFill>
                  <a:srgbClr val="20252C"/>
                </a:solidFill>
                <a:latin typeface="Arial"/>
                <a:ea typeface="Arial"/>
                <a:cs typeface="Arial"/>
              </a:rPr>
              <a:t>Given a document constraint c and code-path constraints P = {p}:</a:t>
            </a:r>
          </a:p>
        </p:txBody>
      </p:sp>
      <p:pic>
        <p:nvPicPr>
          <p:cNvPr id="15" name="Picture 7"/>
          <p:cNvPicPr>
            <a:picLocks xmlns:a="http://schemas.openxmlformats.org/drawingml/2006/main" noChangeAspect="1"/>
          </p:cNvPicPr>
          <p:nvPr/>
        </p:nvPicPr>
        <p:blipFill>
          <a:blip xmlns:r="http://schemas.openxmlformats.org/officeDocument/2006/relationships" xmlns:a="http://schemas.openxmlformats.org/drawingml/2006/main" r:embed="R50a3043640d54dbe"/>
          <a:stretch xmlns:a="http://schemas.openxmlformats.org/drawingml/2006/main">
            <a:fillRect l="0" t="0" r="0" b="0"/>
          </a:stretch>
        </p:blipFill>
        <p:spPr>
          <a:xfrm xmlns:a="http://schemas.openxmlformats.org/drawingml/2006/main">
            <a:off x="4700092" y="273844"/>
            <a:ext cx="4443908" cy="4638059"/>
          </a:xfrm>
          <a:prstGeom xmlns:a="http://schemas.openxmlformats.org/drawingml/2006/main" prst="rect">
            <a:avLst/>
          </a:prstGeom>
        </p:spPr>
      </p:pic>
      <p:sp>
        <p:nvSpPr>
          <p:cNvPr id="5" name="TextBox 4">
            <a:extLst xmlns:a="http://schemas.openxmlformats.org/drawingml/2006/main">
              <a:ext uri="{FF2B5EF4-FFF2-40B4-BE49-F238E27FC236}">
                <a16:creationId xmlns:a16="http://schemas.microsoft.com/office/drawing/2014/main" id="{E59631DA-90DA-7E00-7AE5-33F3F7D7F90E}"/>
              </a:ext>
            </a:extLst>
          </p:cNvPr>
          <p:cNvSpPr>
            <a:spLocks xmlns:a="http://schemas.openxmlformats.org/drawingml/2006/main" noGrp="1"/>
          </p:cNvSpPr>
          <p:nvPr/>
        </p:nvSpPr>
        <p:spPr>
          <a:xfrm xmlns:a="http://schemas.openxmlformats.org/drawingml/2006/main">
            <a:off x="457200" y="3143250"/>
            <a:ext cx="4000500" cy="10668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4"/>
              </a:spcAft>
              <a:buNone/>
            </a:pPr>
            <a:r>
              <a:rPr sz="1550" b="1" i="0">
                <a:solidFill>
                  <a:srgbClr val="654A9B"/>
                </a:solidFill>
                <a:latin typeface="Arial"/>
                <a:ea typeface="Arial"/>
                <a:cs typeface="Arial"/>
              </a:rPr>
              <a:t>At least one path disagrees with the documentation</a:t>
            </a:r>
          </a:p>
          <a:p xmlns:a="http://schemas.openxmlformats.org/drawingml/2006/main">
            <a:pPr marL="0" indent="0">
              <a:lnSpc>
                <a:spcPct val="103000"/>
              </a:lnSpc>
              <a:spcBef>
                <a:spcPts val="0"/>
              </a:spcBef>
              <a:spcAft>
                <a:spcPts val="0"/>
              </a:spcAft>
              <a:buNone/>
            </a:pPr>
            <a:r>
              <a:rPr sz="1800" b="0" i="0">
                <a:solidFill>
                  <a:srgbClr val="20252C"/>
                </a:solidFill>
                <a:latin typeface="Cambria Math"/>
                <a:ea typeface="Cambria Math"/>
                <a:cs typeface="Cambria Math"/>
              </a:rPr>
              <a:t>∃𝑝∈𝑃, ¬(𝑐⟺𝑝)</a:t>
            </a:r>
          </a:p>
        </p:txBody>
      </p:sp>
      <p:sp>
        <p:nvSpPr>
          <p:cNvPr id="3" name="Slide Number Placeholder 2">
            <a:extLst xmlns:a="http://schemas.openxmlformats.org/drawingml/2006/main">
              <a:ext uri="{FF2B5EF4-FFF2-40B4-BE49-F238E27FC236}">
                <a16:creationId xmlns:a16="http://schemas.microsoft.com/office/drawing/2014/main" id="{80CED0F0-B8A1-702D-C83A-B181E08DA08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FAD317D-785F-D548-8C8D-E6A38DF552FC}" type="slidenum">
              <a:t>39</a:t>
            </a:fld>
          </a:p>
        </p:txBody>
      </p:sp>
      <p:sp>
        <p:nvSpPr>
          <p:cNvPr id="9" name="Title 1">
            <a:extLst xmlns:a="http://schemas.openxmlformats.org/drawingml/2006/main">
              <a:ext uri="{FF2B5EF4-FFF2-40B4-BE49-F238E27FC236}">
                <a16:creationId xmlns:a16="http://schemas.microsoft.com/office/drawing/2014/main" id="{E97655C8-C22B-5ABB-CBB8-3EF838AC7838}"/>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a:t>
            </a:r>
            <a:r>
              <a:rPr sz="950" b="1">
                <a:solidFill>
                  <a:srgbClr val="654A9B"/>
                </a:solidFill>
              </a:rPr>
              <a:t>METHOD</a:t>
            </a:r>
          </a:p>
          <a:p xmlns:a="http://schemas.openxmlformats.org/drawingml/2006/main">
            <a:pPr>
              <a:lnSpc>
                <a:spcPct val="98000"/>
              </a:lnSpc>
              <a:buNone/>
            </a:pPr>
            <a:r>
              <a:rPr sz="2250" b="1">
                <a:solidFill>
                  <a:srgbClr val="20252C"/>
                </a:solidFill>
              </a:rPr>
              <a:t>Phase III: Inconsistency Checking</a:t>
            </a:r>
          </a:p>
        </p:txBody>
      </p:sp>
      <p:sp>
        <p:nvSpPr>
          <p:cNvPr id="12" name="TextBox 11">
            <a:extLst xmlns:a="http://schemas.openxmlformats.org/drawingml/2006/main">
              <a:ext uri="{FF2B5EF4-FFF2-40B4-BE49-F238E27FC236}">
                <a16:creationId xmlns:a16="http://schemas.microsoft.com/office/drawing/2014/main" id="{AC629DC3-2A54-FFEF-06C4-4617D8A3C1EE}"/>
              </a:ext>
            </a:extLst>
          </p:cNvPr>
          <p:cNvSpPr>
            <a:spLocks xmlns:a="http://schemas.openxmlformats.org/drawingml/2006/main" noGrp="1"/>
          </p:cNvSpPr>
          <p:nvPr/>
        </p:nvSpPr>
        <p:spPr>
          <a:xfrm xmlns:a="http://schemas.openxmlformats.org/drawingml/2006/main">
            <a:off x="457200" y="2047875"/>
            <a:ext cx="4000500" cy="9715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4"/>
              </a:spcAft>
              <a:buNone/>
            </a:pPr>
            <a:r>
              <a:rPr sz="1550" b="1" i="0">
                <a:solidFill>
                  <a:srgbClr val="654A9B"/>
                </a:solidFill>
                <a:latin typeface="Arial"/>
                <a:ea typeface="Arial"/>
                <a:cs typeface="Arial"/>
              </a:rPr>
              <a:t>No path satisfies the documented constraint</a:t>
            </a:r>
          </a:p>
          <a:p xmlns:a="http://schemas.openxmlformats.org/drawingml/2006/main">
            <a:pPr marL="0" indent="0">
              <a:lnSpc>
                <a:spcPct val="103000"/>
              </a:lnSpc>
              <a:spcBef>
                <a:spcPts val="0"/>
              </a:spcBef>
              <a:spcAft>
                <a:spcPts val="0"/>
              </a:spcAft>
              <a:buNone/>
            </a:pPr>
            <a:r>
              <a:rPr sz="1800" b="0" i="0">
                <a:solidFill>
                  <a:srgbClr val="20252C"/>
                </a:solidFill>
                <a:latin typeface="Cambria Math"/>
                <a:ea typeface="Cambria Math"/>
                <a:cs typeface="Cambria Math"/>
              </a:rPr>
              <a:t>∀𝑝∈𝑃, ¬𝑐∧𝑝</a:t>
            </a:r>
          </a:p>
        </p:txBody>
      </p:sp>
    </p:spTree>
    <p:extLst>
      <p:ext uri="{BB962C8B-B14F-4D97-AF65-F5344CB8AC3E}">
        <p14:creationId xmlns:p14="http://schemas.microsoft.com/office/powerpoint/2010/main" val="335658950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B30BBD69-B274-4EF8-9124-3F9E50DBA18D}"/>
              </a:ext>
            </a:extLst>
          </p:cNvPr>
          <p:cNvSpPr>
            <a:spLocks xmlns:a="http://schemas.openxmlformats.org/drawingml/2006/main" noGrp="1"/>
          </p:cNvSpPr>
          <p:nvPr>
            <p:ph idx="1"/>
          </p:nvPr>
        </p:nvSpPr>
        <p:spPr>
          <a:xfrm xmlns:a="http://schemas.openxmlformats.org/drawingml/2006/main">
            <a:off x="522514" y="1066800"/>
            <a:ext cx="8098972" cy="3263504"/>
          </a:xfrm>
        </p:spPr>
        <p:txBody>
          <a:bodyPr xmlns:a="http://schemas.openxmlformats.org/drawingml/2006/main">
            <a:normAutofit/>
          </a:bodyPr>
          <a:lstStyle xmlns:a="http://schemas.openxmlformats.org/drawingml/2006/main"/>
          <a:p xmlns:a="http://schemas.openxmlformats.org/drawingml/2006/main">
            <a:pPr>
              <a:lnSpc>
                <a:spcPct val="100000"/>
              </a:lnSpc>
              <a:buNone/>
            </a:pPr>
            <a:r>
              <a:rPr sz="1800">
                <a:latin typeface="Gill Sans MT"/>
                <a:ea typeface="Gill Sans MT"/>
                <a:cs typeface="Gill Sans MT"/>
              </a:rPr>
              <a:t>Hallucination </a:t>
            </a:r>
            <a:r>
              <a:rPr sz="1800">
                <a:latin typeface="Gill Sans MT"/>
                <a:ea typeface="Gill Sans MT"/>
                <a:cs typeface="Gill Sans MT"/>
              </a:rPr>
              <a:t> Incorrect constraints  fuzzy results</a:t>
            </a:r>
          </a:p>
          <a:p xmlns:a="http://schemas.openxmlformats.org/drawingml/2006/main">
            <a:pPr>
              <a:lnSpc>
                <a:spcPct val="100000"/>
              </a:lnSpc>
              <a:buNone/>
            </a:pPr>
            <a:r>
              <a:rPr sz="1800">
                <a:latin typeface="Gill Sans MT"/>
                <a:ea typeface="Gill Sans MT"/>
                <a:cs typeface="Gill Sans MT"/>
              </a:rPr>
              <a:t>LLM tends to make minor mistakes</a:t>
            </a:r>
          </a:p>
          <a:p xmlns:a="http://schemas.openxmlformats.org/drawingml/2006/main">
            <a:pPr lvl="1">
              <a:lnSpc>
                <a:spcPct val="100000"/>
              </a:lnSpc>
              <a:buNone/>
            </a:pPr>
            <a:r>
              <a:rPr sz="1500">
                <a:latin typeface="Gill Sans MT"/>
                <a:ea typeface="Gill Sans MT"/>
                <a:cs typeface="Gill Sans MT"/>
              </a:rPr>
              <a:t>Look-alike</a:t>
            </a:r>
            <a:r>
              <a:rPr sz="1500">
                <a:latin typeface="Gill Sans MT"/>
                <a:ea typeface="Gill Sans MT"/>
                <a:cs typeface="Gill Sans MT"/>
              </a:rPr>
              <a:t> </a:t>
            </a:r>
            <a:r>
              <a:rPr sz="1500">
                <a:latin typeface="Gill Sans MT"/>
                <a:ea typeface="Gill Sans MT"/>
                <a:cs typeface="Gill Sans MT"/>
              </a:rPr>
              <a:t>names, wrong symbols ( </a:t>
            </a:r>
            <a14:m xmlns:a14="http://schemas.microsoft.com/office/drawing/2010/main">
              <m:oMathPara xmlns:m="http://schemas.openxmlformats.org/officeDocument/2006/math">
                <m:oMath>
                  <m:r>
                    <a:rPr xmlns:a="http://schemas.openxmlformats.org/drawingml/2006/main" lang="en-US" sz="1500" b="1" i="1">
                      <a:latin typeface="Cambria Math"/>
                      <a:ea typeface="Cambria Math"/>
                      <a:cs typeface="Cambria Math"/>
                    </a:rPr>
                    <m:t>&lt; ⟶ ≤</m:t>
                  </m:r>
                </m:oMath>
              </m:oMathPara>
            </a14:m>
            <a:r>
              <a:rPr sz="1500">
                <a:latin typeface="Gill Sans MT"/>
                <a:ea typeface="Gill Sans MT"/>
                <a:cs typeface="Gill Sans MT"/>
              </a:rPr>
              <a:t> ), etc.</a:t>
            </a:r>
          </a:p>
          <a:p xmlns:a="http://schemas.openxmlformats.org/drawingml/2006/main">
            <a:pPr lvl="1">
              <a:lnSpc>
                <a:spcPct val="100000"/>
              </a:lnSpc>
              <a:buNone/>
            </a:pPr>
            <a:r>
              <a:rPr sz="1500">
                <a:latin typeface="Gill Sans MT"/>
                <a:ea typeface="Gill Sans MT"/>
                <a:cs typeface="Gill Sans MT"/>
              </a:rPr>
              <a:t>Unfortunately, we can’t tell whether the extracted doc-constraints are correct or not</a:t>
            </a:r>
          </a:p>
          <a:p xmlns:a="http://schemas.openxmlformats.org/drawingml/2006/main">
            <a:pPr>
              <a:lnSpc>
                <a:spcPct val="100000"/>
              </a:lnSpc>
              <a:buNone/>
            </a:pPr>
            <a:r>
              <a:rPr sz="1800">
                <a:latin typeface="Gill Sans MT"/>
                <a:ea typeface="Gill Sans MT"/>
                <a:cs typeface="Gill Sans MT"/>
              </a:rPr>
              <a:t>We</a:t>
            </a:r>
            <a:r>
              <a:rPr sz="1800">
                <a:solidFill>
                  <a:srgbClr val="FF0000"/>
                </a:solidFill>
                <a:latin typeface="Gill Sans MT"/>
                <a:ea typeface="Gill Sans MT"/>
                <a:cs typeface="Gill Sans MT"/>
              </a:rPr>
              <a:t> </a:t>
            </a:r>
            <a:r>
              <a:rPr sz="1800">
                <a:latin typeface="Gill Sans MT"/>
                <a:ea typeface="Gill Sans MT"/>
                <a:cs typeface="Gill Sans MT"/>
              </a:rPr>
              <a:t>could </a:t>
            </a:r>
            <a:r>
              <a:rPr sz="1800">
                <a:solidFill>
                  <a:srgbClr val="FF0000"/>
                </a:solidFill>
                <a:latin typeface="Gill Sans MT"/>
                <a:ea typeface="Gill Sans MT"/>
                <a:cs typeface="Gill Sans MT"/>
              </a:rPr>
              <a:t>mitigate </a:t>
            </a:r>
            <a:r>
              <a:rPr sz="1800">
                <a:latin typeface="Gill Sans MT"/>
                <a:ea typeface="Gill Sans MT"/>
                <a:cs typeface="Gill Sans MT"/>
              </a:rPr>
              <a:t>the impact of hallucination on consistency checking</a:t>
            </a:r>
          </a:p>
        </p:txBody>
      </p:sp>
      <p:pic>
        <p:nvPicPr>
          <p:cNvPr id="55" name="Picture 4"/>
          <p:cNvPicPr>
            <a:picLocks xmlns:a="http://schemas.openxmlformats.org/drawingml/2006/main" noChangeAspect="1"/>
          </p:cNvPicPr>
          <p:nvPr/>
        </p:nvPicPr>
        <p:blipFill>
          <a:blip xmlns:r="http://schemas.openxmlformats.org/officeDocument/2006/relationships" xmlns:a="http://schemas.openxmlformats.org/drawingml/2006/main" r:embed="R03a8a8f0c8294644"/>
          <a:srcRect xmlns:a="http://schemas.openxmlformats.org/drawingml/2006/main" l="0" t="0" r="0" b="0"/>
          <a:stretch xmlns:a="http://schemas.openxmlformats.org/drawingml/2006/main">
            <a:fillRect l="0" t="0" r="0" b="0"/>
          </a:stretch>
        </p:blipFill>
        <p:spPr>
          <a:xfrm xmlns:a="http://schemas.openxmlformats.org/drawingml/2006/main">
            <a:off x="1142999" y="3054718"/>
            <a:ext cx="1385501" cy="1385501"/>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C62714FA-4053-232F-AA65-F98B151551CE}"/>
              </a:ext>
            </a:extLst>
          </p:cNvPr>
          <p:cNvSpPr>
            <a:spLocks xmlns:a="http://schemas.openxmlformats.org/drawingml/2006/main" noGrp="1"/>
          </p:cNvSpPr>
          <p:nvPr/>
        </p:nvSpPr>
        <p:spPr>
          <a:xfrm xmlns:a="http://schemas.openxmlformats.org/drawingml/2006/main">
            <a:off x="3395018" y="2924457"/>
            <a:ext cx="1241855" cy="657998"/>
          </a:xfrm>
          <a:prstGeom xmlns:a="http://schemas.openxmlformats.org/drawingml/2006/main" prst="rect">
            <a:avLst/>
          </a:prstGeom>
        </p:spPr>
        <p:style>
          <a:lnRef xmlns:a="http://schemas.openxmlformats.org/drawingml/2006/main" idx="1">
            <a:schemeClr val="accent6"/>
          </a:lnRef>
          <a:fillRef xmlns:a="http://schemas.openxmlformats.org/drawingml/2006/main" idx="2">
            <a:schemeClr val="accent6"/>
          </a:fillRef>
          <a:effectRef xmlns:a="http://schemas.openxmlformats.org/drawingml/2006/main" idx="1">
            <a:schemeClr val="accent6"/>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rPr sz="1350">
                <a:latin typeface="Gill Sans MT"/>
                <a:ea typeface="Gill Sans MT"/>
                <a:cs typeface="Gill Sans MT"/>
              </a:rPr>
              <a:t>Correct constraint</a:t>
            </a:r>
          </a:p>
        </p:txBody>
      </p:sp>
      <p:sp>
        <p:nvSpPr>
          <p:cNvPr id="9" name="Rectangle 8">
            <a:extLst xmlns:a="http://schemas.openxmlformats.org/drawingml/2006/main">
              <a:ext uri="{FF2B5EF4-FFF2-40B4-BE49-F238E27FC236}">
                <a16:creationId xmlns:a16="http://schemas.microsoft.com/office/drawing/2014/main" id="{DA22A41B-B03B-8113-B31D-15579C31414A}"/>
              </a:ext>
            </a:extLst>
          </p:cNvPr>
          <p:cNvSpPr>
            <a:spLocks xmlns:a="http://schemas.openxmlformats.org/drawingml/2006/main" noGrp="1"/>
          </p:cNvSpPr>
          <p:nvPr/>
        </p:nvSpPr>
        <p:spPr>
          <a:xfrm xmlns:a="http://schemas.openxmlformats.org/drawingml/2006/main">
            <a:off x="3395018" y="3985320"/>
            <a:ext cx="1241855" cy="657998"/>
          </a:xfrm>
          <a:prstGeom xmlns:a="http://schemas.openxmlformats.org/drawingml/2006/main" prst="rect">
            <a:avLst/>
          </a:prstGeom>
        </p:spPr>
        <p:style>
          <a:lnRef xmlns:a="http://schemas.openxmlformats.org/drawingml/2006/main" idx="1">
            <a:schemeClr val="accent2"/>
          </a:lnRef>
          <a:fillRef xmlns:a="http://schemas.openxmlformats.org/drawingml/2006/main" idx="2">
            <a:schemeClr val="accent2"/>
          </a:fillRef>
          <a:effectRef xmlns:a="http://schemas.openxmlformats.org/drawingml/2006/main" idx="1">
            <a:schemeClr val="accent2"/>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rPr sz="1350">
                <a:latin typeface="Gill Sans MT"/>
                <a:ea typeface="Gill Sans MT"/>
                <a:cs typeface="Gill Sans MT"/>
              </a:rPr>
              <a:t>Incorrect constraint</a:t>
            </a:r>
          </a:p>
        </p:txBody>
      </p:sp>
      <p:cxnSp>
        <p:nvCxnSpPr>
          <p:cNvPr id="58" name="Straight Arrow Connector 13"/>
          <p:cNvCxnSpPr>
            <a:stCxn xmlns:a="http://schemas.openxmlformats.org/drawingml/2006/main" id="3076" idx="3"/>
            <a:endCxn xmlns:a="http://schemas.openxmlformats.org/drawingml/2006/main" id="7" idx="1"/>
          </p:cNvCxnSpPr>
          <p:nvPr/>
        </p:nvCxnSpPr>
        <p:spPr>
          <a:xfrm xmlns:a="http://schemas.openxmlformats.org/drawingml/2006/main" flipV="1">
            <a:off x="2528500" y="3253457"/>
            <a:ext cx="866519" cy="494012"/>
          </a:xfrm>
          <a:prstGeom xmlns:a="http://schemas.openxmlformats.org/drawingml/2006/main" prst="straightConnector1">
            <a:avLst/>
          </a:prstGeom>
          <a:ln xmlns:a="http://schemas.openxmlformats.org/drawingml/2006/main" w="50800">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cxnSp>
        <p:nvCxnSpPr>
          <p:cNvPr id="59" name="Straight Arrow Connector 15"/>
          <p:cNvCxnSpPr>
            <a:stCxn xmlns:a="http://schemas.openxmlformats.org/drawingml/2006/main" id="3076" idx="3"/>
            <a:endCxn xmlns:a="http://schemas.openxmlformats.org/drawingml/2006/main" id="9" idx="1"/>
          </p:cNvCxnSpPr>
          <p:nvPr/>
        </p:nvCxnSpPr>
        <p:spPr>
          <a:xfrm xmlns:a="http://schemas.openxmlformats.org/drawingml/2006/main">
            <a:off x="2528500" y="3747469"/>
            <a:ext cx="866519" cy="566850"/>
          </a:xfrm>
          <a:prstGeom xmlns:a="http://schemas.openxmlformats.org/drawingml/2006/main" prst="straightConnector1">
            <a:avLst/>
          </a:prstGeom>
          <a:ln xmlns:a="http://schemas.openxmlformats.org/drawingml/2006/main" w="50800">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pic>
        <p:nvPicPr>
          <p:cNvPr id="60" name="Picture 18"/>
          <p:cNvPicPr>
            <a:picLocks xmlns:a="http://schemas.openxmlformats.org/drawingml/2006/main" noChangeAspect="1"/>
          </p:cNvPicPr>
          <p:nvPr/>
        </p:nvPicPr>
        <p:blipFill>
          <a:blip xmlns:r="http://schemas.openxmlformats.org/officeDocument/2006/relationships" xmlns:a="http://schemas.openxmlformats.org/drawingml/2006/main" r:embed="Rbd20b54d526c440c"/>
          <a:stretch xmlns:a="http://schemas.openxmlformats.org/drawingml/2006/main">
            <a:fillRect l="0" t="0" r="0" b="0"/>
          </a:stretch>
        </p:blipFill>
        <p:spPr>
          <a:xfrm xmlns:a="http://schemas.openxmlformats.org/drawingml/2006/main">
            <a:off x="5382502" y="3414432"/>
            <a:ext cx="759182" cy="759182"/>
          </a:xfrm>
          <a:prstGeom xmlns:a="http://schemas.openxmlformats.org/drawingml/2006/main" prst="rect">
            <a:avLst/>
          </a:prstGeom>
        </p:spPr>
      </p:pic>
      <p:sp>
        <p:nvSpPr>
          <p:cNvPr id="22" name="TextBox 21">
            <a:extLst xmlns:a="http://schemas.openxmlformats.org/drawingml/2006/main">
              <a:ext uri="{FF2B5EF4-FFF2-40B4-BE49-F238E27FC236}">
                <a16:creationId xmlns:a16="http://schemas.microsoft.com/office/drawing/2014/main" id="{8569A5F7-29CD-88C9-287D-98707E0FA6B6}"/>
              </a:ext>
            </a:extLst>
          </p:cNvPr>
          <p:cNvSpPr>
            <a:spLocks xmlns:a="http://schemas.openxmlformats.org/drawingml/2006/main" noGrp="1"/>
          </p:cNvSpPr>
          <p:nvPr/>
        </p:nvSpPr>
        <p:spPr>
          <a:xfrm xmlns:a="http://schemas.openxmlformats.org/drawingml/2006/main">
            <a:off x="4787215" y="3453813"/>
            <a:ext cx="512804"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600" b="1">
                <a:solidFill>
                  <a:schemeClr val="tx2">
                    <a:lumMod val="75000"/>
                    <a:lumOff val="25000"/>
                  </a:schemeClr>
                </a:solidFill>
                <a:latin typeface="Gill Sans MT"/>
                <a:ea typeface="Gill Sans MT"/>
                <a:cs typeface="Gill Sans MT"/>
              </a:rPr>
              <a:t>+</a:t>
            </a:r>
          </a:p>
        </p:txBody>
      </p:sp>
      <p:pic>
        <p:nvPicPr>
          <p:cNvPr id="62" name="Picture 6"/>
          <p:cNvPicPr>
            <a:picLocks xmlns:a="http://schemas.openxmlformats.org/drawingml/2006/main" noChangeAspect="1"/>
          </p:cNvPicPr>
          <p:nvPr/>
        </p:nvPicPr>
        <p:blipFill>
          <a:blip xmlns:r="http://schemas.openxmlformats.org/officeDocument/2006/relationships" xmlns:a="http://schemas.openxmlformats.org/drawingml/2006/main" r:embed="Rddbd270e538c4a4e"/>
          <a:srcRect xmlns:a="http://schemas.openxmlformats.org/drawingml/2006/main" l="0" t="0" r="0" b="0"/>
          <a:stretch xmlns:a="http://schemas.openxmlformats.org/drawingml/2006/main">
            <a:fillRect l="0" t="0" r="0" b="0"/>
          </a:stretch>
        </p:blipFill>
        <p:spPr>
          <a:xfrm xmlns:a="http://schemas.openxmlformats.org/drawingml/2006/main">
            <a:off x="7403242" y="3412331"/>
            <a:ext cx="759182" cy="759182"/>
          </a:xfrm>
          <a:prstGeom xmlns:a="http://schemas.openxmlformats.org/drawingml/2006/main" prst="rect">
            <a:avLst/>
          </a:prstGeom>
        </p:spPr>
      </p:pic>
      <p:cxnSp>
        <p:nvCxnSpPr>
          <p:cNvPr id="63" name="Straight Arrow Connector 28"/>
          <p:cNvCxnSpPr>
            <a:endCxn xmlns:a="http://schemas.openxmlformats.org/drawingml/2006/main" id="3078" idx="1"/>
          </p:cNvCxnSpPr>
          <p:nvPr/>
        </p:nvCxnSpPr>
        <p:spPr>
          <a:xfrm xmlns:a="http://schemas.openxmlformats.org/drawingml/2006/main">
            <a:off x="6274330" y="3791921"/>
            <a:ext cx="1128911" cy="1"/>
          </a:xfrm>
          <a:prstGeom xmlns:a="http://schemas.openxmlformats.org/drawingml/2006/main" prst="straightConnector1">
            <a:avLst/>
          </a:prstGeom>
          <a:ln xmlns:a="http://schemas.openxmlformats.org/drawingml/2006/main" w="50800">
            <a:tailEnd type="triangle"/>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sp>
        <p:nvSpPr>
          <p:cNvPr id="50" name="TextBox 49">
            <a:extLst xmlns:a="http://schemas.openxmlformats.org/drawingml/2006/main">
              <a:ext uri="{FF2B5EF4-FFF2-40B4-BE49-F238E27FC236}">
                <a16:creationId xmlns:a16="http://schemas.microsoft.com/office/drawing/2014/main" id="{5C4C8A81-1D17-0C4E-957F-D6F64BB27689}"/>
              </a:ext>
            </a:extLst>
          </p:cNvPr>
          <p:cNvSpPr>
            <a:spLocks xmlns:a="http://schemas.openxmlformats.org/drawingml/2006/main" noGrp="1"/>
          </p:cNvSpPr>
          <p:nvPr/>
        </p:nvSpPr>
        <p:spPr>
          <a:xfrm xmlns:a="http://schemas.openxmlformats.org/drawingml/2006/main">
            <a:off x="8036159" y="3499979"/>
            <a:ext cx="252528" cy="55399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000" b="1">
                <a:solidFill>
                  <a:srgbClr val="FF0000"/>
                </a:solidFill>
                <a:latin typeface="Gill Sans MT"/>
                <a:ea typeface="Gill Sans MT"/>
                <a:cs typeface="Gill Sans MT"/>
              </a:rPr>
              <a:t>?</a:t>
            </a:r>
          </a:p>
        </p:txBody>
      </p:sp>
      <p:sp>
        <p:nvSpPr>
          <p:cNvPr id="4" name="Slide Number Placeholder 3">
            <a:extLst xmlns:a="http://schemas.openxmlformats.org/drawingml/2006/main">
              <a:ext uri="{FF2B5EF4-FFF2-40B4-BE49-F238E27FC236}">
                <a16:creationId xmlns:a16="http://schemas.microsoft.com/office/drawing/2014/main" id="{957071DD-8FE9-E9B6-EEFE-3181E2B788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FAD317D-785F-D548-8C8D-E6A38DF552FC}" type="slidenum">
              <a:t>40</a:t>
            </a:fld>
          </a:p>
        </p:txBody>
      </p:sp>
      <p:sp>
        <p:nvSpPr>
          <p:cNvPr id="8" name="Title 1">
            <a:extLst xmlns:a="http://schemas.openxmlformats.org/drawingml/2006/main">
              <a:ext uri="{FF2B5EF4-FFF2-40B4-BE49-F238E27FC236}">
                <a16:creationId xmlns:a16="http://schemas.microsoft.com/office/drawing/2014/main" id="{7E989B68-D729-E240-3FA7-BF48B113D3F3}"/>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a:t>
            </a:r>
            <a:r>
              <a:rPr sz="950" b="1">
                <a:solidFill>
                  <a:srgbClr val="654A9B"/>
                </a:solidFill>
              </a:rPr>
              <a:t>METHOD</a:t>
            </a:r>
          </a:p>
          <a:p xmlns:a="http://schemas.openxmlformats.org/drawingml/2006/main">
            <a:pPr>
              <a:lnSpc>
                <a:spcPct val="98000"/>
              </a:lnSpc>
              <a:buNone/>
            </a:pPr>
            <a:r>
              <a:rPr sz="2250" b="1">
                <a:solidFill>
                  <a:srgbClr val="20252C"/>
                </a:solidFill>
              </a:rPr>
              <a:t>Fuzzy Constraint Logic</a:t>
            </a:r>
          </a:p>
        </p:txBody>
      </p:sp>
    </p:spTree>
    <p:extLst>
      <p:ext uri="{BB962C8B-B14F-4D97-AF65-F5344CB8AC3E}">
        <p14:creationId xmlns:p14="http://schemas.microsoft.com/office/powerpoint/2010/main" val="1872464541"/>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C76987B8-AA94-C145-6596-D8B74DF60650}"/>
              </a:ext>
            </a:extLst>
          </p:cNvPr>
          <p:cNvSpPr>
            <a:spLocks xmlns:a="http://schemas.openxmlformats.org/drawingml/2006/main" noGrp="1"/>
          </p:cNvSpPr>
          <p:nvPr/>
        </p:nvSpPr>
        <p:spPr>
          <a:xfrm xmlns:a="http://schemas.openxmlformats.org/drawingml/2006/main">
            <a:off x="553732" y="2352459"/>
            <a:ext cx="1290515"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samples</a:t>
            </a:r>
          </a:p>
        </p:txBody>
      </p:sp>
      <p:sp>
        <p:nvSpPr>
          <p:cNvPr id="7" name="Down Arrow 6">
            <a:extLst xmlns:a="http://schemas.openxmlformats.org/drawingml/2006/main">
              <a:ext uri="{FF2B5EF4-FFF2-40B4-BE49-F238E27FC236}">
                <a16:creationId xmlns:a16="http://schemas.microsoft.com/office/drawing/2014/main" id="{F055B875-B574-92F9-AB0D-C8114E50DE14}"/>
              </a:ext>
            </a:extLst>
          </p:cNvPr>
          <p:cNvSpPr>
            <a:spLocks xmlns:a="http://schemas.openxmlformats.org/drawingml/2006/main" noGrp="1"/>
          </p:cNvSpPr>
          <p:nvPr/>
        </p:nvSpPr>
        <p:spPr>
          <a:xfrm xmlns:a="http://schemas.openxmlformats.org/drawingml/2006/main">
            <a:off x="1084300" y="2854458"/>
            <a:ext cx="213155" cy="545284"/>
          </a:xfrm>
          <a:prstGeom xmlns:a="http://schemas.openxmlformats.org/drawingml/2006/main" prst="downArrow">
            <a:avLst/>
          </a:prstGeom>
        </p:spPr>
        <p:style>
          <a:lnRef xmlns:a="http://schemas.openxmlformats.org/drawingml/2006/main" idx="2">
            <a:schemeClr val="accent2">
              <a:shade val="15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Down Arrow 8">
            <a:extLst xmlns:a="http://schemas.openxmlformats.org/drawingml/2006/main">
              <a:ext uri="{FF2B5EF4-FFF2-40B4-BE49-F238E27FC236}">
                <a16:creationId xmlns:a16="http://schemas.microsoft.com/office/drawing/2014/main" id="{CADEB4B3-338E-47EF-130A-4E8ECD60E5FE}"/>
              </a:ext>
            </a:extLst>
          </p:cNvPr>
          <p:cNvSpPr>
            <a:spLocks xmlns:a="http://schemas.openxmlformats.org/drawingml/2006/main" noGrp="1"/>
          </p:cNvSpPr>
          <p:nvPr/>
        </p:nvSpPr>
        <p:spPr>
          <a:xfrm xmlns:a="http://schemas.openxmlformats.org/drawingml/2006/main">
            <a:off x="6138214" y="2855084"/>
            <a:ext cx="213155" cy="545284"/>
          </a:xfrm>
          <a:prstGeom xmlns:a="http://schemas.openxmlformats.org/drawingml/2006/main" prst="downArrow">
            <a:avLst/>
          </a:prstGeom>
        </p:spPr>
        <p:style>
          <a:lnRef xmlns:a="http://schemas.openxmlformats.org/drawingml/2006/main" idx="2">
            <a:schemeClr val="accent2">
              <a:shade val="15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Down Arrow 9">
            <a:extLst xmlns:a="http://schemas.openxmlformats.org/drawingml/2006/main">
              <a:ext uri="{FF2B5EF4-FFF2-40B4-BE49-F238E27FC236}">
                <a16:creationId xmlns:a16="http://schemas.microsoft.com/office/drawing/2014/main" id="{66A22F4C-9895-A392-E211-697979733867}"/>
              </a:ext>
            </a:extLst>
          </p:cNvPr>
          <p:cNvSpPr>
            <a:spLocks xmlns:a="http://schemas.openxmlformats.org/drawingml/2006/main" noGrp="1"/>
          </p:cNvSpPr>
          <p:nvPr/>
        </p:nvSpPr>
        <p:spPr>
          <a:xfrm xmlns:a="http://schemas.openxmlformats.org/drawingml/2006/main">
            <a:off x="8042700" y="2855084"/>
            <a:ext cx="213155" cy="545284"/>
          </a:xfrm>
          <a:prstGeom xmlns:a="http://schemas.openxmlformats.org/drawingml/2006/main" prst="downArrow">
            <a:avLst/>
          </a:prstGeom>
        </p:spPr>
        <p:style>
          <a:lnRef xmlns:a="http://schemas.openxmlformats.org/drawingml/2006/main" idx="2">
            <a:schemeClr val="accent2">
              <a:shade val="15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215DACBE-8651-64C0-23C8-24F793947017}"/>
              </a:ext>
            </a:extLst>
          </p:cNvPr>
          <p:cNvSpPr>
            <a:spLocks xmlns:a="http://schemas.openxmlformats.org/drawingml/2006/main" noGrp="1"/>
          </p:cNvSpPr>
          <p:nvPr/>
        </p:nvSpPr>
        <p:spPr>
          <a:xfrm xmlns:a="http://schemas.openxmlformats.org/drawingml/2006/main">
            <a:off x="553731" y="4068462"/>
            <a:ext cx="1508689" cy="43922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r>
                    <a:rPr xmlns:a="http://schemas.openxmlformats.org/drawingml/2006/main" lang="en-US" sz="1200" i="1">
                      <a:latin typeface="Cambria Math"/>
                      <a:ea typeface="Cambria Math"/>
                      <a:cs typeface="Cambria Math"/>
                    </a:rPr>
                    <m:t>𝜂</m:t>
                  </m:r>
                  <m:r>
                    <a:rPr xmlns:a="http://schemas.openxmlformats.org/drawingml/2006/main" lang="en-US" sz="1200" i="1">
                      <a:latin typeface="Cambria Math"/>
                      <a:ea typeface="Cambria Math"/>
                      <a:cs typeface="Cambria Math"/>
                    </a:rPr>
                    <m:t xml:space="preserve">=1 − </m:t>
                  </m:r>
                  <m:f>
                    <m:num>
                      <m:r>
                        <a:rPr xmlns:a="http://schemas.openxmlformats.org/drawingml/2006/main" lang="en-US" sz="1200" i="1">
                          <a:latin typeface="Cambria Math"/>
                          <a:ea typeface="Cambria Math"/>
                          <a:cs typeface="Cambria Math"/>
                        </a:rPr>
                        <m:t>2</m:t>
                      </m:r>
                    </m:num>
                    <m:den>
                      <m:r>
                        <a:rPr xmlns:a="http://schemas.openxmlformats.org/drawingml/2006/main" lang="en-US" sz="1200" i="1">
                          <a:latin typeface="Cambria Math"/>
                          <a:ea typeface="Cambria Math"/>
                          <a:cs typeface="Cambria Math"/>
                        </a:rPr>
                        <m:t>9</m:t>
                      </m:r>
                    </m:den>
                  </m:f>
                  <m:r>
                    <a:rPr xmlns:a="http://schemas.openxmlformats.org/drawingml/2006/main" lang="en-US" sz="1200" i="1">
                      <a:latin typeface="Cambria Math"/>
                      <a:ea typeface="Cambria Math"/>
                      <a:cs typeface="Cambria Math"/>
                    </a:rPr>
                    <m:t>≈0.78</m:t>
                  </m:r>
                </m:oMath>
              </m:oMathPara>
            </a14:m>
          </a:p>
        </p:txBody>
      </p:sp>
      <p:sp>
        <p:nvSpPr>
          <p:cNvPr id="13" name="TextBox 12">
            <a:extLst xmlns:a="http://schemas.openxmlformats.org/drawingml/2006/main">
              <a:ext uri="{FF2B5EF4-FFF2-40B4-BE49-F238E27FC236}">
                <a16:creationId xmlns:a16="http://schemas.microsoft.com/office/drawing/2014/main" id="{20175E68-A2ED-E72E-01B3-C7FFFB7C0834}"/>
              </a:ext>
            </a:extLst>
          </p:cNvPr>
          <p:cNvSpPr>
            <a:spLocks xmlns:a="http://schemas.openxmlformats.org/drawingml/2006/main" noGrp="1"/>
          </p:cNvSpPr>
          <p:nvPr/>
        </p:nvSpPr>
        <p:spPr>
          <a:xfrm xmlns:a="http://schemas.openxmlformats.org/drawingml/2006/main">
            <a:off x="1297456" y="2791041"/>
            <a:ext cx="1017884" cy="71558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350">
                <a:latin typeface="Gill Sans MT"/>
                <a:ea typeface="Gill Sans MT"/>
                <a:cs typeface="Gill Sans MT"/>
              </a:rPr>
              <a:t>Normalized Levenshtien Distance</a:t>
            </a:r>
          </a:p>
        </p:txBody>
      </p:sp>
      <p:sp>
        <p:nvSpPr>
          <p:cNvPr id="4" name="TextBox 3">
            <a:extLst xmlns:a="http://schemas.openxmlformats.org/drawingml/2006/main">
              <a:ext uri="{FF2B5EF4-FFF2-40B4-BE49-F238E27FC236}">
                <a16:creationId xmlns:a16="http://schemas.microsoft.com/office/drawing/2014/main" id="{46F78F07-7E87-1276-2627-31393E735984}"/>
              </a:ext>
            </a:extLst>
          </p:cNvPr>
          <p:cNvSpPr>
            <a:spLocks xmlns:a="http://schemas.openxmlformats.org/drawingml/2006/main" noGrp="1"/>
          </p:cNvSpPr>
          <p:nvPr/>
        </p:nvSpPr>
        <p:spPr>
          <a:xfrm xmlns:a="http://schemas.openxmlformats.org/drawingml/2006/main">
            <a:off x="6086856" y="2371155"/>
            <a:ext cx="315869"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&lt;</a:t>
            </a:r>
          </a:p>
        </p:txBody>
      </p:sp>
      <p:sp>
        <p:nvSpPr>
          <p:cNvPr id="8" name="TextBox 7">
            <a:extLst xmlns:a="http://schemas.openxmlformats.org/drawingml/2006/main">
              <a:ext uri="{FF2B5EF4-FFF2-40B4-BE49-F238E27FC236}">
                <a16:creationId xmlns:a16="http://schemas.microsoft.com/office/drawing/2014/main" id="{7A0C6E87-872B-B468-6C08-AEC24F1A3B62}"/>
              </a:ext>
            </a:extLst>
          </p:cNvPr>
          <p:cNvSpPr>
            <a:spLocks xmlns:a="http://schemas.openxmlformats.org/drawingml/2006/main" noGrp="1"/>
          </p:cNvSpPr>
          <p:nvPr/>
        </p:nvSpPr>
        <p:spPr>
          <a:xfrm xmlns:a="http://schemas.openxmlformats.org/drawingml/2006/main">
            <a:off x="7420611" y="2363391"/>
            <a:ext cx="1457332"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features</a:t>
            </a:r>
          </a:p>
        </p:txBody>
      </p:sp>
      <p:sp>
        <p:nvSpPr>
          <p:cNvPr id="14" name="TextBox 13">
            <a:extLst xmlns:a="http://schemas.openxmlformats.org/drawingml/2006/main">
              <a:ext uri="{FF2B5EF4-FFF2-40B4-BE49-F238E27FC236}">
                <a16:creationId xmlns:a16="http://schemas.microsoft.com/office/drawing/2014/main" id="{CFE10197-CBD1-0A92-5367-D35E0EED7F3F}"/>
              </a:ext>
            </a:extLst>
          </p:cNvPr>
          <p:cNvSpPr>
            <a:spLocks xmlns:a="http://schemas.openxmlformats.org/drawingml/2006/main" noGrp="1"/>
          </p:cNvSpPr>
          <p:nvPr/>
        </p:nvSpPr>
        <p:spPr>
          <a:xfrm xmlns:a="http://schemas.openxmlformats.org/drawingml/2006/main">
            <a:off x="445029" y="3554988"/>
            <a:ext cx="1726091"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n_samples</a:t>
            </a:r>
          </a:p>
        </p:txBody>
      </p:sp>
      <p:sp>
        <p:nvSpPr>
          <p:cNvPr id="15" name="TextBox 14">
            <a:extLst xmlns:a="http://schemas.openxmlformats.org/drawingml/2006/main">
              <a:ext uri="{FF2B5EF4-FFF2-40B4-BE49-F238E27FC236}">
                <a16:creationId xmlns:a16="http://schemas.microsoft.com/office/drawing/2014/main" id="{5F9DAFFE-D39D-9593-2932-9B2A03BAC72C}"/>
              </a:ext>
            </a:extLst>
          </p:cNvPr>
          <p:cNvSpPr>
            <a:spLocks xmlns:a="http://schemas.openxmlformats.org/drawingml/2006/main" noGrp="1"/>
          </p:cNvSpPr>
          <p:nvPr/>
        </p:nvSpPr>
        <p:spPr>
          <a:xfrm xmlns:a="http://schemas.openxmlformats.org/drawingml/2006/main">
            <a:off x="5979698" y="3565921"/>
            <a:ext cx="530186"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&gt;=</a:t>
            </a:r>
          </a:p>
        </p:txBody>
      </p:sp>
      <p:sp>
        <p:nvSpPr>
          <p:cNvPr id="16" name="TextBox 15">
            <a:extLst xmlns:a="http://schemas.openxmlformats.org/drawingml/2006/main">
              <a:ext uri="{FF2B5EF4-FFF2-40B4-BE49-F238E27FC236}">
                <a16:creationId xmlns:a16="http://schemas.microsoft.com/office/drawing/2014/main" id="{465437E2-0E73-9070-A30D-A79F3505234F}"/>
              </a:ext>
            </a:extLst>
          </p:cNvPr>
          <p:cNvSpPr>
            <a:spLocks xmlns:a="http://schemas.openxmlformats.org/drawingml/2006/main" noGrp="1"/>
          </p:cNvSpPr>
          <p:nvPr/>
        </p:nvSpPr>
        <p:spPr>
          <a:xfrm xmlns:a="http://schemas.openxmlformats.org/drawingml/2006/main">
            <a:off x="7188729" y="3565921"/>
            <a:ext cx="1707943"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n_features</a:t>
            </a:r>
          </a:p>
        </p:txBody>
      </p:sp>
      <p:sp>
        <p:nvSpPr>
          <p:cNvPr id="18" name="Straight Connector 17">
            <a:extLst xmlns:a="http://schemas.openxmlformats.org/drawingml/2006/main">
              <a:ext uri="{FF2B5EF4-FFF2-40B4-BE49-F238E27FC236}">
                <a16:creationId xmlns:a16="http://schemas.microsoft.com/office/drawing/2014/main" id="{1B423A94-F11F-4E50-ABB3-96DACF8EEAAA}"/>
              </a:ext>
            </a:extLst>
          </p:cNvPr>
          <p:cNvSpPr>
            <a:spLocks xmlns:a="http://schemas.openxmlformats.org/drawingml/2006/main" noGrp="1"/>
          </p:cNvSpPr>
          <p:nvPr/>
        </p:nvSpPr>
        <p:spPr>
          <a:xfrm xmlns:a="http://schemas.openxmlformats.org/drawingml/2006/main">
            <a:off x="5838567" y="2328974"/>
            <a:ext cx="0" cy="2309128"/>
          </a:xfrm>
          <a:prstGeom xmlns:a="http://schemas.openxmlformats.org/drawingml/2006/main" prst="line">
            <a:avLst/>
          </a:prstGeom>
          <a:ln xmlns:a="http://schemas.openxmlformats.org/drawingml/2006/main" w="254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TextBox 19">
            <a:extLst xmlns:a="http://schemas.openxmlformats.org/drawingml/2006/main">
              <a:ext uri="{FF2B5EF4-FFF2-40B4-BE49-F238E27FC236}">
                <a16:creationId xmlns:a16="http://schemas.microsoft.com/office/drawing/2014/main" id="{075D428A-9327-3816-CE3D-F60AF6F0928F}"/>
              </a:ext>
            </a:extLst>
          </p:cNvPr>
          <p:cNvSpPr>
            <a:spLocks xmlns:a="http://schemas.openxmlformats.org/drawingml/2006/main" noGrp="1"/>
          </p:cNvSpPr>
          <p:nvPr/>
        </p:nvSpPr>
        <p:spPr>
          <a:xfrm xmlns:a="http://schemas.openxmlformats.org/drawingml/2006/main">
            <a:off x="2231369" y="2899798"/>
            <a:ext cx="3358910" cy="4767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r>
                    <a:rPr xmlns:a="http://schemas.openxmlformats.org/drawingml/2006/main" lang="en-US" sz="1200" i="1">
                      <a:latin typeface="Cambria Math"/>
                      <a:ea typeface="Cambria Math"/>
                      <a:cs typeface="Cambria Math"/>
                    </a:rPr>
                    <m:t>𝜂</m:t>
                  </m:r>
                  <m:d>
                    <m:dPr>
                      <m:grow m:val="off"/>
                    </m:dPr>
                    <m:e>
                      <m:sSub>
                        <m:e>
                          <m:r>
                            <a:rPr xmlns:a="http://schemas.openxmlformats.org/drawingml/2006/main" lang="en-US" sz="1200" i="1">
                              <a:latin typeface="Cambria Math"/>
                              <a:ea typeface="Cambria Math"/>
                              <a:cs typeface="Cambria Math"/>
                            </a:rPr>
                            <m:t>𝑠</m:t>
                          </m:r>
                        </m:e>
                        <m:sub>
                          <m:r>
                            <a:rPr xmlns:a="http://schemas.openxmlformats.org/drawingml/2006/main" lang="en-US" sz="1200" i="1">
                              <a:latin typeface="Cambria Math"/>
                              <a:ea typeface="Cambria Math"/>
                              <a:cs typeface="Cambria Math"/>
                            </a:rPr>
                            <m:t>1</m:t>
                          </m:r>
                        </m:sub>
                      </m:sSub>
                      <m:r>
                        <a:rPr xmlns:a="http://schemas.openxmlformats.org/drawingml/2006/main" lang="en-US" sz="1200" i="1">
                          <a:latin typeface="Cambria Math"/>
                          <a:ea typeface="Cambria Math"/>
                          <a:cs typeface="Cambria Math"/>
                        </a:rPr>
                        <m:t>,</m:t>
                      </m:r>
                      <m:sSub>
                        <m:e>
                          <m:r>
                            <a:rPr xmlns:a="http://schemas.openxmlformats.org/drawingml/2006/main" lang="en-US" sz="1200" i="1">
                              <a:latin typeface="Cambria Math"/>
                              <a:ea typeface="Cambria Math"/>
                              <a:cs typeface="Cambria Math"/>
                            </a:rPr>
                            <m:t>𝑠</m:t>
                          </m:r>
                        </m:e>
                        <m:sub>
                          <m:r>
                            <a:rPr xmlns:a="http://schemas.openxmlformats.org/drawingml/2006/main" lang="en-US" sz="1200" i="1">
                              <a:latin typeface="Cambria Math"/>
                              <a:ea typeface="Cambria Math"/>
                              <a:cs typeface="Cambria Math"/>
                            </a:rPr>
                            <m:t>2</m:t>
                          </m:r>
                        </m:sub>
                      </m:sSub>
                    </m:e>
                  </m:d>
                  <m:r>
                    <a:rPr xmlns:a="http://schemas.openxmlformats.org/drawingml/2006/main" lang="en-US" sz="1200" i="1">
                      <a:latin typeface="Cambria Math"/>
                      <a:ea typeface="Cambria Math"/>
                      <a:cs typeface="Cambria Math"/>
                    </a:rPr>
                    <m:t>=</m:t>
                  </m:r>
                  <m:r>
                    <a:rPr xmlns:a="http://schemas.openxmlformats.org/drawingml/2006/main" lang="en-US" sz="1200" i="1">
                      <a:latin typeface="Cambria Math"/>
                      <a:ea typeface="Cambria Math"/>
                      <a:cs typeface="Cambria Math"/>
                    </a:rPr>
                    <m:t>𝑁𝐿𝐷</m:t>
                  </m:r>
                  <m:r>
                    <a:rPr xmlns:a="http://schemas.openxmlformats.org/drawingml/2006/main" lang="en-US" sz="1200" i="1">
                      <a:latin typeface="Cambria Math"/>
                      <a:ea typeface="Cambria Math"/>
                      <a:cs typeface="Cambria Math"/>
                    </a:rPr>
                    <m:t xml:space="preserve">=1− </m:t>
                  </m:r>
                  <m:f>
                    <m:num>
                      <m:r>
                        <a:rPr xmlns:a="http://schemas.openxmlformats.org/drawingml/2006/main" lang="en-US" sz="1200" i="1">
                          <a:latin typeface="Cambria Math"/>
                          <a:ea typeface="Cambria Math"/>
                          <a:cs typeface="Cambria Math"/>
                        </a:rPr>
                        <m:t>𝐿𝐷</m:t>
                      </m:r>
                      <m:r>
                        <a:rPr xmlns:a="http://schemas.openxmlformats.org/drawingml/2006/main" lang="en-US" sz="1200" i="1">
                          <a:latin typeface="Cambria Math"/>
                          <a:ea typeface="Cambria Math"/>
                          <a:cs typeface="Cambria Math"/>
                        </a:rPr>
                        <m:t>(</m:t>
                      </m:r>
                      <m:sSub>
                        <m:e>
                          <m:r>
                            <a:rPr xmlns:a="http://schemas.openxmlformats.org/drawingml/2006/main" lang="en-US" sz="1200" i="1">
                              <a:latin typeface="Cambria Math"/>
                              <a:ea typeface="Cambria Math"/>
                              <a:cs typeface="Cambria Math"/>
                            </a:rPr>
                            <m:t>𝑠</m:t>
                          </m:r>
                        </m:e>
                        <m:sub>
                          <m:r>
                            <a:rPr xmlns:a="http://schemas.openxmlformats.org/drawingml/2006/main" lang="en-US" sz="1200" i="1">
                              <a:latin typeface="Cambria Math"/>
                              <a:ea typeface="Cambria Math"/>
                              <a:cs typeface="Cambria Math"/>
                            </a:rPr>
                            <m:t>1</m:t>
                          </m:r>
                        </m:sub>
                      </m:sSub>
                      <m:r>
                        <a:rPr xmlns:a="http://schemas.openxmlformats.org/drawingml/2006/main" lang="en-US" sz="1200" i="1">
                          <a:latin typeface="Cambria Math"/>
                          <a:ea typeface="Cambria Math"/>
                          <a:cs typeface="Cambria Math"/>
                        </a:rPr>
                        <m:t>,</m:t>
                      </m:r>
                      <m:sSub>
                        <m:e>
                          <m:r>
                            <a:rPr xmlns:a="http://schemas.openxmlformats.org/drawingml/2006/main" lang="en-US" sz="1200" i="1">
                              <a:latin typeface="Cambria Math"/>
                              <a:ea typeface="Cambria Math"/>
                              <a:cs typeface="Cambria Math"/>
                            </a:rPr>
                            <m:t>𝑠</m:t>
                          </m:r>
                        </m:e>
                        <m:sub>
                          <m:r>
                            <a:rPr xmlns:a="http://schemas.openxmlformats.org/drawingml/2006/main" lang="en-US" sz="1200" i="1">
                              <a:latin typeface="Cambria Math"/>
                              <a:ea typeface="Cambria Math"/>
                              <a:cs typeface="Cambria Math"/>
                            </a:rPr>
                            <m:t>2</m:t>
                          </m:r>
                        </m:sub>
                      </m:sSub>
                      <m:r>
                        <a:rPr xmlns:a="http://schemas.openxmlformats.org/drawingml/2006/main" lang="en-US" sz="1200" i="1">
                          <a:latin typeface="Cambria Math"/>
                          <a:ea typeface="Cambria Math"/>
                          <a:cs typeface="Cambria Math"/>
                        </a:rPr>
                        <m:t>)</m:t>
                      </m:r>
                    </m:num>
                    <m:den>
                      <m:r>
                        <a:rPr xmlns:a="http://schemas.openxmlformats.org/drawingml/2006/main" lang="en-US" sz="1200" i="1">
                          <a:latin typeface="Cambria Math"/>
                          <a:ea typeface="Cambria Math"/>
                          <a:cs typeface="Cambria Math"/>
                        </a:rPr>
                        <m:t>𝑚𝑎𝑥</m:t>
                      </m:r>
                      <m:r>
                        <a:rPr xmlns:a="http://schemas.openxmlformats.org/drawingml/2006/main" lang="en-US" sz="1200" i="1">
                          <a:latin typeface="Cambria Math"/>
                          <a:ea typeface="Cambria Math"/>
                          <a:cs typeface="Cambria Math"/>
                        </a:rPr>
                        <m:t>(</m:t>
                      </m:r>
                      <m:d>
                        <m:dPr>
                          <m:begChr m:val="|"/>
                          <m:endChr m:val="|"/>
                          <m:grow m:val="off"/>
                        </m:dPr>
                        <m:e>
                          <m:sSub>
                            <m:e>
                              <m:r>
                                <a:rPr xmlns:a="http://schemas.openxmlformats.org/drawingml/2006/main" lang="en-US" sz="1200" i="1">
                                  <a:latin typeface="Cambria Math"/>
                                  <a:ea typeface="Cambria Math"/>
                                  <a:cs typeface="Cambria Math"/>
                                </a:rPr>
                                <m:t>𝑠</m:t>
                              </m:r>
                            </m:e>
                            <m:sub>
                              <m:r>
                                <a:rPr xmlns:a="http://schemas.openxmlformats.org/drawingml/2006/main" lang="en-US" sz="1200" i="1">
                                  <a:latin typeface="Cambria Math"/>
                                  <a:ea typeface="Cambria Math"/>
                                  <a:cs typeface="Cambria Math"/>
                                </a:rPr>
                                <m:t>1</m:t>
                              </m:r>
                            </m:sub>
                          </m:sSub>
                        </m:e>
                      </m:d>
                      <m:r>
                        <a:rPr xmlns:a="http://schemas.openxmlformats.org/drawingml/2006/main" lang="en-US" sz="1200" i="1">
                          <a:latin typeface="Cambria Math"/>
                          <a:ea typeface="Cambria Math"/>
                          <a:cs typeface="Cambria Math"/>
                        </a:rPr>
                        <m:t xml:space="preserve">, </m:t>
                      </m:r>
                      <m:d>
                        <m:dPr>
                          <m:begChr m:val="|"/>
                          <m:endChr m:val="|"/>
                          <m:grow m:val="off"/>
                        </m:dPr>
                        <m:e>
                          <m:sSub>
                            <m:e>
                              <m:r>
                                <a:rPr xmlns:a="http://schemas.openxmlformats.org/drawingml/2006/main" lang="en-US" sz="1200" i="1">
                                  <a:latin typeface="Cambria Math"/>
                                  <a:ea typeface="Cambria Math"/>
                                  <a:cs typeface="Cambria Math"/>
                                </a:rPr>
                                <m:t>𝑠</m:t>
                              </m:r>
                            </m:e>
                            <m:sub>
                              <m:r>
                                <a:rPr xmlns:a="http://schemas.openxmlformats.org/drawingml/2006/main" lang="en-US" sz="1200" i="1">
                                  <a:latin typeface="Cambria Math"/>
                                  <a:ea typeface="Cambria Math"/>
                                  <a:cs typeface="Cambria Math"/>
                                </a:rPr>
                                <m:t>2</m:t>
                              </m:r>
                            </m:sub>
                          </m:sSub>
                        </m:e>
                      </m:d>
                      <m:r>
                        <a:rPr xmlns:a="http://schemas.openxmlformats.org/drawingml/2006/main" lang="en-US" sz="1200" i="1">
                          <a:latin typeface="Cambria Math"/>
                          <a:ea typeface="Cambria Math"/>
                          <a:cs typeface="Cambria Math"/>
                        </a:rPr>
                        <m:t>)</m:t>
                      </m:r>
                    </m:den>
                  </m:f>
                </m:oMath>
              </m:oMathPara>
            </a14:m>
          </a:p>
        </p:txBody>
      </p:sp>
      <p:sp>
        <p:nvSpPr>
          <p:cNvPr id="24" name="Content Placeholder 2">
            <a:extLst xmlns:a="http://schemas.openxmlformats.org/drawingml/2006/main">
              <a:ext uri="{FF2B5EF4-FFF2-40B4-BE49-F238E27FC236}">
                <a16:creationId xmlns:a16="http://schemas.microsoft.com/office/drawing/2014/main" id="{F9EC0078-6C71-FC0D-F6E9-12DDA14D5381}"/>
              </a:ext>
            </a:extLst>
          </p:cNvPr>
          <p:cNvSpPr>
            <a:spLocks xmlns:a="http://schemas.openxmlformats.org/drawingml/2006/main" noGrp="1"/>
          </p:cNvSpPr>
          <p:nvPr/>
        </p:nvSpPr>
        <p:spPr>
          <a:xfrm xmlns:a="http://schemas.openxmlformats.org/drawingml/2006/main">
            <a:off x="628650" y="1174802"/>
            <a:ext cx="7886700" cy="994172"/>
          </a:xfrm>
          <a:prstGeom xmlns:a="http://schemas.openxmlformats.org/drawingml/2006/main" prst="rect">
            <a:avLst/>
          </a:prstGeom>
        </p:spPr>
        <p:txBody>
          <a:bodyPr xmlns:a="http://schemas.openxmlformats.org/drawingml/2006/main" vert="horz" lIns="68580" tIns="34290" rIns="68580" bIns="34290">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800">
                <a:latin typeface="Gill Sans MT"/>
                <a:ea typeface="Gill Sans MT"/>
                <a:cs typeface="Gill Sans MT"/>
              </a:rPr>
              <a:t>Constraint in doc-constraint: </a:t>
            </a:r>
            <a:r>
              <a:rPr sz="1800">
                <a:solidFill>
                  <a:schemeClr val="accent6">
                    <a:lumMod val="75000"/>
                  </a:schemeClr>
                </a:solidFill>
                <a:latin typeface="Consolas"/>
                <a:ea typeface="Consolas"/>
                <a:cs typeface="Consolas"/>
              </a:rPr>
              <a:t>(samples &lt; features)</a:t>
            </a:r>
            <a:r>
              <a:rPr sz="1800" b="1">
                <a:solidFill>
                  <a:schemeClr val="accent6">
                    <a:lumMod val="75000"/>
                  </a:schemeClr>
                </a:solidFill>
                <a:latin typeface="Consolas"/>
                <a:ea typeface="Consolas"/>
                <a:cs typeface="Consolas"/>
              </a:rPr>
              <a:t> </a:t>
            </a:r>
            <a14:m xmlns:a14="http://schemas.microsoft.com/office/drawing/2010/main">
              <m:oMathPara xmlns:m="http://schemas.openxmlformats.org/officeDocument/2006/math">
                <m:oMath>
                  <m:r>
                    <a:rPr xmlns:a="http://schemas.openxmlformats.org/drawingml/2006/main" lang="en-US" sz="1800" b="1">
                      <a:solidFill>
                        <a:schemeClr val="accent6">
                          <a:lumMod val="75000"/>
                        </a:schemeClr>
                      </a:solidFill>
                      <a:latin typeface="Cambria Math"/>
                      <a:ea typeface="Cambria Math"/>
                      <a:cs typeface="Cambria Math"/>
                    </a:rPr>
                    <m:t>∧</m:t>
                  </m:r>
                </m:oMath>
              </m:oMathPara>
            </a14:m>
            <a:r>
              <a:rPr sz="1800">
                <a:solidFill>
                  <a:schemeClr val="accent6">
                    <a:lumMod val="75000"/>
                  </a:schemeClr>
                </a:solidFill>
                <a:latin typeface="Consolas"/>
                <a:ea typeface="Consolas"/>
                <a:cs typeface="Consolas"/>
              </a:rPr>
              <a:t> (dual = True)</a:t>
            </a:r>
          </a:p>
          <a:p xmlns:a="http://schemas.openxmlformats.org/drawingml/2006/main">
            <a:r>
              <a:rPr sz="1800">
                <a:latin typeface="Gill Sans MT"/>
                <a:ea typeface="Gill Sans MT"/>
                <a:cs typeface="Gill Sans MT"/>
              </a:rPr>
              <a:t>Expression in code: </a:t>
            </a:r>
            <a:r>
              <a:rPr sz="1800">
                <a:solidFill>
                  <a:srgbClr val="0070C0"/>
                </a:solidFill>
                <a:latin typeface="Consolas"/>
                <a:ea typeface="Consolas"/>
                <a:cs typeface="Consolas"/>
              </a:rPr>
              <a:t>n_samples</a:t>
            </a:r>
            <a:r>
              <a:rPr sz="1800">
                <a:solidFill>
                  <a:srgbClr val="0070C0"/>
                </a:solidFill>
                <a:latin typeface="Consolas"/>
                <a:ea typeface="Consolas"/>
                <a:cs typeface="Consolas"/>
              </a:rPr>
              <a:t> &gt;= </a:t>
            </a:r>
            <a:r>
              <a:rPr sz="1800">
                <a:solidFill>
                  <a:srgbClr val="0070C0"/>
                </a:solidFill>
                <a:latin typeface="Consolas"/>
                <a:ea typeface="Consolas"/>
                <a:cs typeface="Consolas"/>
              </a:rPr>
              <a:t>n_features</a:t>
            </a:r>
            <a:r>
              <a:rPr sz="1800">
                <a:solidFill>
                  <a:srgbClr val="0070C0"/>
                </a:solidFill>
                <a:latin typeface="Consolas"/>
                <a:ea typeface="Consolas"/>
                <a:cs typeface="Consolas"/>
              </a:rPr>
              <a:t>, dual = True</a:t>
            </a:r>
          </a:p>
        </p:txBody>
      </p:sp>
      <p:sp>
        <p:nvSpPr>
          <p:cNvPr id="3" name="Slide Number Placeholder 2">
            <a:extLst xmlns:a="http://schemas.openxmlformats.org/drawingml/2006/main">
              <a:ext uri="{FF2B5EF4-FFF2-40B4-BE49-F238E27FC236}">
                <a16:creationId xmlns:a16="http://schemas.microsoft.com/office/drawing/2014/main" id="{74DAEFC5-E05F-2C79-6586-0523411568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FAD317D-785F-D548-8C8D-E6A38DF552FC}" type="slidenum">
              <a:t>41</a:t>
            </a:fld>
          </a:p>
        </p:txBody>
      </p:sp>
      <p:sp>
        <p:nvSpPr>
          <p:cNvPr id="17" name="Title 1">
            <a:extLst xmlns:a="http://schemas.openxmlformats.org/drawingml/2006/main">
              <a:ext uri="{FF2B5EF4-FFF2-40B4-BE49-F238E27FC236}">
                <a16:creationId xmlns:a16="http://schemas.microsoft.com/office/drawing/2014/main" id="{0A4378CE-88DA-CBF9-B4B6-E6CA93EADF78}"/>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a:t>
            </a:r>
            <a:r>
              <a:rPr sz="950" b="1">
                <a:solidFill>
                  <a:srgbClr val="654A9B"/>
                </a:solidFill>
              </a:rPr>
              <a:t>METHOD</a:t>
            </a:r>
          </a:p>
          <a:p xmlns:a="http://schemas.openxmlformats.org/drawingml/2006/main">
            <a:pPr>
              <a:lnSpc>
                <a:spcPct val="98000"/>
              </a:lnSpc>
              <a:buNone/>
            </a:pPr>
            <a:r>
              <a:rPr sz="2250" b="1">
                <a:solidFill>
                  <a:srgbClr val="20252C"/>
                </a:solidFill>
              </a:rPr>
              <a:t>FCL - Expression similarity</a:t>
            </a:r>
          </a:p>
        </p:txBody>
      </p:sp>
    </p:spTree>
    <p:extLst>
      <p:ext uri="{BB962C8B-B14F-4D97-AF65-F5344CB8AC3E}">
        <p14:creationId xmlns:p14="http://schemas.microsoft.com/office/powerpoint/2010/main" val="3462938514"/>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A602EDEF-43D6-CF43-7D36-E0CA35B175A2}"/>
              </a:ext>
            </a:extLst>
          </p:cNvPr>
          <p:cNvSpPr>
            <a:spLocks xmlns:a="http://schemas.openxmlformats.org/drawingml/2006/main" noGrp="1"/>
          </p:cNvSpPr>
          <p:nvPr/>
        </p:nvSpPr>
        <p:spPr>
          <a:xfrm xmlns:a="http://schemas.openxmlformats.org/drawingml/2006/main">
            <a:off x="553732" y="2352459"/>
            <a:ext cx="1290515"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samples</a:t>
            </a:r>
          </a:p>
        </p:txBody>
      </p:sp>
      <p:sp>
        <p:nvSpPr>
          <p:cNvPr id="7" name="Down Arrow 6">
            <a:extLst xmlns:a="http://schemas.openxmlformats.org/drawingml/2006/main">
              <a:ext uri="{FF2B5EF4-FFF2-40B4-BE49-F238E27FC236}">
                <a16:creationId xmlns:a16="http://schemas.microsoft.com/office/drawing/2014/main" id="{85839B98-0683-66AE-B3A5-BB5626C5A0B3}"/>
              </a:ext>
            </a:extLst>
          </p:cNvPr>
          <p:cNvSpPr>
            <a:spLocks xmlns:a="http://schemas.openxmlformats.org/drawingml/2006/main" noGrp="1"/>
          </p:cNvSpPr>
          <p:nvPr/>
        </p:nvSpPr>
        <p:spPr>
          <a:xfrm xmlns:a="http://schemas.openxmlformats.org/drawingml/2006/main">
            <a:off x="1084300" y="2854458"/>
            <a:ext cx="213155" cy="545284"/>
          </a:xfrm>
          <a:prstGeom xmlns:a="http://schemas.openxmlformats.org/drawingml/2006/main" prst="downArrow">
            <a:avLst/>
          </a:prstGeom>
        </p:spPr>
        <p:style>
          <a:lnRef xmlns:a="http://schemas.openxmlformats.org/drawingml/2006/main" idx="2">
            <a:schemeClr val="accent2">
              <a:shade val="15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Down Arrow 8">
            <a:extLst xmlns:a="http://schemas.openxmlformats.org/drawingml/2006/main">
              <a:ext uri="{FF2B5EF4-FFF2-40B4-BE49-F238E27FC236}">
                <a16:creationId xmlns:a16="http://schemas.microsoft.com/office/drawing/2014/main" id="{2782414B-A5CC-7412-4880-345BDBA1863C}"/>
              </a:ext>
            </a:extLst>
          </p:cNvPr>
          <p:cNvSpPr>
            <a:spLocks xmlns:a="http://schemas.openxmlformats.org/drawingml/2006/main" noGrp="1"/>
          </p:cNvSpPr>
          <p:nvPr/>
        </p:nvSpPr>
        <p:spPr>
          <a:xfrm xmlns:a="http://schemas.openxmlformats.org/drawingml/2006/main">
            <a:off x="2390080" y="2865560"/>
            <a:ext cx="213155" cy="545284"/>
          </a:xfrm>
          <a:prstGeom xmlns:a="http://schemas.openxmlformats.org/drawingml/2006/main" prst="downArrow">
            <a:avLst/>
          </a:prstGeom>
        </p:spPr>
        <p:style>
          <a:lnRef xmlns:a="http://schemas.openxmlformats.org/drawingml/2006/main" idx="2">
            <a:schemeClr val="accent2">
              <a:shade val="15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Down Arrow 9">
            <a:extLst xmlns:a="http://schemas.openxmlformats.org/drawingml/2006/main">
              <a:ext uri="{FF2B5EF4-FFF2-40B4-BE49-F238E27FC236}">
                <a16:creationId xmlns:a16="http://schemas.microsoft.com/office/drawing/2014/main" id="{EA005E8D-4985-3C3A-A952-76E2CE5BA538}"/>
              </a:ext>
            </a:extLst>
          </p:cNvPr>
          <p:cNvSpPr>
            <a:spLocks xmlns:a="http://schemas.openxmlformats.org/drawingml/2006/main" noGrp="1"/>
          </p:cNvSpPr>
          <p:nvPr/>
        </p:nvSpPr>
        <p:spPr>
          <a:xfrm xmlns:a="http://schemas.openxmlformats.org/drawingml/2006/main">
            <a:off x="8042700" y="2855084"/>
            <a:ext cx="213155" cy="545284"/>
          </a:xfrm>
          <a:prstGeom xmlns:a="http://schemas.openxmlformats.org/drawingml/2006/main" prst="downArrow">
            <a:avLst/>
          </a:prstGeom>
        </p:spPr>
        <p:style>
          <a:lnRef xmlns:a="http://schemas.openxmlformats.org/drawingml/2006/main" idx="2">
            <a:schemeClr val="accent2">
              <a:shade val="15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11B6142D-5C29-1CC8-D330-49CA05790EDC}"/>
              </a:ext>
            </a:extLst>
          </p:cNvPr>
          <p:cNvSpPr>
            <a:spLocks xmlns:a="http://schemas.openxmlformats.org/drawingml/2006/main" noGrp="1"/>
          </p:cNvSpPr>
          <p:nvPr/>
        </p:nvSpPr>
        <p:spPr>
          <a:xfrm xmlns:a="http://schemas.openxmlformats.org/drawingml/2006/main">
            <a:off x="2338722" y="2381631"/>
            <a:ext cx="315869"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&gt;</a:t>
            </a:r>
          </a:p>
        </p:txBody>
      </p:sp>
      <p:sp>
        <p:nvSpPr>
          <p:cNvPr id="8" name="TextBox 7">
            <a:extLst xmlns:a="http://schemas.openxmlformats.org/drawingml/2006/main">
              <a:ext uri="{FF2B5EF4-FFF2-40B4-BE49-F238E27FC236}">
                <a16:creationId xmlns:a16="http://schemas.microsoft.com/office/drawing/2014/main" id="{65336EDE-03D6-E5ED-3B7A-EB90863F59BB}"/>
              </a:ext>
            </a:extLst>
          </p:cNvPr>
          <p:cNvSpPr>
            <a:spLocks xmlns:a="http://schemas.openxmlformats.org/drawingml/2006/main" noGrp="1"/>
          </p:cNvSpPr>
          <p:nvPr/>
        </p:nvSpPr>
        <p:spPr>
          <a:xfrm xmlns:a="http://schemas.openxmlformats.org/drawingml/2006/main">
            <a:off x="7420611" y="2363391"/>
            <a:ext cx="1457332"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features</a:t>
            </a:r>
          </a:p>
        </p:txBody>
      </p:sp>
      <p:sp>
        <p:nvSpPr>
          <p:cNvPr id="14" name="TextBox 13">
            <a:extLst xmlns:a="http://schemas.openxmlformats.org/drawingml/2006/main">
              <a:ext uri="{FF2B5EF4-FFF2-40B4-BE49-F238E27FC236}">
                <a16:creationId xmlns:a16="http://schemas.microsoft.com/office/drawing/2014/main" id="{C4280C34-E6E4-D4A6-89D1-D191C1DEBAA8}"/>
              </a:ext>
            </a:extLst>
          </p:cNvPr>
          <p:cNvSpPr>
            <a:spLocks xmlns:a="http://schemas.openxmlformats.org/drawingml/2006/main" noGrp="1"/>
          </p:cNvSpPr>
          <p:nvPr/>
        </p:nvSpPr>
        <p:spPr>
          <a:xfrm xmlns:a="http://schemas.openxmlformats.org/drawingml/2006/main">
            <a:off x="445029" y="3554988"/>
            <a:ext cx="1726091"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n_samples</a:t>
            </a:r>
          </a:p>
        </p:txBody>
      </p:sp>
      <p:sp>
        <p:nvSpPr>
          <p:cNvPr id="15" name="TextBox 14">
            <a:extLst xmlns:a="http://schemas.openxmlformats.org/drawingml/2006/main">
              <a:ext uri="{FF2B5EF4-FFF2-40B4-BE49-F238E27FC236}">
                <a16:creationId xmlns:a16="http://schemas.microsoft.com/office/drawing/2014/main" id="{A456ABCA-F658-C6B0-1555-6646395532FD}"/>
              </a:ext>
            </a:extLst>
          </p:cNvPr>
          <p:cNvSpPr>
            <a:spLocks xmlns:a="http://schemas.openxmlformats.org/drawingml/2006/main" noGrp="1"/>
          </p:cNvSpPr>
          <p:nvPr/>
        </p:nvSpPr>
        <p:spPr>
          <a:xfrm xmlns:a="http://schemas.openxmlformats.org/drawingml/2006/main">
            <a:off x="2231564" y="3576397"/>
            <a:ext cx="530186"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&lt;=</a:t>
            </a:r>
          </a:p>
        </p:txBody>
      </p:sp>
      <p:sp>
        <p:nvSpPr>
          <p:cNvPr id="16" name="TextBox 15">
            <a:extLst xmlns:a="http://schemas.openxmlformats.org/drawingml/2006/main">
              <a:ext uri="{FF2B5EF4-FFF2-40B4-BE49-F238E27FC236}">
                <a16:creationId xmlns:a16="http://schemas.microsoft.com/office/drawing/2014/main" id="{4DBBC8CF-8E9F-C5F7-8535-3A6249C93288}"/>
              </a:ext>
            </a:extLst>
          </p:cNvPr>
          <p:cNvSpPr>
            <a:spLocks xmlns:a="http://schemas.openxmlformats.org/drawingml/2006/main" noGrp="1"/>
          </p:cNvSpPr>
          <p:nvPr/>
        </p:nvSpPr>
        <p:spPr>
          <a:xfrm xmlns:a="http://schemas.openxmlformats.org/drawingml/2006/main">
            <a:off x="7289709" y="3554988"/>
            <a:ext cx="1707943"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n_features</a:t>
            </a:r>
          </a:p>
        </p:txBody>
      </p:sp>
      <p:sp>
        <p:nvSpPr>
          <p:cNvPr id="18" name="Straight Connector 17">
            <a:extLst xmlns:a="http://schemas.openxmlformats.org/drawingml/2006/main">
              <a:ext uri="{FF2B5EF4-FFF2-40B4-BE49-F238E27FC236}">
                <a16:creationId xmlns:a16="http://schemas.microsoft.com/office/drawing/2014/main" id="{7448073A-75C0-44ED-A103-66CD85057B24}"/>
              </a:ext>
            </a:extLst>
          </p:cNvPr>
          <p:cNvSpPr>
            <a:spLocks xmlns:a="http://schemas.openxmlformats.org/drawingml/2006/main" noGrp="1"/>
          </p:cNvSpPr>
          <p:nvPr/>
        </p:nvSpPr>
        <p:spPr>
          <a:xfrm xmlns:a="http://schemas.openxmlformats.org/drawingml/2006/main">
            <a:off x="2143317" y="2245178"/>
            <a:ext cx="0" cy="2309128"/>
          </a:xfrm>
          <a:prstGeom xmlns:a="http://schemas.openxmlformats.org/drawingml/2006/main" prst="line">
            <a:avLst/>
          </a:prstGeom>
          <a:ln xmlns:a="http://schemas.openxmlformats.org/drawingml/2006/main" w="254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Straight Connector 5">
            <a:extLst xmlns:a="http://schemas.openxmlformats.org/drawingml/2006/main">
              <a:ext uri="{FF2B5EF4-FFF2-40B4-BE49-F238E27FC236}">
                <a16:creationId xmlns:a16="http://schemas.microsoft.com/office/drawing/2014/main" id="{C6C92C6C-A7D4-4D8D-97EC-00883503B67B}"/>
              </a:ext>
            </a:extLst>
          </p:cNvPr>
          <p:cNvSpPr>
            <a:spLocks xmlns:a="http://schemas.openxmlformats.org/drawingml/2006/main" noGrp="1"/>
          </p:cNvSpPr>
          <p:nvPr/>
        </p:nvSpPr>
        <p:spPr>
          <a:xfrm xmlns:a="http://schemas.openxmlformats.org/drawingml/2006/main">
            <a:off x="7289708" y="2186301"/>
            <a:ext cx="0" cy="2309128"/>
          </a:xfrm>
          <a:prstGeom xmlns:a="http://schemas.openxmlformats.org/drawingml/2006/main" prst="line">
            <a:avLst/>
          </a:prstGeom>
          <a:ln xmlns:a="http://schemas.openxmlformats.org/drawingml/2006/main" w="254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2" name="TextBox 11">
            <a:extLst xmlns:a="http://schemas.openxmlformats.org/drawingml/2006/main">
              <a:ext uri="{FF2B5EF4-FFF2-40B4-BE49-F238E27FC236}">
                <a16:creationId xmlns:a16="http://schemas.microsoft.com/office/drawing/2014/main" id="{FBDC6779-FA00-F665-5778-63F0AF1EF2E3}"/>
              </a:ext>
            </a:extLst>
          </p:cNvPr>
          <p:cNvSpPr>
            <a:spLocks xmlns:a="http://schemas.openxmlformats.org/drawingml/2006/main" noGrp="1"/>
          </p:cNvSpPr>
          <p:nvPr/>
        </p:nvSpPr>
        <p:spPr>
          <a:xfrm xmlns:a="http://schemas.openxmlformats.org/drawingml/2006/main">
            <a:off x="2589729" y="2895201"/>
            <a:ext cx="1017884" cy="5078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350">
                <a:latin typeface="Gill Sans MT"/>
                <a:ea typeface="Gill Sans MT"/>
                <a:cs typeface="Gill Sans MT"/>
              </a:rPr>
              <a:t>Cosine similarity</a:t>
            </a:r>
          </a:p>
        </p:txBody>
      </p:sp>
      <p:pic>
        <p:nvPicPr>
          <p:cNvPr id="44" name="Picture 21"/>
          <p:cNvPicPr>
            <a:picLocks xmlns:a="http://schemas.openxmlformats.org/drawingml/2006/main" noChangeAspect="1"/>
          </p:cNvPicPr>
          <p:nvPr/>
        </p:nvPicPr>
        <p:blipFill>
          <a:blip xmlns:r="http://schemas.openxmlformats.org/officeDocument/2006/relationships" xmlns:a="http://schemas.openxmlformats.org/drawingml/2006/main" r:embed="R031efaf0e96a4d20"/>
          <a:stretch xmlns:a="http://schemas.openxmlformats.org/drawingml/2006/main">
            <a:fillRect l="0" t="0" r="0" b="0"/>
          </a:stretch>
        </p:blipFill>
        <p:spPr>
          <a:xfrm xmlns:a="http://schemas.openxmlformats.org/drawingml/2006/main">
            <a:off x="4707356" y="2812323"/>
            <a:ext cx="2205857" cy="557150"/>
          </a:xfrm>
          <a:prstGeom xmlns:a="http://schemas.openxmlformats.org/drawingml/2006/main" prst="rect">
            <a:avLst/>
          </a:prstGeom>
        </p:spPr>
      </p:pic>
      <p:pic>
        <p:nvPicPr>
          <p:cNvPr id="45" name="Picture 22"/>
          <p:cNvPicPr>
            <a:picLocks xmlns:a="http://schemas.openxmlformats.org/drawingml/2006/main" noChangeAspect="1"/>
          </p:cNvPicPr>
          <p:nvPr/>
        </p:nvPicPr>
        <p:blipFill>
          <a:blip xmlns:r="http://schemas.openxmlformats.org/officeDocument/2006/relationships" xmlns:a="http://schemas.openxmlformats.org/drawingml/2006/main" r:embed="Rf705e082c7b94e40"/>
          <a:stretch xmlns:a="http://schemas.openxmlformats.org/drawingml/2006/main">
            <a:fillRect l="0" t="0" r="0" b="0"/>
          </a:stretch>
        </p:blipFill>
        <p:spPr>
          <a:xfrm xmlns:a="http://schemas.openxmlformats.org/drawingml/2006/main">
            <a:off x="4251677" y="3369473"/>
            <a:ext cx="3025983" cy="1431127"/>
          </a:xfrm>
          <a:prstGeom xmlns:a="http://schemas.openxmlformats.org/drawingml/2006/main" prst="rect">
            <a:avLst/>
          </a:prstGeom>
        </p:spPr>
      </p:pic>
      <p:sp>
        <p:nvSpPr>
          <p:cNvPr id="24" name="TextBox 23">
            <a:extLst xmlns:a="http://schemas.openxmlformats.org/drawingml/2006/main">
              <a:ext uri="{FF2B5EF4-FFF2-40B4-BE49-F238E27FC236}">
                <a16:creationId xmlns:a16="http://schemas.microsoft.com/office/drawing/2014/main" id="{C616F31A-816A-B815-37E6-99266BBC8CBB}"/>
              </a:ext>
            </a:extLst>
          </p:cNvPr>
          <p:cNvSpPr>
            <a:spLocks xmlns:a="http://schemas.openxmlformats.org/drawingml/2006/main" noGrp="1"/>
          </p:cNvSpPr>
          <p:nvPr/>
        </p:nvSpPr>
        <p:spPr>
          <a:xfrm xmlns:a="http://schemas.openxmlformats.org/drawingml/2006/main">
            <a:off x="1934406" y="4051435"/>
            <a:ext cx="1508689"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r>
                    <a:rPr xmlns:a="http://schemas.openxmlformats.org/drawingml/2006/main" lang="en-US" sz="1200" i="1">
                      <a:latin typeface="Cambria Math"/>
                      <a:ea typeface="Cambria Math"/>
                      <a:cs typeface="Cambria Math"/>
                    </a:rPr>
                    <m:t>𝑐𝑜𝑠</m:t>
                  </m:r>
                  <m:r>
                    <a:rPr xmlns:a="http://schemas.openxmlformats.org/drawingml/2006/main" lang="en-US" sz="1200" i="1">
                      <a:latin typeface="Cambria Math"/>
                      <a:ea typeface="Cambria Math"/>
                      <a:cs typeface="Cambria Math"/>
                    </a:rPr>
                    <m:t>𝜃</m:t>
                  </m:r>
                  <m:r>
                    <a:rPr xmlns:a="http://schemas.openxmlformats.org/drawingml/2006/main" lang="en-US" sz="1200" i="1">
                      <a:latin typeface="Cambria Math"/>
                      <a:ea typeface="Cambria Math"/>
                      <a:cs typeface="Cambria Math"/>
                    </a:rPr>
                    <m:t>=0.41</m:t>
                  </m:r>
                </m:oMath>
              </m:oMathPara>
            </a14:m>
          </a:p>
        </p:txBody>
      </p:sp>
      <p:sp>
        <p:nvSpPr>
          <p:cNvPr id="25" name="TextBox 24">
            <a:extLst xmlns:a="http://schemas.openxmlformats.org/drawingml/2006/main">
              <a:ext uri="{FF2B5EF4-FFF2-40B4-BE49-F238E27FC236}">
                <a16:creationId xmlns:a16="http://schemas.microsoft.com/office/drawing/2014/main" id="{AAC9D454-441D-B133-8D26-17BEF969B6F2}"/>
              </a:ext>
            </a:extLst>
          </p:cNvPr>
          <p:cNvSpPr>
            <a:spLocks xmlns:a="http://schemas.openxmlformats.org/drawingml/2006/main" noGrp="1"/>
          </p:cNvSpPr>
          <p:nvPr/>
        </p:nvSpPr>
        <p:spPr>
          <a:xfrm xmlns:a="http://schemas.openxmlformats.org/drawingml/2006/main">
            <a:off x="2532361" y="2460709"/>
            <a:ext cx="1508689"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sSub>
                    <m:e>
                      <m:r>
                        <a:rPr xmlns:a="http://schemas.openxmlformats.org/drawingml/2006/main" lang="en-US" sz="1200" i="1">
                          <a:latin typeface="Cambria Math"/>
                          <a:ea typeface="Cambria Math"/>
                          <a:cs typeface="Cambria Math"/>
                        </a:rPr>
                        <m:t>𝛿</m:t>
                      </m:r>
                    </m:e>
                    <m:sub>
                      <m:r>
                        <a:rPr xmlns:a="http://schemas.openxmlformats.org/drawingml/2006/main" lang="en-US" sz="1200" i="1">
                          <a:latin typeface="Cambria Math"/>
                          <a:ea typeface="Cambria Math"/>
                          <a:cs typeface="Cambria Math"/>
                        </a:rPr>
                        <m:t>&gt;</m:t>
                      </m:r>
                    </m:sub>
                  </m:sSub>
                  <m:r>
                    <a:rPr xmlns:a="http://schemas.openxmlformats.org/drawingml/2006/main" lang="en-US" sz="1200" i="1">
                      <a:latin typeface="Cambria Math"/>
                      <a:ea typeface="Cambria Math"/>
                      <a:cs typeface="Cambria Math"/>
                    </a:rPr>
                    <m:t>=(1,0,1,0,0)</m:t>
                  </m:r>
                </m:oMath>
              </m:oMathPara>
            </a14:m>
          </a:p>
        </p:txBody>
      </p:sp>
      <p:sp>
        <p:nvSpPr>
          <p:cNvPr id="26" name="TextBox 25">
            <a:extLst xmlns:a="http://schemas.openxmlformats.org/drawingml/2006/main">
              <a:ext uri="{FF2B5EF4-FFF2-40B4-BE49-F238E27FC236}">
                <a16:creationId xmlns:a16="http://schemas.microsoft.com/office/drawing/2014/main" id="{542832F1-D553-6E97-F69C-EF63E83504CC}"/>
              </a:ext>
            </a:extLst>
          </p:cNvPr>
          <p:cNvSpPr>
            <a:spLocks xmlns:a="http://schemas.openxmlformats.org/drawingml/2006/main" noGrp="1"/>
          </p:cNvSpPr>
          <p:nvPr/>
        </p:nvSpPr>
        <p:spPr>
          <a:xfrm xmlns:a="http://schemas.openxmlformats.org/drawingml/2006/main">
            <a:off x="2589729" y="3641408"/>
            <a:ext cx="1508689"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sSub>
                    <m:e>
                      <m:r>
                        <a:rPr xmlns:a="http://schemas.openxmlformats.org/drawingml/2006/main" lang="en-US" sz="1200" i="1">
                          <a:latin typeface="Cambria Math"/>
                          <a:ea typeface="Cambria Math"/>
                          <a:cs typeface="Cambria Math"/>
                        </a:rPr>
                        <m:t>𝛿</m:t>
                      </m:r>
                    </m:e>
                    <m:sub>
                      <m:r>
                        <a:rPr xmlns:a="http://schemas.openxmlformats.org/drawingml/2006/main" lang="en-US" sz="1200" i="1">
                          <a:latin typeface="Cambria Math"/>
                          <a:ea typeface="Cambria Math"/>
                          <a:cs typeface="Cambria Math"/>
                        </a:rPr>
                        <m:t>≤</m:t>
                      </m:r>
                    </m:sub>
                  </m:sSub>
                  <m:r>
                    <a:rPr xmlns:a="http://schemas.openxmlformats.org/drawingml/2006/main" lang="en-US" sz="1200" i="1">
                      <a:latin typeface="Cambria Math"/>
                      <a:ea typeface="Cambria Math"/>
                      <a:cs typeface="Cambria Math"/>
                    </a:rPr>
                    <m:t>=(1,1,0,1,0)</m:t>
                  </m:r>
                </m:oMath>
              </m:oMathPara>
            </a14:m>
          </a:p>
        </p:txBody>
      </p:sp>
      <p:pic>
        <p:nvPicPr>
          <p:cNvPr id="49" name="Picture 26"/>
          <p:cNvPicPr>
            <a:picLocks xmlns:a="http://schemas.openxmlformats.org/drawingml/2006/main" noChangeAspect="1"/>
          </p:cNvPicPr>
          <p:nvPr/>
        </p:nvPicPr>
        <p:blipFill>
          <a:blip xmlns:r="http://schemas.openxmlformats.org/officeDocument/2006/relationships" xmlns:a="http://schemas.openxmlformats.org/drawingml/2006/main" r:embed="Rac87acc338a54785"/>
          <a:stretch xmlns:a="http://schemas.openxmlformats.org/drawingml/2006/main">
            <a:fillRect l="0" t="0" r="0" b="0"/>
          </a:stretch>
        </p:blipFill>
        <p:spPr>
          <a:xfrm xmlns:a="http://schemas.openxmlformats.org/drawingml/2006/main">
            <a:off x="4258691" y="2621266"/>
            <a:ext cx="3011955" cy="258890"/>
          </a:xfrm>
          <a:prstGeom xmlns:a="http://schemas.openxmlformats.org/drawingml/2006/main" prst="rect">
            <a:avLst/>
          </a:prstGeom>
        </p:spPr>
      </p:pic>
      <p:sp>
        <p:nvSpPr>
          <p:cNvPr id="28" name="TextBox 27">
            <a:extLst xmlns:a="http://schemas.openxmlformats.org/drawingml/2006/main">
              <a:ext uri="{FF2B5EF4-FFF2-40B4-BE49-F238E27FC236}">
                <a16:creationId xmlns:a16="http://schemas.microsoft.com/office/drawing/2014/main" id="{9089FC4A-1B08-8F73-EF38-F0E3080D5A3E}"/>
              </a:ext>
            </a:extLst>
          </p:cNvPr>
          <p:cNvSpPr>
            <a:spLocks xmlns:a="http://schemas.openxmlformats.org/drawingml/2006/main" noGrp="1"/>
          </p:cNvSpPr>
          <p:nvPr/>
        </p:nvSpPr>
        <p:spPr>
          <a:xfrm xmlns:a="http://schemas.openxmlformats.org/drawingml/2006/main">
            <a:off x="4444974" y="2110085"/>
            <a:ext cx="2656487"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1200" b="1">
                <a:latin typeface="Gill Sans MT"/>
                <a:ea typeface="Gill Sans MT"/>
                <a:cs typeface="Gill Sans MT"/>
              </a:rPr>
              <a:t>C</a:t>
            </a:r>
            <a:r>
              <a:rPr sz="1200">
                <a:latin typeface="Gill Sans MT"/>
                <a:ea typeface="Gill Sans MT"/>
                <a:cs typeface="Gill Sans MT"/>
              </a:rPr>
              <a:t>omparison, </a:t>
            </a:r>
            <a:r>
              <a:rPr sz="1200" b="1">
                <a:latin typeface="Gill Sans MT"/>
                <a:ea typeface="Gill Sans MT"/>
                <a:cs typeface="Gill Sans MT"/>
              </a:rPr>
              <a:t>E</a:t>
            </a:r>
            <a:r>
              <a:rPr sz="1200">
                <a:latin typeface="Gill Sans MT"/>
                <a:ea typeface="Gill Sans MT"/>
                <a:cs typeface="Gill Sans MT"/>
              </a:rPr>
              <a:t>quality, </a:t>
            </a:r>
            <a:r>
              <a:rPr sz="1200" b="1">
                <a:latin typeface="Gill Sans MT"/>
                <a:ea typeface="Gill Sans MT"/>
                <a:cs typeface="Gill Sans MT"/>
              </a:rPr>
              <a:t>G</a:t>
            </a:r>
            <a:r>
              <a:rPr sz="1200">
                <a:latin typeface="Gill Sans MT"/>
                <a:ea typeface="Gill Sans MT"/>
                <a:cs typeface="Gill Sans MT"/>
              </a:rPr>
              <a:t>reater than, </a:t>
            </a:r>
            <a:r>
              <a:rPr sz="1200" b="1">
                <a:latin typeface="Gill Sans MT"/>
                <a:ea typeface="Gill Sans MT"/>
                <a:cs typeface="Gill Sans MT"/>
              </a:rPr>
              <a:t>L</a:t>
            </a:r>
            <a:r>
              <a:rPr sz="1200">
                <a:latin typeface="Gill Sans MT"/>
                <a:ea typeface="Gill Sans MT"/>
                <a:cs typeface="Gill Sans MT"/>
              </a:rPr>
              <a:t>ess than, </a:t>
            </a:r>
            <a:r>
              <a:rPr sz="1200" b="1">
                <a:latin typeface="Gill Sans MT"/>
                <a:ea typeface="Gill Sans MT"/>
                <a:cs typeface="Gill Sans MT"/>
              </a:rPr>
              <a:t>N</a:t>
            </a:r>
            <a:r>
              <a:rPr sz="1200">
                <a:latin typeface="Gill Sans MT"/>
                <a:ea typeface="Gill Sans MT"/>
                <a:cs typeface="Gill Sans MT"/>
              </a:rPr>
              <a:t>egativity</a:t>
            </a:r>
          </a:p>
        </p:txBody>
      </p:sp>
      <p:sp>
        <p:nvSpPr>
          <p:cNvPr id="3" name="Content Placeholder 2">
            <a:extLst xmlns:a="http://schemas.openxmlformats.org/drawingml/2006/main">
              <a:ext uri="{FF2B5EF4-FFF2-40B4-BE49-F238E27FC236}">
                <a16:creationId xmlns:a16="http://schemas.microsoft.com/office/drawing/2014/main" id="{BDB27294-E3EF-D801-C43E-D98BBE67792E}"/>
              </a:ext>
            </a:extLst>
          </p:cNvPr>
          <p:cNvSpPr>
            <a:spLocks xmlns:a="http://schemas.openxmlformats.org/drawingml/2006/main" noGrp="1"/>
          </p:cNvSpPr>
          <p:nvPr/>
        </p:nvSpPr>
        <p:spPr>
          <a:xfrm xmlns:a="http://schemas.openxmlformats.org/drawingml/2006/main">
            <a:off x="628650" y="1174802"/>
            <a:ext cx="7886700" cy="994172"/>
          </a:xfrm>
          <a:prstGeom xmlns:a="http://schemas.openxmlformats.org/drawingml/2006/main" prst="rect">
            <a:avLst/>
          </a:prstGeom>
        </p:spPr>
        <p:txBody>
          <a:bodyPr xmlns:a="http://schemas.openxmlformats.org/drawingml/2006/main" vert="horz" lIns="68580" tIns="34290" rIns="68580" bIns="34290">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800">
                <a:latin typeface="Gill Sans MT"/>
                <a:ea typeface="Gill Sans MT"/>
                <a:cs typeface="Gill Sans MT"/>
              </a:rPr>
              <a:t>Constraint in doc-constraint: </a:t>
            </a:r>
            <a:r>
              <a:rPr sz="1800">
                <a:solidFill>
                  <a:schemeClr val="accent6">
                    <a:lumMod val="75000"/>
                  </a:schemeClr>
                </a:solidFill>
                <a:latin typeface="Consolas"/>
                <a:ea typeface="Consolas"/>
                <a:cs typeface="Consolas"/>
              </a:rPr>
              <a:t>(samples &lt; features)</a:t>
            </a:r>
            <a:r>
              <a:rPr sz="1800" b="1">
                <a:solidFill>
                  <a:schemeClr val="accent6">
                    <a:lumMod val="75000"/>
                  </a:schemeClr>
                </a:solidFill>
                <a:latin typeface="Consolas"/>
                <a:ea typeface="Consolas"/>
                <a:cs typeface="Consolas"/>
              </a:rPr>
              <a:t> </a:t>
            </a:r>
            <a14:m xmlns:a14="http://schemas.microsoft.com/office/drawing/2010/main">
              <m:oMathPara xmlns:m="http://schemas.openxmlformats.org/officeDocument/2006/math">
                <m:oMath>
                  <m:r>
                    <a:rPr xmlns:a="http://schemas.openxmlformats.org/drawingml/2006/main" lang="en-US" sz="1800" b="1">
                      <a:solidFill>
                        <a:schemeClr val="accent6">
                          <a:lumMod val="75000"/>
                        </a:schemeClr>
                      </a:solidFill>
                      <a:latin typeface="Cambria Math"/>
                      <a:ea typeface="Cambria Math"/>
                      <a:cs typeface="Cambria Math"/>
                    </a:rPr>
                    <m:t>∧</m:t>
                  </m:r>
                </m:oMath>
              </m:oMathPara>
            </a14:m>
            <a:r>
              <a:rPr sz="1800">
                <a:solidFill>
                  <a:schemeClr val="accent6">
                    <a:lumMod val="75000"/>
                  </a:schemeClr>
                </a:solidFill>
                <a:latin typeface="Consolas"/>
                <a:ea typeface="Consolas"/>
                <a:cs typeface="Consolas"/>
              </a:rPr>
              <a:t> (dual = True)</a:t>
            </a:r>
          </a:p>
          <a:p xmlns:a="http://schemas.openxmlformats.org/drawingml/2006/main">
            <a:r>
              <a:rPr sz="1800">
                <a:latin typeface="Gill Sans MT"/>
                <a:ea typeface="Gill Sans MT"/>
                <a:cs typeface="Gill Sans MT"/>
              </a:rPr>
              <a:t>Expression in code: </a:t>
            </a:r>
            <a:r>
              <a:rPr sz="1800">
                <a:solidFill>
                  <a:srgbClr val="0070C0"/>
                </a:solidFill>
                <a:latin typeface="Consolas"/>
                <a:ea typeface="Consolas"/>
                <a:cs typeface="Consolas"/>
              </a:rPr>
              <a:t>n_samples</a:t>
            </a:r>
            <a:r>
              <a:rPr sz="1800">
                <a:solidFill>
                  <a:srgbClr val="0070C0"/>
                </a:solidFill>
                <a:latin typeface="Consolas"/>
                <a:ea typeface="Consolas"/>
                <a:cs typeface="Consolas"/>
              </a:rPr>
              <a:t> &gt;= </a:t>
            </a:r>
            <a:r>
              <a:rPr sz="1800">
                <a:solidFill>
                  <a:srgbClr val="0070C0"/>
                </a:solidFill>
                <a:latin typeface="Consolas"/>
                <a:ea typeface="Consolas"/>
                <a:cs typeface="Consolas"/>
              </a:rPr>
              <a:t>n_features</a:t>
            </a:r>
            <a:r>
              <a:rPr sz="1800">
                <a:solidFill>
                  <a:srgbClr val="0070C0"/>
                </a:solidFill>
                <a:latin typeface="Consolas"/>
                <a:ea typeface="Consolas"/>
                <a:cs typeface="Consolas"/>
              </a:rPr>
              <a:t>, dual = True</a:t>
            </a:r>
          </a:p>
        </p:txBody>
      </p:sp>
      <p:sp>
        <p:nvSpPr>
          <p:cNvPr id="11" name="Slide Number Placeholder 10">
            <a:extLst xmlns:a="http://schemas.openxmlformats.org/drawingml/2006/main">
              <a:ext uri="{FF2B5EF4-FFF2-40B4-BE49-F238E27FC236}">
                <a16:creationId xmlns:a16="http://schemas.microsoft.com/office/drawing/2014/main" id="{01F27445-F5E4-1893-0528-62CE8918F85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FAD317D-785F-D548-8C8D-E6A38DF552FC}" type="slidenum">
              <a:t>42</a:t>
            </a:fld>
          </a:p>
        </p:txBody>
      </p:sp>
      <p:sp>
        <p:nvSpPr>
          <p:cNvPr id="19" name="Title 1">
            <a:extLst xmlns:a="http://schemas.openxmlformats.org/drawingml/2006/main">
              <a:ext uri="{FF2B5EF4-FFF2-40B4-BE49-F238E27FC236}">
                <a16:creationId xmlns:a16="http://schemas.microsoft.com/office/drawing/2014/main" id="{BA826307-3074-DCF2-899B-0C215E55069F}"/>
              </a:ext>
            </a:extLst>
          </p:cNvPr>
          <p:cNvSpPr>
            <a:spLocks xmlns:a="http://schemas.openxmlformats.org/drawingml/2006/main" noGrp="1"/>
          </p:cNvSpPr>
          <p:nvPr/>
        </p:nvSpPr>
        <p:spPr>
          <a:xfrm xmlns:a="http://schemas.openxmlformats.org/drawingml/2006/main">
            <a:off x="457200" y="190500"/>
            <a:ext cx="8229600" cy="8763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457200">
              <a:spcBef>
                <a:spcPct val="0"/>
              </a:spcBef>
              <a:buNone/>
              <a:defRPr sz="4400" kern="1200">
                <a:solidFill>
                  <a:schemeClr val="tx1"/>
                </a:solidFill>
                <a:latin typeface="Arial"/>
                <a:ea typeface="Arial"/>
                <a:cs typeface="Arial"/>
              </a:defRPr>
            </a:lvl1pPr>
          </a:lstStyle>
          <a:p xmlns:a="http://schemas.openxmlformats.org/drawingml/2006/main">
            <a:pPr>
              <a:lnSpc>
                <a:spcPct val="98000"/>
              </a:lnSpc>
              <a:spcAft>
                <a:spcPts val="4"/>
              </a:spcAft>
              <a:buNone/>
            </a:pPr>
            <a:r>
              <a:rPr sz="950" b="1">
                <a:solidFill>
                  <a:srgbClr val="654A9B"/>
                </a:solidFill>
              </a:rPr>
              <a:t>03 / MPCHECKER · METHOD</a:t>
            </a:r>
          </a:p>
          <a:p xmlns:a="http://schemas.openxmlformats.org/drawingml/2006/main">
            <a:pPr>
              <a:lnSpc>
                <a:spcPct val="98000"/>
              </a:lnSpc>
              <a:buNone/>
            </a:pPr>
            <a:r>
              <a:rPr sz="2250" b="1">
                <a:solidFill>
                  <a:srgbClr val="20252C"/>
                </a:solidFill>
              </a:rPr>
              <a:t>FCL - Expression similarity</a:t>
            </a:r>
          </a:p>
        </p:txBody>
      </p:sp>
    </p:spTree>
    <p:extLst>
      <p:ext uri="{BB962C8B-B14F-4D97-AF65-F5344CB8AC3E}">
        <p14:creationId xmlns:p14="http://schemas.microsoft.com/office/powerpoint/2010/main" val="3463563147"/>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E69BA8D2-DC89-8CCE-8DA9-2EBEA4BB1D09}"/>
              </a:ext>
            </a:extLst>
          </p:cNvPr>
          <p:cNvSpPr>
            <a:spLocks xmlns:a="http://schemas.openxmlformats.org/drawingml/2006/main" noGrp="1"/>
          </p:cNvSpPr>
          <p:nvPr/>
        </p:nvSpPr>
        <p:spPr>
          <a:xfrm xmlns:a="http://schemas.openxmlformats.org/drawingml/2006/main">
            <a:off x="553732" y="2352459"/>
            <a:ext cx="1290515"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samples</a:t>
            </a:r>
          </a:p>
        </p:txBody>
      </p:sp>
      <p:sp>
        <p:nvSpPr>
          <p:cNvPr id="7" name="Down Arrow 6">
            <a:extLst xmlns:a="http://schemas.openxmlformats.org/drawingml/2006/main">
              <a:ext uri="{FF2B5EF4-FFF2-40B4-BE49-F238E27FC236}">
                <a16:creationId xmlns:a16="http://schemas.microsoft.com/office/drawing/2014/main" id="{CA1BE1F8-45F6-88A9-0813-47032CE5D73E}"/>
              </a:ext>
            </a:extLst>
          </p:cNvPr>
          <p:cNvSpPr>
            <a:spLocks xmlns:a="http://schemas.openxmlformats.org/drawingml/2006/main" noGrp="1"/>
          </p:cNvSpPr>
          <p:nvPr/>
        </p:nvSpPr>
        <p:spPr>
          <a:xfrm xmlns:a="http://schemas.openxmlformats.org/drawingml/2006/main">
            <a:off x="1084300" y="2854458"/>
            <a:ext cx="213155" cy="545284"/>
          </a:xfrm>
          <a:prstGeom xmlns:a="http://schemas.openxmlformats.org/drawingml/2006/main" prst="downArrow">
            <a:avLst/>
          </a:prstGeom>
        </p:spPr>
        <p:style>
          <a:lnRef xmlns:a="http://schemas.openxmlformats.org/drawingml/2006/main" idx="2">
            <a:schemeClr val="accent2">
              <a:shade val="15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Down Arrow 8">
            <a:extLst xmlns:a="http://schemas.openxmlformats.org/drawingml/2006/main">
              <a:ext uri="{FF2B5EF4-FFF2-40B4-BE49-F238E27FC236}">
                <a16:creationId xmlns:a16="http://schemas.microsoft.com/office/drawing/2014/main" id="{965E4D14-2F5B-7126-769F-40452451FD92}"/>
              </a:ext>
            </a:extLst>
          </p:cNvPr>
          <p:cNvSpPr>
            <a:spLocks xmlns:a="http://schemas.openxmlformats.org/drawingml/2006/main" noGrp="1"/>
          </p:cNvSpPr>
          <p:nvPr/>
        </p:nvSpPr>
        <p:spPr>
          <a:xfrm xmlns:a="http://schemas.openxmlformats.org/drawingml/2006/main">
            <a:off x="2885881" y="2855084"/>
            <a:ext cx="213155" cy="545284"/>
          </a:xfrm>
          <a:prstGeom xmlns:a="http://schemas.openxmlformats.org/drawingml/2006/main" prst="downArrow">
            <a:avLst/>
          </a:prstGeom>
        </p:spPr>
        <p:style>
          <a:lnRef xmlns:a="http://schemas.openxmlformats.org/drawingml/2006/main" idx="2">
            <a:schemeClr val="accent2">
              <a:shade val="15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Down Arrow 9">
            <a:extLst xmlns:a="http://schemas.openxmlformats.org/drawingml/2006/main">
              <a:ext uri="{FF2B5EF4-FFF2-40B4-BE49-F238E27FC236}">
                <a16:creationId xmlns:a16="http://schemas.microsoft.com/office/drawing/2014/main" id="{F92C8C61-F9DB-3E9D-0B7F-B99F0DF45724}"/>
              </a:ext>
            </a:extLst>
          </p:cNvPr>
          <p:cNvSpPr>
            <a:spLocks xmlns:a="http://schemas.openxmlformats.org/drawingml/2006/main" noGrp="1"/>
          </p:cNvSpPr>
          <p:nvPr/>
        </p:nvSpPr>
        <p:spPr>
          <a:xfrm xmlns:a="http://schemas.openxmlformats.org/drawingml/2006/main">
            <a:off x="4790367" y="2855084"/>
            <a:ext cx="213155" cy="545284"/>
          </a:xfrm>
          <a:prstGeom xmlns:a="http://schemas.openxmlformats.org/drawingml/2006/main" prst="downArrow">
            <a:avLst/>
          </a:prstGeom>
        </p:spPr>
        <p:style>
          <a:lnRef xmlns:a="http://schemas.openxmlformats.org/drawingml/2006/main" idx="2">
            <a:schemeClr val="accent2">
              <a:shade val="15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7FBFAEE-4F98-E41F-4367-16B28E5C3E78}"/>
              </a:ext>
            </a:extLst>
          </p:cNvPr>
          <p:cNvSpPr>
            <a:spLocks xmlns:a="http://schemas.openxmlformats.org/drawingml/2006/main" noGrp="1"/>
          </p:cNvSpPr>
          <p:nvPr/>
        </p:nvSpPr>
        <p:spPr>
          <a:xfrm xmlns:a="http://schemas.openxmlformats.org/drawingml/2006/main">
            <a:off x="5057488" y="2791041"/>
            <a:ext cx="1017884" cy="71558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350">
                <a:latin typeface="Gill Sans MT"/>
                <a:ea typeface="Gill Sans MT"/>
                <a:cs typeface="Gill Sans MT"/>
              </a:rPr>
              <a:t>Normalized Levenshtien Distance</a:t>
            </a:r>
          </a:p>
        </p:txBody>
      </p:sp>
      <p:sp>
        <p:nvSpPr>
          <p:cNvPr id="4" name="TextBox 3">
            <a:extLst xmlns:a="http://schemas.openxmlformats.org/drawingml/2006/main">
              <a:ext uri="{FF2B5EF4-FFF2-40B4-BE49-F238E27FC236}">
                <a16:creationId xmlns:a16="http://schemas.microsoft.com/office/drawing/2014/main" id="{E891A95B-2AE8-2D67-FBAD-16D178D8612C}"/>
              </a:ext>
            </a:extLst>
          </p:cNvPr>
          <p:cNvSpPr>
            <a:spLocks xmlns:a="http://schemas.openxmlformats.org/drawingml/2006/main" noGrp="1"/>
          </p:cNvSpPr>
          <p:nvPr/>
        </p:nvSpPr>
        <p:spPr>
          <a:xfrm xmlns:a="http://schemas.openxmlformats.org/drawingml/2006/main">
            <a:off x="2834523" y="2371155"/>
            <a:ext cx="315869"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&lt;</a:t>
            </a:r>
          </a:p>
        </p:txBody>
      </p:sp>
      <p:sp>
        <p:nvSpPr>
          <p:cNvPr id="8" name="TextBox 7">
            <a:extLst xmlns:a="http://schemas.openxmlformats.org/drawingml/2006/main">
              <a:ext uri="{FF2B5EF4-FFF2-40B4-BE49-F238E27FC236}">
                <a16:creationId xmlns:a16="http://schemas.microsoft.com/office/drawing/2014/main" id="{DAEF865D-126C-7EB2-539B-00BD0C1727FA}"/>
              </a:ext>
            </a:extLst>
          </p:cNvPr>
          <p:cNvSpPr>
            <a:spLocks xmlns:a="http://schemas.openxmlformats.org/drawingml/2006/main" noGrp="1"/>
          </p:cNvSpPr>
          <p:nvPr/>
        </p:nvSpPr>
        <p:spPr>
          <a:xfrm xmlns:a="http://schemas.openxmlformats.org/drawingml/2006/main">
            <a:off x="4168278" y="2363391"/>
            <a:ext cx="1457332"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features</a:t>
            </a:r>
          </a:p>
        </p:txBody>
      </p:sp>
      <p:sp>
        <p:nvSpPr>
          <p:cNvPr id="14" name="TextBox 13">
            <a:extLst xmlns:a="http://schemas.openxmlformats.org/drawingml/2006/main">
              <a:ext uri="{FF2B5EF4-FFF2-40B4-BE49-F238E27FC236}">
                <a16:creationId xmlns:a16="http://schemas.microsoft.com/office/drawing/2014/main" id="{2D835EF0-5257-19D3-145D-7F99491D2A25}"/>
              </a:ext>
            </a:extLst>
          </p:cNvPr>
          <p:cNvSpPr>
            <a:spLocks xmlns:a="http://schemas.openxmlformats.org/drawingml/2006/main" noGrp="1"/>
          </p:cNvSpPr>
          <p:nvPr/>
        </p:nvSpPr>
        <p:spPr>
          <a:xfrm xmlns:a="http://schemas.openxmlformats.org/drawingml/2006/main">
            <a:off x="445029" y="3554988"/>
            <a:ext cx="1726091"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n_samples</a:t>
            </a:r>
          </a:p>
        </p:txBody>
      </p:sp>
      <p:sp>
        <p:nvSpPr>
          <p:cNvPr id="15" name="TextBox 14">
            <a:extLst xmlns:a="http://schemas.openxmlformats.org/drawingml/2006/main">
              <a:ext uri="{FF2B5EF4-FFF2-40B4-BE49-F238E27FC236}">
                <a16:creationId xmlns:a16="http://schemas.microsoft.com/office/drawing/2014/main" id="{08DD312F-54DC-CAE9-04D2-2D1F168D6555}"/>
              </a:ext>
            </a:extLst>
          </p:cNvPr>
          <p:cNvSpPr>
            <a:spLocks xmlns:a="http://schemas.openxmlformats.org/drawingml/2006/main" noGrp="1"/>
          </p:cNvSpPr>
          <p:nvPr/>
        </p:nvSpPr>
        <p:spPr>
          <a:xfrm xmlns:a="http://schemas.openxmlformats.org/drawingml/2006/main">
            <a:off x="2727365" y="3565921"/>
            <a:ext cx="530186"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&gt;=</a:t>
            </a:r>
          </a:p>
        </p:txBody>
      </p:sp>
      <p:sp>
        <p:nvSpPr>
          <p:cNvPr id="16" name="TextBox 15">
            <a:extLst xmlns:a="http://schemas.openxmlformats.org/drawingml/2006/main">
              <a:ext uri="{FF2B5EF4-FFF2-40B4-BE49-F238E27FC236}">
                <a16:creationId xmlns:a16="http://schemas.microsoft.com/office/drawing/2014/main" id="{660977EF-CB6C-7B17-364E-C96312295098}"/>
              </a:ext>
            </a:extLst>
          </p:cNvPr>
          <p:cNvSpPr>
            <a:spLocks xmlns:a="http://schemas.openxmlformats.org/drawingml/2006/main" noGrp="1"/>
          </p:cNvSpPr>
          <p:nvPr/>
        </p:nvSpPr>
        <p:spPr>
          <a:xfrm xmlns:a="http://schemas.openxmlformats.org/drawingml/2006/main">
            <a:off x="3936396" y="3565921"/>
            <a:ext cx="1707943"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n_features</a:t>
            </a:r>
          </a:p>
        </p:txBody>
      </p:sp>
      <p:sp>
        <p:nvSpPr>
          <p:cNvPr id="18" name="Straight Connector 17">
            <a:extLst xmlns:a="http://schemas.openxmlformats.org/drawingml/2006/main">
              <a:ext uri="{FF2B5EF4-FFF2-40B4-BE49-F238E27FC236}">
                <a16:creationId xmlns:a16="http://schemas.microsoft.com/office/drawing/2014/main" id="{94E43952-F5BC-406B-9234-EF88E731BF3C}"/>
              </a:ext>
            </a:extLst>
          </p:cNvPr>
          <p:cNvSpPr>
            <a:spLocks xmlns:a="http://schemas.openxmlformats.org/drawingml/2006/main" noGrp="1"/>
          </p:cNvSpPr>
          <p:nvPr/>
        </p:nvSpPr>
        <p:spPr>
          <a:xfrm xmlns:a="http://schemas.openxmlformats.org/drawingml/2006/main">
            <a:off x="3635394" y="2245178"/>
            <a:ext cx="0" cy="2309128"/>
          </a:xfrm>
          <a:prstGeom xmlns:a="http://schemas.openxmlformats.org/drawingml/2006/main" prst="line">
            <a:avLst/>
          </a:prstGeom>
          <a:ln xmlns:a="http://schemas.openxmlformats.org/drawingml/2006/main" w="25400">
            <a:solidFill>
              <a:schemeClr val="tx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TextBox 19">
            <a:extLst xmlns:a="http://schemas.openxmlformats.org/drawingml/2006/main">
              <a:ext uri="{FF2B5EF4-FFF2-40B4-BE49-F238E27FC236}">
                <a16:creationId xmlns:a16="http://schemas.microsoft.com/office/drawing/2014/main" id="{6D318FD3-1C89-C62D-3356-156944B12B28}"/>
              </a:ext>
            </a:extLst>
          </p:cNvPr>
          <p:cNvSpPr>
            <a:spLocks xmlns:a="http://schemas.openxmlformats.org/drawingml/2006/main" noGrp="1"/>
          </p:cNvSpPr>
          <p:nvPr/>
        </p:nvSpPr>
        <p:spPr>
          <a:xfrm xmlns:a="http://schemas.openxmlformats.org/drawingml/2006/main">
            <a:off x="5973334" y="2854459"/>
            <a:ext cx="3358910" cy="4767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r>
                    <a:rPr xmlns:a="http://schemas.openxmlformats.org/drawingml/2006/main" lang="en-US" sz="1200" i="1">
                      <a:latin typeface="Cambria Math"/>
                      <a:ea typeface="Cambria Math"/>
                      <a:cs typeface="Cambria Math"/>
                    </a:rPr>
                    <m:t>𝜂</m:t>
                  </m:r>
                  <m:d>
                    <m:dPr>
                      <m:grow m:val="off"/>
                    </m:dPr>
                    <m:e>
                      <m:sSub>
                        <m:e>
                          <m:r>
                            <a:rPr xmlns:a="http://schemas.openxmlformats.org/drawingml/2006/main" lang="en-US" sz="1200" i="1">
                              <a:latin typeface="Cambria Math"/>
                              <a:ea typeface="Cambria Math"/>
                              <a:cs typeface="Cambria Math"/>
                            </a:rPr>
                            <m:t>𝑠</m:t>
                          </m:r>
                        </m:e>
                        <m:sub>
                          <m:r>
                            <a:rPr xmlns:a="http://schemas.openxmlformats.org/drawingml/2006/main" lang="en-US" sz="1200" i="1">
                              <a:latin typeface="Cambria Math"/>
                              <a:ea typeface="Cambria Math"/>
                              <a:cs typeface="Cambria Math"/>
                            </a:rPr>
                            <m:t>1</m:t>
                          </m:r>
                        </m:sub>
                      </m:sSub>
                      <m:r>
                        <a:rPr xmlns:a="http://schemas.openxmlformats.org/drawingml/2006/main" lang="en-US" sz="1200" i="1">
                          <a:latin typeface="Cambria Math"/>
                          <a:ea typeface="Cambria Math"/>
                          <a:cs typeface="Cambria Math"/>
                        </a:rPr>
                        <m:t>,</m:t>
                      </m:r>
                      <m:sSub>
                        <m:e>
                          <m:r>
                            <a:rPr xmlns:a="http://schemas.openxmlformats.org/drawingml/2006/main" lang="en-US" sz="1200" i="1">
                              <a:latin typeface="Cambria Math"/>
                              <a:ea typeface="Cambria Math"/>
                              <a:cs typeface="Cambria Math"/>
                            </a:rPr>
                            <m:t>𝑠</m:t>
                          </m:r>
                        </m:e>
                        <m:sub>
                          <m:r>
                            <a:rPr xmlns:a="http://schemas.openxmlformats.org/drawingml/2006/main" lang="en-US" sz="1200" i="1">
                              <a:latin typeface="Cambria Math"/>
                              <a:ea typeface="Cambria Math"/>
                              <a:cs typeface="Cambria Math"/>
                            </a:rPr>
                            <m:t>2</m:t>
                          </m:r>
                        </m:sub>
                      </m:sSub>
                    </m:e>
                  </m:d>
                  <m:r>
                    <a:rPr xmlns:a="http://schemas.openxmlformats.org/drawingml/2006/main" lang="en-US" sz="1200" i="1">
                      <a:latin typeface="Cambria Math"/>
                      <a:ea typeface="Cambria Math"/>
                      <a:cs typeface="Cambria Math"/>
                    </a:rPr>
                    <m:t>=</m:t>
                  </m:r>
                  <m:r>
                    <a:rPr xmlns:a="http://schemas.openxmlformats.org/drawingml/2006/main" lang="en-US" sz="1200" i="1">
                      <a:latin typeface="Cambria Math"/>
                      <a:ea typeface="Cambria Math"/>
                      <a:cs typeface="Cambria Math"/>
                    </a:rPr>
                    <m:t>𝑁𝐿𝐷</m:t>
                  </m:r>
                  <m:r>
                    <a:rPr xmlns:a="http://schemas.openxmlformats.org/drawingml/2006/main" lang="en-US" sz="1200" i="1">
                      <a:latin typeface="Cambria Math"/>
                      <a:ea typeface="Cambria Math"/>
                      <a:cs typeface="Cambria Math"/>
                    </a:rPr>
                    <m:t xml:space="preserve">=1− </m:t>
                  </m:r>
                  <m:f>
                    <m:num>
                      <m:r>
                        <a:rPr xmlns:a="http://schemas.openxmlformats.org/drawingml/2006/main" lang="en-US" sz="1200" i="1">
                          <a:latin typeface="Cambria Math"/>
                          <a:ea typeface="Cambria Math"/>
                          <a:cs typeface="Cambria Math"/>
                        </a:rPr>
                        <m:t>𝐿𝐷</m:t>
                      </m:r>
                      <m:r>
                        <a:rPr xmlns:a="http://schemas.openxmlformats.org/drawingml/2006/main" lang="en-US" sz="1200" i="1">
                          <a:latin typeface="Cambria Math"/>
                          <a:ea typeface="Cambria Math"/>
                          <a:cs typeface="Cambria Math"/>
                        </a:rPr>
                        <m:t>(</m:t>
                      </m:r>
                      <m:sSub>
                        <m:e>
                          <m:r>
                            <a:rPr xmlns:a="http://schemas.openxmlformats.org/drawingml/2006/main" lang="en-US" sz="1200" i="1">
                              <a:latin typeface="Cambria Math"/>
                              <a:ea typeface="Cambria Math"/>
                              <a:cs typeface="Cambria Math"/>
                            </a:rPr>
                            <m:t>𝑠</m:t>
                          </m:r>
                        </m:e>
                        <m:sub>
                          <m:r>
                            <a:rPr xmlns:a="http://schemas.openxmlformats.org/drawingml/2006/main" lang="en-US" sz="1200" i="1">
                              <a:latin typeface="Cambria Math"/>
                              <a:ea typeface="Cambria Math"/>
                              <a:cs typeface="Cambria Math"/>
                            </a:rPr>
                            <m:t>1</m:t>
                          </m:r>
                        </m:sub>
                      </m:sSub>
                      <m:r>
                        <a:rPr xmlns:a="http://schemas.openxmlformats.org/drawingml/2006/main" lang="en-US" sz="1200" i="1">
                          <a:latin typeface="Cambria Math"/>
                          <a:ea typeface="Cambria Math"/>
                          <a:cs typeface="Cambria Math"/>
                        </a:rPr>
                        <m:t>,</m:t>
                      </m:r>
                      <m:sSub>
                        <m:e>
                          <m:r>
                            <a:rPr xmlns:a="http://schemas.openxmlformats.org/drawingml/2006/main" lang="en-US" sz="1200" i="1">
                              <a:latin typeface="Cambria Math"/>
                              <a:ea typeface="Cambria Math"/>
                              <a:cs typeface="Cambria Math"/>
                            </a:rPr>
                            <m:t>𝑠</m:t>
                          </m:r>
                        </m:e>
                        <m:sub>
                          <m:r>
                            <a:rPr xmlns:a="http://schemas.openxmlformats.org/drawingml/2006/main" lang="en-US" sz="1200" i="1">
                              <a:latin typeface="Cambria Math"/>
                              <a:ea typeface="Cambria Math"/>
                              <a:cs typeface="Cambria Math"/>
                            </a:rPr>
                            <m:t>2</m:t>
                          </m:r>
                        </m:sub>
                      </m:sSub>
                      <m:r>
                        <a:rPr xmlns:a="http://schemas.openxmlformats.org/drawingml/2006/main" lang="en-US" sz="1200" i="1">
                          <a:latin typeface="Cambria Math"/>
                          <a:ea typeface="Cambria Math"/>
                          <a:cs typeface="Cambria Math"/>
                        </a:rPr>
                        <m:t>)</m:t>
                      </m:r>
                    </m:num>
                    <m:den>
                      <m:r>
                        <a:rPr xmlns:a="http://schemas.openxmlformats.org/drawingml/2006/main" lang="en-US" sz="1200" i="1">
                          <a:latin typeface="Cambria Math"/>
                          <a:ea typeface="Cambria Math"/>
                          <a:cs typeface="Cambria Math"/>
                        </a:rPr>
                        <m:t>𝑚𝑎𝑥</m:t>
                      </m:r>
                      <m:r>
                        <a:rPr xmlns:a="http://schemas.openxmlformats.org/drawingml/2006/main" lang="en-US" sz="1200" i="1">
                          <a:latin typeface="Cambria Math"/>
                          <a:ea typeface="Cambria Math"/>
                          <a:cs typeface="Cambria Math"/>
                        </a:rPr>
                        <m:t>(</m:t>
                      </m:r>
                      <m:d>
                        <m:dPr>
                          <m:begChr m:val="|"/>
                          <m:endChr m:val="|"/>
                          <m:grow m:val="off"/>
                        </m:dPr>
                        <m:e>
                          <m:sSub>
                            <m:e>
                              <m:r>
                                <a:rPr xmlns:a="http://schemas.openxmlformats.org/drawingml/2006/main" lang="en-US" sz="1200" i="1">
                                  <a:latin typeface="Cambria Math"/>
                                  <a:ea typeface="Cambria Math"/>
                                  <a:cs typeface="Cambria Math"/>
                                </a:rPr>
                                <m:t>𝑠</m:t>
                              </m:r>
                            </m:e>
                            <m:sub>
                              <m:r>
                                <a:rPr xmlns:a="http://schemas.openxmlformats.org/drawingml/2006/main" lang="en-US" sz="1200" i="1">
                                  <a:latin typeface="Cambria Math"/>
                                  <a:ea typeface="Cambria Math"/>
                                  <a:cs typeface="Cambria Math"/>
                                </a:rPr>
                                <m:t>1</m:t>
                              </m:r>
                            </m:sub>
                          </m:sSub>
                        </m:e>
                      </m:d>
                      <m:r>
                        <a:rPr xmlns:a="http://schemas.openxmlformats.org/drawingml/2006/main" lang="en-US" sz="1200" i="1">
                          <a:latin typeface="Cambria Math"/>
                          <a:ea typeface="Cambria Math"/>
                          <a:cs typeface="Cambria Math"/>
                        </a:rPr>
                        <m:t xml:space="preserve">, </m:t>
                      </m:r>
                      <m:d>
                        <m:dPr>
                          <m:begChr m:val="|"/>
                          <m:endChr m:val="|"/>
                          <m:grow m:val="off"/>
                        </m:dPr>
                        <m:e>
                          <m:sSub>
                            <m:e>
                              <m:r>
                                <a:rPr xmlns:a="http://schemas.openxmlformats.org/drawingml/2006/main" lang="en-US" sz="1200" i="1">
                                  <a:latin typeface="Cambria Math"/>
                                  <a:ea typeface="Cambria Math"/>
                                  <a:cs typeface="Cambria Math"/>
                                </a:rPr>
                                <m:t>𝑠</m:t>
                              </m:r>
                            </m:e>
                            <m:sub>
                              <m:r>
                                <a:rPr xmlns:a="http://schemas.openxmlformats.org/drawingml/2006/main" lang="en-US" sz="1200" i="1">
                                  <a:latin typeface="Cambria Math"/>
                                  <a:ea typeface="Cambria Math"/>
                                  <a:cs typeface="Cambria Math"/>
                                </a:rPr>
                                <m:t>2</m:t>
                              </m:r>
                            </m:sub>
                          </m:sSub>
                        </m:e>
                      </m:d>
                      <m:r>
                        <a:rPr xmlns:a="http://schemas.openxmlformats.org/drawingml/2006/main" lang="en-US" sz="1200" i="1">
                          <a:latin typeface="Cambria Math"/>
                          <a:ea typeface="Cambria Math"/>
                          <a:cs typeface="Cambria Math"/>
                        </a:rPr>
                        <m:t>)</m:t>
                      </m:r>
                    </m:den>
                  </m:f>
                </m:oMath>
              </m:oMathPara>
            </a14:m>
          </a:p>
        </p:txBody>
      </p:sp>
      <p:sp>
        <p:nvSpPr>
          <p:cNvPr id="6" name="TextBox 5">
            <a:extLst xmlns:a="http://schemas.openxmlformats.org/drawingml/2006/main">
              <a:ext uri="{FF2B5EF4-FFF2-40B4-BE49-F238E27FC236}">
                <a16:creationId xmlns:a16="http://schemas.microsoft.com/office/drawing/2014/main" id="{88E3A3F8-CB72-9BF5-5A88-AA66C9041994}"/>
              </a:ext>
            </a:extLst>
          </p:cNvPr>
          <p:cNvSpPr>
            <a:spLocks xmlns:a="http://schemas.openxmlformats.org/drawingml/2006/main" noGrp="1"/>
          </p:cNvSpPr>
          <p:nvPr/>
        </p:nvSpPr>
        <p:spPr>
          <a:xfrm xmlns:a="http://schemas.openxmlformats.org/drawingml/2006/main">
            <a:off x="3967859" y="4004502"/>
            <a:ext cx="1508690" cy="43922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r>
                    <a:rPr xmlns:a="http://schemas.openxmlformats.org/drawingml/2006/main" lang="en-US" sz="1200" i="1">
                      <a:latin typeface="Cambria Math"/>
                      <a:ea typeface="Cambria Math"/>
                      <a:cs typeface="Cambria Math"/>
                    </a:rPr>
                    <m:t>𝜂</m:t>
                  </m:r>
                  <m:r>
                    <a:rPr xmlns:a="http://schemas.openxmlformats.org/drawingml/2006/main" lang="en-US" sz="1200" i="1">
                      <a:latin typeface="Cambria Math"/>
                      <a:ea typeface="Cambria Math"/>
                      <a:cs typeface="Cambria Math"/>
                    </a:rPr>
                    <m:t xml:space="preserve">=1 − </m:t>
                  </m:r>
                  <m:f>
                    <m:num>
                      <m:r>
                        <a:rPr xmlns:a="http://schemas.openxmlformats.org/drawingml/2006/main" lang="en-US" sz="1200" i="1">
                          <a:latin typeface="Cambria Math"/>
                          <a:ea typeface="Cambria Math"/>
                          <a:cs typeface="Cambria Math"/>
                        </a:rPr>
                        <m:t>2</m:t>
                      </m:r>
                    </m:num>
                    <m:den>
                      <m:r>
                        <a:rPr xmlns:a="http://schemas.openxmlformats.org/drawingml/2006/main" lang="en-US" sz="1200" i="1">
                          <a:latin typeface="Cambria Math"/>
                          <a:ea typeface="Cambria Math"/>
                          <a:cs typeface="Cambria Math"/>
                        </a:rPr>
                        <m:t>10</m:t>
                      </m:r>
                    </m:den>
                  </m:f>
                  <m:r>
                    <a:rPr xmlns:a="http://schemas.openxmlformats.org/drawingml/2006/main" lang="en-US" sz="1200" i="1">
                      <a:latin typeface="Cambria Math"/>
                      <a:ea typeface="Cambria Math"/>
                      <a:cs typeface="Cambria Math"/>
                    </a:rPr>
                    <m:t>=0.8</m:t>
                  </m:r>
                </m:oMath>
              </m:oMathPara>
            </a14:m>
          </a:p>
        </p:txBody>
      </p:sp>
      <p:sp>
        <p:nvSpPr>
          <p:cNvPr id="3" name="Content Placeholder 2">
            <a:extLst xmlns:a="http://schemas.openxmlformats.org/drawingml/2006/main">
              <a:ext uri="{FF2B5EF4-FFF2-40B4-BE49-F238E27FC236}">
                <a16:creationId xmlns:a16="http://schemas.microsoft.com/office/drawing/2014/main" id="{80BF56D2-A208-C749-D042-3AC95C8A4A91}"/>
              </a:ext>
            </a:extLst>
          </p:cNvPr>
          <p:cNvSpPr>
            <a:spLocks xmlns:a="http://schemas.openxmlformats.org/drawingml/2006/main" noGrp="1"/>
          </p:cNvSpPr>
          <p:nvPr/>
        </p:nvSpPr>
        <p:spPr>
          <a:xfrm xmlns:a="http://schemas.openxmlformats.org/drawingml/2006/main">
            <a:off x="628650" y="1174802"/>
            <a:ext cx="7886700" cy="994172"/>
          </a:xfrm>
          <a:prstGeom xmlns:a="http://schemas.openxmlformats.org/drawingml/2006/main" prst="rect">
            <a:avLst/>
          </a:prstGeom>
        </p:spPr>
        <p:txBody>
          <a:bodyPr xmlns:a="http://schemas.openxmlformats.org/drawingml/2006/main" vert="horz" lIns="68580" tIns="34290" rIns="68580" bIns="34290">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800">
                <a:latin typeface="Gill Sans MT"/>
                <a:ea typeface="Gill Sans MT"/>
                <a:cs typeface="Gill Sans MT"/>
              </a:rPr>
              <a:t>Constraint in doc-constraint: </a:t>
            </a:r>
            <a:r>
              <a:rPr sz="1800">
                <a:solidFill>
                  <a:schemeClr val="accent6">
                    <a:lumMod val="75000"/>
                  </a:schemeClr>
                </a:solidFill>
                <a:latin typeface="Consolas"/>
                <a:ea typeface="Consolas"/>
                <a:cs typeface="Consolas"/>
              </a:rPr>
              <a:t>(samples &lt; features)</a:t>
            </a:r>
            <a:r>
              <a:rPr sz="1800" b="1">
                <a:solidFill>
                  <a:schemeClr val="accent6">
                    <a:lumMod val="75000"/>
                  </a:schemeClr>
                </a:solidFill>
                <a:latin typeface="Consolas"/>
                <a:ea typeface="Consolas"/>
                <a:cs typeface="Consolas"/>
              </a:rPr>
              <a:t> </a:t>
            </a:r>
            <a14:m xmlns:a14="http://schemas.microsoft.com/office/drawing/2010/main">
              <m:oMathPara xmlns:m="http://schemas.openxmlformats.org/officeDocument/2006/math">
                <m:oMath>
                  <m:r>
                    <a:rPr xmlns:a="http://schemas.openxmlformats.org/drawingml/2006/main" lang="en-US" sz="1800" b="1">
                      <a:solidFill>
                        <a:schemeClr val="accent6">
                          <a:lumMod val="75000"/>
                        </a:schemeClr>
                      </a:solidFill>
                      <a:latin typeface="Cambria Math"/>
                      <a:ea typeface="Cambria Math"/>
                      <a:cs typeface="Cambria Math"/>
                    </a:rPr>
                    <m:t>∧</m:t>
                  </m:r>
                </m:oMath>
              </m:oMathPara>
            </a14:m>
            <a:r>
              <a:rPr sz="1800">
                <a:solidFill>
                  <a:schemeClr val="accent6">
                    <a:lumMod val="75000"/>
                  </a:schemeClr>
                </a:solidFill>
                <a:latin typeface="Consolas"/>
                <a:ea typeface="Consolas"/>
                <a:cs typeface="Consolas"/>
              </a:rPr>
              <a:t> (dual = True)</a:t>
            </a:r>
          </a:p>
          <a:p xmlns:a="http://schemas.openxmlformats.org/drawingml/2006/main">
            <a:r>
              <a:rPr sz="1800">
                <a:latin typeface="Gill Sans MT"/>
                <a:ea typeface="Gill Sans MT"/>
                <a:cs typeface="Gill Sans MT"/>
              </a:rPr>
              <a:t>Expression in code: </a:t>
            </a:r>
            <a:r>
              <a:rPr sz="1800">
                <a:solidFill>
                  <a:srgbClr val="0070C0"/>
                </a:solidFill>
                <a:latin typeface="Consolas"/>
                <a:ea typeface="Consolas"/>
                <a:cs typeface="Consolas"/>
              </a:rPr>
              <a:t>n_samples</a:t>
            </a:r>
            <a:r>
              <a:rPr sz="1800">
                <a:solidFill>
                  <a:srgbClr val="0070C0"/>
                </a:solidFill>
                <a:latin typeface="Consolas"/>
                <a:ea typeface="Consolas"/>
                <a:cs typeface="Consolas"/>
              </a:rPr>
              <a:t> &gt;= </a:t>
            </a:r>
            <a:r>
              <a:rPr sz="1800">
                <a:solidFill>
                  <a:srgbClr val="0070C0"/>
                </a:solidFill>
                <a:latin typeface="Consolas"/>
                <a:ea typeface="Consolas"/>
                <a:cs typeface="Consolas"/>
              </a:rPr>
              <a:t>n_features</a:t>
            </a:r>
            <a:r>
              <a:rPr sz="1800">
                <a:solidFill>
                  <a:srgbClr val="0070C0"/>
                </a:solidFill>
                <a:latin typeface="Consolas"/>
                <a:ea typeface="Consolas"/>
                <a:cs typeface="Consolas"/>
              </a:rPr>
              <a:t>, dual = True</a:t>
            </a:r>
          </a:p>
        </p:txBody>
      </p:sp>
      <p:sp>
        <p:nvSpPr>
          <p:cNvPr id="11" name="Slide Number Placeholder 10">
            <a:extLst xmlns:a="http://schemas.openxmlformats.org/drawingml/2006/main">
              <a:ext uri="{FF2B5EF4-FFF2-40B4-BE49-F238E27FC236}">
                <a16:creationId xmlns:a16="http://schemas.microsoft.com/office/drawing/2014/main" id="{AAC062EE-2548-44BC-D54D-98F6AA6169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FAD317D-785F-D548-8C8D-E6A38DF552FC}" type="slidenum">
              <a:t>43</a:t>
            </a:fld>
          </a:p>
        </p:txBody>
      </p:sp>
      <p:sp>
        <p:nvSpPr>
          <p:cNvPr id="19" name="Title 1">
            <a:extLst xmlns:a="http://schemas.openxmlformats.org/drawingml/2006/main">
              <a:ext uri="{FF2B5EF4-FFF2-40B4-BE49-F238E27FC236}">
                <a16:creationId xmlns:a16="http://schemas.microsoft.com/office/drawing/2014/main" id="{47FD972F-3FA3-6940-EDB2-B43FD9143FF2}"/>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a:t>
            </a:r>
            <a:r>
              <a:rPr sz="950" b="1">
                <a:solidFill>
                  <a:srgbClr val="654A9B"/>
                </a:solidFill>
              </a:rPr>
              <a:t>METHOD</a:t>
            </a:r>
          </a:p>
          <a:p xmlns:a="http://schemas.openxmlformats.org/drawingml/2006/main">
            <a:pPr>
              <a:lnSpc>
                <a:spcPct val="98000"/>
              </a:lnSpc>
              <a:buNone/>
            </a:pPr>
            <a:r>
              <a:rPr sz="2250" b="1">
                <a:solidFill>
                  <a:srgbClr val="20252C"/>
                </a:solidFill>
              </a:rPr>
              <a:t>FCL - Expression similarity</a:t>
            </a:r>
          </a:p>
        </p:txBody>
      </p:sp>
    </p:spTree>
    <p:extLst>
      <p:ext uri="{BB962C8B-B14F-4D97-AF65-F5344CB8AC3E}">
        <p14:creationId xmlns:p14="http://schemas.microsoft.com/office/powerpoint/2010/main" val="58930752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71BC92F5-81B7-A230-32AB-81A721FC248C}"/>
              </a:ext>
            </a:extLst>
          </p:cNvPr>
          <p:cNvSpPr>
            <a:spLocks xmlns:a="http://schemas.openxmlformats.org/drawingml/2006/main" noGrp="1"/>
          </p:cNvSpPr>
          <p:nvPr>
            <p:ph idx="1"/>
          </p:nvPr>
        </p:nvSpPr>
        <p:spPr>
          <a:xfrm xmlns:a="http://schemas.openxmlformats.org/drawingml/2006/main">
            <a:off x="628650" y="1162050"/>
            <a:ext cx="8184807" cy="533400"/>
          </a:xfrm>
        </p:spPr>
        <p:txBody>
          <a:bodyPr xmlns:a="http://schemas.openxmlformats.org/drawingml/2006/main" wrap="square" anchor="t">
            <a:noAutofit/>
          </a:bodyPr>
          <a:lstStyle xmlns:a="http://schemas.openxmlformats.org/drawingml/2006/main"/>
          <a:p xmlns:a="http://schemas.openxmlformats.org/drawingml/2006/main">
            <a:pPr marL="0" indent="0">
              <a:lnSpc>
                <a:spcPct val="100000"/>
              </a:lnSpc>
              <a:spcBef>
                <a:spcPts val="0"/>
              </a:spcBef>
              <a:spcAft>
                <a:spcPts val="1"/>
              </a:spcAft>
              <a:buNone/>
            </a:pPr>
            <a:r>
              <a:rPr sz="1550" b="1" i="0">
                <a:solidFill>
                  <a:srgbClr val="654A9B"/>
                </a:solidFill>
                <a:latin typeface="Arial"/>
                <a:ea typeface="Arial"/>
                <a:cs typeface="Arial"/>
              </a:rPr>
              <a:t>Equal weights combine name and operator similarity</a:t>
            </a:r>
          </a:p>
          <a:p xmlns:a="http://schemas.openxmlformats.org/drawingml/2006/main">
            <a:pPr marL="0" indent="0">
              <a:lnSpc>
                <a:spcPct val="100000"/>
              </a:lnSpc>
              <a:spcBef>
                <a:spcPts val="0"/>
              </a:spcBef>
              <a:spcAft>
                <a:spcPts val="0"/>
              </a:spcAft>
              <a:buNone/>
            </a:pPr>
            <a:r>
              <a:rPr sz="1300" b="0" i="0">
                <a:solidFill>
                  <a:srgbClr val="20252C"/>
                </a:solidFill>
                <a:latin typeface="Arial"/>
                <a:ea typeface="Arial"/>
                <a:cs typeface="Arial"/>
              </a:rPr>
              <a:t>α and β receive the same weight in this example.</a:t>
            </a:r>
          </a:p>
        </p:txBody>
      </p:sp>
      <p:pic>
        <p:nvPicPr>
          <p:cNvPr id="35" name="Picture 14"/>
          <p:cNvPicPr>
            <a:picLocks xmlns:a="http://schemas.openxmlformats.org/drawingml/2006/main" noChangeAspect="1"/>
          </p:cNvPicPr>
          <p:nvPr/>
        </p:nvPicPr>
        <p:blipFill>
          <a:blip xmlns:r="http://schemas.openxmlformats.org/officeDocument/2006/relationships" xmlns:a="http://schemas.openxmlformats.org/drawingml/2006/main" r:embed="R6528b4b6da784177"/>
          <a:stretch xmlns:a="http://schemas.openxmlformats.org/drawingml/2006/main">
            <a:fillRect l="0" t="0" r="0" b="0"/>
          </a:stretch>
        </p:blipFill>
        <p:spPr>
          <a:xfrm xmlns:a="http://schemas.openxmlformats.org/drawingml/2006/main">
            <a:off x="1263251" y="1717322"/>
            <a:ext cx="6915605" cy="571719"/>
          </a:xfrm>
          <a:prstGeom xmlns:a="http://schemas.openxmlformats.org/drawingml/2006/main" prst="rect">
            <a:avLst/>
          </a:prstGeom>
        </p:spPr>
      </p:pic>
      <p:sp>
        <p:nvSpPr>
          <p:cNvPr id="16" name="TextBox 15">
            <a:extLst xmlns:a="http://schemas.openxmlformats.org/drawingml/2006/main">
              <a:ext uri="{FF2B5EF4-FFF2-40B4-BE49-F238E27FC236}">
                <a16:creationId xmlns:a16="http://schemas.microsoft.com/office/drawing/2014/main" id="{E494300C-97F2-8E8D-F1E3-2817A626E70C}"/>
              </a:ext>
            </a:extLst>
          </p:cNvPr>
          <p:cNvSpPr>
            <a:spLocks xmlns:a="http://schemas.openxmlformats.org/drawingml/2006/main" noGrp="1"/>
          </p:cNvSpPr>
          <p:nvPr/>
        </p:nvSpPr>
        <p:spPr>
          <a:xfrm xmlns:a="http://schemas.openxmlformats.org/drawingml/2006/main">
            <a:off x="3000367" y="2330597"/>
            <a:ext cx="1290515"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samples</a:t>
            </a:r>
          </a:p>
        </p:txBody>
      </p:sp>
      <p:sp>
        <p:nvSpPr>
          <p:cNvPr id="17" name="Down Arrow 16">
            <a:extLst xmlns:a="http://schemas.openxmlformats.org/drawingml/2006/main">
              <a:ext uri="{FF2B5EF4-FFF2-40B4-BE49-F238E27FC236}">
                <a16:creationId xmlns:a16="http://schemas.microsoft.com/office/drawing/2014/main" id="{5BE4E020-A799-70BF-516D-C07743BFCEF2}"/>
              </a:ext>
            </a:extLst>
          </p:cNvPr>
          <p:cNvSpPr>
            <a:spLocks xmlns:a="http://schemas.openxmlformats.org/drawingml/2006/main" noGrp="1"/>
          </p:cNvSpPr>
          <p:nvPr/>
        </p:nvSpPr>
        <p:spPr>
          <a:xfrm xmlns:a="http://schemas.openxmlformats.org/drawingml/2006/main">
            <a:off x="3530935" y="2832596"/>
            <a:ext cx="213155" cy="545284"/>
          </a:xfrm>
          <a:prstGeom xmlns:a="http://schemas.openxmlformats.org/drawingml/2006/main" prst="downArrow">
            <a:avLst/>
          </a:prstGeom>
        </p:spPr>
        <p:style>
          <a:lnRef xmlns:a="http://schemas.openxmlformats.org/drawingml/2006/main" idx="2">
            <a:schemeClr val="accent2">
              <a:shade val="15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Down Arrow 17">
            <a:extLst xmlns:a="http://schemas.openxmlformats.org/drawingml/2006/main">
              <a:ext uri="{FF2B5EF4-FFF2-40B4-BE49-F238E27FC236}">
                <a16:creationId xmlns:a16="http://schemas.microsoft.com/office/drawing/2014/main" id="{040712DA-B412-A1FF-89D3-CDC119363405}"/>
              </a:ext>
            </a:extLst>
          </p:cNvPr>
          <p:cNvSpPr>
            <a:spLocks xmlns:a="http://schemas.openxmlformats.org/drawingml/2006/main" noGrp="1"/>
          </p:cNvSpPr>
          <p:nvPr/>
        </p:nvSpPr>
        <p:spPr>
          <a:xfrm xmlns:a="http://schemas.openxmlformats.org/drawingml/2006/main">
            <a:off x="5332516" y="2833221"/>
            <a:ext cx="213155" cy="545284"/>
          </a:xfrm>
          <a:prstGeom xmlns:a="http://schemas.openxmlformats.org/drawingml/2006/main" prst="downArrow">
            <a:avLst/>
          </a:prstGeom>
        </p:spPr>
        <p:style>
          <a:lnRef xmlns:a="http://schemas.openxmlformats.org/drawingml/2006/main" idx="2">
            <a:schemeClr val="accent2">
              <a:shade val="15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Down Arrow 18">
            <a:extLst xmlns:a="http://schemas.openxmlformats.org/drawingml/2006/main">
              <a:ext uri="{FF2B5EF4-FFF2-40B4-BE49-F238E27FC236}">
                <a16:creationId xmlns:a16="http://schemas.microsoft.com/office/drawing/2014/main" id="{78D6341E-ACF7-3B28-8D99-30B963E80074}"/>
              </a:ext>
            </a:extLst>
          </p:cNvPr>
          <p:cNvSpPr>
            <a:spLocks xmlns:a="http://schemas.openxmlformats.org/drawingml/2006/main" noGrp="1"/>
          </p:cNvSpPr>
          <p:nvPr/>
        </p:nvSpPr>
        <p:spPr>
          <a:xfrm xmlns:a="http://schemas.openxmlformats.org/drawingml/2006/main">
            <a:off x="7237002" y="2833221"/>
            <a:ext cx="213155" cy="545284"/>
          </a:xfrm>
          <a:prstGeom xmlns:a="http://schemas.openxmlformats.org/drawingml/2006/main" prst="downArrow">
            <a:avLst/>
          </a:prstGeom>
        </p:spPr>
        <p:style>
          <a:lnRef xmlns:a="http://schemas.openxmlformats.org/drawingml/2006/main" idx="2">
            <a:schemeClr val="accent2">
              <a:shade val="15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6613CD50-E62E-60FC-E6E4-937F69F6739E}"/>
              </a:ext>
            </a:extLst>
          </p:cNvPr>
          <p:cNvSpPr>
            <a:spLocks xmlns:a="http://schemas.openxmlformats.org/drawingml/2006/main" noGrp="1"/>
          </p:cNvSpPr>
          <p:nvPr/>
        </p:nvSpPr>
        <p:spPr>
          <a:xfrm xmlns:a="http://schemas.openxmlformats.org/drawingml/2006/main">
            <a:off x="5281158" y="2349293"/>
            <a:ext cx="315869"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&lt;</a:t>
            </a:r>
          </a:p>
        </p:txBody>
      </p:sp>
      <p:sp>
        <p:nvSpPr>
          <p:cNvPr id="22" name="TextBox 21">
            <a:extLst xmlns:a="http://schemas.openxmlformats.org/drawingml/2006/main">
              <a:ext uri="{FF2B5EF4-FFF2-40B4-BE49-F238E27FC236}">
                <a16:creationId xmlns:a16="http://schemas.microsoft.com/office/drawing/2014/main" id="{FFEAC1AA-825E-12AE-0AED-B9F07F60693B}"/>
              </a:ext>
            </a:extLst>
          </p:cNvPr>
          <p:cNvSpPr>
            <a:spLocks xmlns:a="http://schemas.openxmlformats.org/drawingml/2006/main" noGrp="1"/>
          </p:cNvSpPr>
          <p:nvPr/>
        </p:nvSpPr>
        <p:spPr>
          <a:xfrm xmlns:a="http://schemas.openxmlformats.org/drawingml/2006/main">
            <a:off x="6614913" y="2341529"/>
            <a:ext cx="1457332"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features</a:t>
            </a:r>
          </a:p>
        </p:txBody>
      </p:sp>
      <p:sp>
        <p:nvSpPr>
          <p:cNvPr id="23" name="TextBox 22">
            <a:extLst xmlns:a="http://schemas.openxmlformats.org/drawingml/2006/main">
              <a:ext uri="{FF2B5EF4-FFF2-40B4-BE49-F238E27FC236}">
                <a16:creationId xmlns:a16="http://schemas.microsoft.com/office/drawing/2014/main" id="{2474D239-E98A-7764-84C2-D882FD073FF9}"/>
              </a:ext>
            </a:extLst>
          </p:cNvPr>
          <p:cNvSpPr>
            <a:spLocks xmlns:a="http://schemas.openxmlformats.org/drawingml/2006/main" noGrp="1"/>
          </p:cNvSpPr>
          <p:nvPr/>
        </p:nvSpPr>
        <p:spPr>
          <a:xfrm xmlns:a="http://schemas.openxmlformats.org/drawingml/2006/main">
            <a:off x="2891664" y="3533126"/>
            <a:ext cx="1726091"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n_samples</a:t>
            </a:r>
          </a:p>
        </p:txBody>
      </p:sp>
      <p:sp>
        <p:nvSpPr>
          <p:cNvPr id="24" name="TextBox 23">
            <a:extLst xmlns:a="http://schemas.openxmlformats.org/drawingml/2006/main">
              <a:ext uri="{FF2B5EF4-FFF2-40B4-BE49-F238E27FC236}">
                <a16:creationId xmlns:a16="http://schemas.microsoft.com/office/drawing/2014/main" id="{8EACAA77-F46E-5B1C-B85E-AD9C09AAC11A}"/>
              </a:ext>
            </a:extLst>
          </p:cNvPr>
          <p:cNvSpPr>
            <a:spLocks xmlns:a="http://schemas.openxmlformats.org/drawingml/2006/main" noGrp="1"/>
          </p:cNvSpPr>
          <p:nvPr/>
        </p:nvSpPr>
        <p:spPr>
          <a:xfrm xmlns:a="http://schemas.openxmlformats.org/drawingml/2006/main">
            <a:off x="5174000" y="3544059"/>
            <a:ext cx="530186"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&gt;=</a:t>
            </a:r>
          </a:p>
        </p:txBody>
      </p:sp>
      <p:sp>
        <p:nvSpPr>
          <p:cNvPr id="25" name="TextBox 24">
            <a:extLst xmlns:a="http://schemas.openxmlformats.org/drawingml/2006/main">
              <a:ext uri="{FF2B5EF4-FFF2-40B4-BE49-F238E27FC236}">
                <a16:creationId xmlns:a16="http://schemas.microsoft.com/office/drawing/2014/main" id="{37A31357-D6A2-1F85-4B67-8B6998C54977}"/>
              </a:ext>
            </a:extLst>
          </p:cNvPr>
          <p:cNvSpPr>
            <a:spLocks xmlns:a="http://schemas.openxmlformats.org/drawingml/2006/main" noGrp="1"/>
          </p:cNvSpPr>
          <p:nvPr/>
        </p:nvSpPr>
        <p:spPr>
          <a:xfrm xmlns:a="http://schemas.openxmlformats.org/drawingml/2006/main">
            <a:off x="6383031" y="3523382"/>
            <a:ext cx="1707943" cy="4001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b="1">
                <a:latin typeface="Gill Sans MT"/>
                <a:ea typeface="Gill Sans MT"/>
                <a:cs typeface="Gill Sans MT"/>
              </a:rPr>
              <a:t>n_features</a:t>
            </a:r>
          </a:p>
        </p:txBody>
      </p:sp>
      <p:sp>
        <p:nvSpPr>
          <p:cNvPr id="27" name="TextBox 26">
            <a:extLst xmlns:a="http://schemas.openxmlformats.org/drawingml/2006/main">
              <a:ext uri="{FF2B5EF4-FFF2-40B4-BE49-F238E27FC236}">
                <a16:creationId xmlns:a16="http://schemas.microsoft.com/office/drawing/2014/main" id="{BD320DE0-1362-5F67-AD1D-17EAB2CFF76C}"/>
              </a:ext>
            </a:extLst>
          </p:cNvPr>
          <p:cNvSpPr>
            <a:spLocks xmlns:a="http://schemas.openxmlformats.org/drawingml/2006/main" noGrp="1"/>
          </p:cNvSpPr>
          <p:nvPr/>
        </p:nvSpPr>
        <p:spPr>
          <a:xfrm xmlns:a="http://schemas.openxmlformats.org/drawingml/2006/main">
            <a:off x="6414494" y="3982640"/>
            <a:ext cx="1508690" cy="43922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r>
                    <a:rPr xmlns:a="http://schemas.openxmlformats.org/drawingml/2006/main" lang="en-US" sz="1200" i="1">
                      <a:latin typeface="Cambria Math"/>
                      <a:ea typeface="Cambria Math"/>
                      <a:cs typeface="Cambria Math"/>
                    </a:rPr>
                    <m:t>𝜂</m:t>
                  </m:r>
                  <m:r>
                    <a:rPr xmlns:a="http://schemas.openxmlformats.org/drawingml/2006/main" lang="en-US" sz="1200" i="1">
                      <a:latin typeface="Cambria Math"/>
                      <a:ea typeface="Cambria Math"/>
                      <a:cs typeface="Cambria Math"/>
                    </a:rPr>
                    <m:t xml:space="preserve">=1 − </m:t>
                  </m:r>
                  <m:f>
                    <m:num>
                      <m:r>
                        <a:rPr xmlns:a="http://schemas.openxmlformats.org/drawingml/2006/main" lang="en-US" sz="1200" i="1">
                          <a:latin typeface="Cambria Math"/>
                          <a:ea typeface="Cambria Math"/>
                          <a:cs typeface="Cambria Math"/>
                        </a:rPr>
                        <m:t>2</m:t>
                      </m:r>
                    </m:num>
                    <m:den>
                      <m:r>
                        <a:rPr xmlns:a="http://schemas.openxmlformats.org/drawingml/2006/main" lang="en-US" sz="1200" i="1">
                          <a:latin typeface="Cambria Math"/>
                          <a:ea typeface="Cambria Math"/>
                          <a:cs typeface="Cambria Math"/>
                        </a:rPr>
                        <m:t>10</m:t>
                      </m:r>
                    </m:den>
                  </m:f>
                  <m:r>
                    <a:rPr xmlns:a="http://schemas.openxmlformats.org/drawingml/2006/main" lang="en-US" sz="1200" i="1">
                      <a:latin typeface="Cambria Math"/>
                      <a:ea typeface="Cambria Math"/>
                      <a:cs typeface="Cambria Math"/>
                    </a:rPr>
                    <m:t>=0.8</m:t>
                  </m:r>
                </m:oMath>
              </m:oMathPara>
            </a14:m>
          </a:p>
        </p:txBody>
      </p:sp>
      <p:sp>
        <p:nvSpPr>
          <p:cNvPr id="28" name="TextBox 27">
            <a:extLst xmlns:a="http://schemas.openxmlformats.org/drawingml/2006/main">
              <a:ext uri="{FF2B5EF4-FFF2-40B4-BE49-F238E27FC236}">
                <a16:creationId xmlns:a16="http://schemas.microsoft.com/office/drawing/2014/main" id="{5574E2F0-8816-9596-2F1D-D91CF8F89BCA}"/>
              </a:ext>
            </a:extLst>
          </p:cNvPr>
          <p:cNvSpPr>
            <a:spLocks xmlns:a="http://schemas.openxmlformats.org/drawingml/2006/main" noGrp="1"/>
          </p:cNvSpPr>
          <p:nvPr/>
        </p:nvSpPr>
        <p:spPr>
          <a:xfrm xmlns:a="http://schemas.openxmlformats.org/drawingml/2006/main">
            <a:off x="2883168" y="3982640"/>
            <a:ext cx="1508689" cy="43922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r>
                    <a:rPr xmlns:a="http://schemas.openxmlformats.org/drawingml/2006/main" lang="en-US" sz="1200" i="1">
                      <a:latin typeface="Cambria Math"/>
                      <a:ea typeface="Cambria Math"/>
                      <a:cs typeface="Cambria Math"/>
                    </a:rPr>
                    <m:t>𝜂</m:t>
                  </m:r>
                  <m:r>
                    <a:rPr xmlns:a="http://schemas.openxmlformats.org/drawingml/2006/main" lang="en-US" sz="1200" i="1">
                      <a:latin typeface="Cambria Math"/>
                      <a:ea typeface="Cambria Math"/>
                      <a:cs typeface="Cambria Math"/>
                    </a:rPr>
                    <m:t xml:space="preserve">=1 − </m:t>
                  </m:r>
                  <m:f>
                    <m:num>
                      <m:r>
                        <a:rPr xmlns:a="http://schemas.openxmlformats.org/drawingml/2006/main" lang="en-US" sz="1200" i="1">
                          <a:latin typeface="Cambria Math"/>
                          <a:ea typeface="Cambria Math"/>
                          <a:cs typeface="Cambria Math"/>
                        </a:rPr>
                        <m:t>2</m:t>
                      </m:r>
                    </m:num>
                    <m:den>
                      <m:r>
                        <a:rPr xmlns:a="http://schemas.openxmlformats.org/drawingml/2006/main" lang="en-US" sz="1200" i="1">
                          <a:latin typeface="Cambria Math"/>
                          <a:ea typeface="Cambria Math"/>
                          <a:cs typeface="Cambria Math"/>
                        </a:rPr>
                        <m:t>9</m:t>
                      </m:r>
                    </m:den>
                  </m:f>
                  <m:r>
                    <a:rPr xmlns:a="http://schemas.openxmlformats.org/drawingml/2006/main" lang="en-US" sz="1200" i="1">
                      <a:latin typeface="Cambria Math"/>
                      <a:ea typeface="Cambria Math"/>
                      <a:cs typeface="Cambria Math"/>
                    </a:rPr>
                    <m:t>≈0.78</m:t>
                  </m:r>
                </m:oMath>
              </m:oMathPara>
            </a14:m>
          </a:p>
        </p:txBody>
      </p:sp>
      <p:sp>
        <p:nvSpPr>
          <p:cNvPr id="29" name="TextBox 28">
            <a:extLst xmlns:a="http://schemas.openxmlformats.org/drawingml/2006/main">
              <a:ext uri="{FF2B5EF4-FFF2-40B4-BE49-F238E27FC236}">
                <a16:creationId xmlns:a16="http://schemas.microsoft.com/office/drawing/2014/main" id="{EA729B11-8F9F-51AF-7584-5B3CD6874D6F}"/>
              </a:ext>
            </a:extLst>
          </p:cNvPr>
          <p:cNvSpPr>
            <a:spLocks xmlns:a="http://schemas.openxmlformats.org/drawingml/2006/main" noGrp="1"/>
          </p:cNvSpPr>
          <p:nvPr/>
        </p:nvSpPr>
        <p:spPr>
          <a:xfrm xmlns:a="http://schemas.openxmlformats.org/drawingml/2006/main">
            <a:off x="4592945" y="4004421"/>
            <a:ext cx="1508689" cy="2769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r>
                    <a:rPr xmlns:a="http://schemas.openxmlformats.org/drawingml/2006/main" lang="en-US" sz="1200" i="1">
                      <a:latin typeface="Cambria Math"/>
                      <a:ea typeface="Cambria Math"/>
                      <a:cs typeface="Cambria Math"/>
                    </a:rPr>
                    <m:t>𝑐𝑜𝑠</m:t>
                  </m:r>
                  <m:r>
                    <a:rPr xmlns:a="http://schemas.openxmlformats.org/drawingml/2006/main" lang="en-US" sz="1200" i="1">
                      <a:latin typeface="Cambria Math"/>
                      <a:ea typeface="Cambria Math"/>
                      <a:cs typeface="Cambria Math"/>
                    </a:rPr>
                    <m:t>𝜃</m:t>
                  </m:r>
                  <m:r>
                    <a:rPr xmlns:a="http://schemas.openxmlformats.org/drawingml/2006/main" lang="en-US" sz="1200" i="1">
                      <a:latin typeface="Cambria Math"/>
                      <a:ea typeface="Cambria Math"/>
                      <a:cs typeface="Cambria Math"/>
                    </a:rPr>
                    <m:t>=0.41</m:t>
                  </m:r>
                </m:oMath>
              </m:oMathPara>
            </a14:m>
          </a:p>
        </p:txBody>
      </p:sp>
      <p:sp>
        <p:nvSpPr>
          <p:cNvPr id="30" name="TextBox 29">
            <a:extLst xmlns:a="http://schemas.openxmlformats.org/drawingml/2006/main">
              <a:ext uri="{FF2B5EF4-FFF2-40B4-BE49-F238E27FC236}">
                <a16:creationId xmlns:a16="http://schemas.microsoft.com/office/drawing/2014/main" id="{10206AA4-0CB9-8B42-B20E-845A7675EFB5}"/>
              </a:ext>
            </a:extLst>
          </p:cNvPr>
          <p:cNvSpPr>
            <a:spLocks xmlns:a="http://schemas.openxmlformats.org/drawingml/2006/main" noGrp="1"/>
          </p:cNvSpPr>
          <p:nvPr/>
        </p:nvSpPr>
        <p:spPr>
          <a:xfrm xmlns:a="http://schemas.openxmlformats.org/drawingml/2006/main">
            <a:off x="2729507" y="4352605"/>
            <a:ext cx="4983089" cy="43922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r>
                    <a:rPr xmlns:a="http://schemas.openxmlformats.org/drawingml/2006/main" lang="en-US" sz="1200" i="1">
                      <a:latin typeface="Cambria Math"/>
                      <a:ea typeface="Cambria Math"/>
                      <a:cs typeface="Cambria Math"/>
                    </a:rPr>
                    <m:t>𝜎</m:t>
                  </m:r>
                  <m:d>
                    <m:dPr>
                      <m:grow m:val="off"/>
                    </m:dPr>
                    <m:e>
                      <m:sSub>
                        <m:e>
                          <m:r>
                            <a:rPr xmlns:a="http://schemas.openxmlformats.org/drawingml/2006/main" lang="en-US" sz="1200" i="1">
                              <a:latin typeface="Cambria Math"/>
                              <a:ea typeface="Cambria Math"/>
                              <a:cs typeface="Cambria Math"/>
                            </a:rPr>
                            <m:t>𝑒</m:t>
                          </m:r>
                        </m:e>
                        <m:sub>
                          <m:r>
                            <a:rPr xmlns:a="http://schemas.openxmlformats.org/drawingml/2006/main" lang="en-US" sz="1200" i="1">
                              <a:latin typeface="Cambria Math"/>
                              <a:ea typeface="Cambria Math"/>
                              <a:cs typeface="Cambria Math"/>
                            </a:rPr>
                            <m:t>1</m:t>
                          </m:r>
                        </m:sub>
                      </m:sSub>
                      <m:r>
                        <a:rPr xmlns:a="http://schemas.openxmlformats.org/drawingml/2006/main" lang="en-US" sz="1200" i="1">
                          <a:latin typeface="Cambria Math"/>
                          <a:ea typeface="Cambria Math"/>
                          <a:cs typeface="Cambria Math"/>
                        </a:rPr>
                        <m:t>,</m:t>
                      </m:r>
                      <m:sSub>
                        <m:e>
                          <m:r>
                            <a:rPr xmlns:a="http://schemas.openxmlformats.org/drawingml/2006/main" lang="en-US" sz="1200" i="1">
                              <a:latin typeface="Cambria Math"/>
                              <a:ea typeface="Cambria Math"/>
                              <a:cs typeface="Cambria Math"/>
                            </a:rPr>
                            <m:t>𝑒</m:t>
                          </m:r>
                        </m:e>
                        <m:sub>
                          <m:r>
                            <a:rPr xmlns:a="http://schemas.openxmlformats.org/drawingml/2006/main" lang="en-US" sz="1200" i="1">
                              <a:latin typeface="Cambria Math"/>
                              <a:ea typeface="Cambria Math"/>
                              <a:cs typeface="Cambria Math"/>
                            </a:rPr>
                            <m:t>2</m:t>
                          </m:r>
                        </m:sub>
                      </m:sSub>
                    </m:e>
                  </m:d>
                  <m:r>
                    <a:rPr xmlns:a="http://schemas.openxmlformats.org/drawingml/2006/main" lang="en-US" sz="1200" i="1">
                      <a:latin typeface="Cambria Math"/>
                      <a:ea typeface="Cambria Math"/>
                      <a:cs typeface="Cambria Math"/>
                    </a:rPr>
                    <m:t>=</m:t>
                  </m:r>
                  <m:f>
                    <m:num>
                      <m:r>
                        <a:rPr xmlns:a="http://schemas.openxmlformats.org/drawingml/2006/main" lang="en-US" sz="1200" i="1">
                          <a:latin typeface="Cambria Math"/>
                          <a:ea typeface="Cambria Math"/>
                          <a:cs typeface="Cambria Math"/>
                        </a:rPr>
                        <m:t>0.778+0.41+0.8</m:t>
                      </m:r>
                    </m:num>
                    <m:den>
                      <m:r>
                        <a:rPr xmlns:a="http://schemas.openxmlformats.org/drawingml/2006/main" lang="en-US" sz="1200" i="1">
                          <a:latin typeface="Cambria Math"/>
                          <a:ea typeface="Cambria Math"/>
                          <a:cs typeface="Cambria Math"/>
                        </a:rPr>
                        <m:t>3</m:t>
                      </m:r>
                    </m:den>
                  </m:f>
                  <m:r>
                    <a:rPr xmlns:a="http://schemas.openxmlformats.org/drawingml/2006/main" lang="en-US" sz="1200" i="1">
                      <a:latin typeface="Cambria Math"/>
                      <a:ea typeface="Cambria Math"/>
                      <a:cs typeface="Cambria Math"/>
                    </a:rPr>
                    <m:t>≈0.66</m:t>
                  </m:r>
                </m:oMath>
              </m:oMathPara>
            </a14:m>
          </a:p>
        </p:txBody>
      </p:sp>
      <p:sp>
        <p:nvSpPr>
          <p:cNvPr id="31" name="TextBox 30">
            <a:extLst xmlns:a="http://schemas.openxmlformats.org/drawingml/2006/main">
              <a:ext uri="{FF2B5EF4-FFF2-40B4-BE49-F238E27FC236}">
                <a16:creationId xmlns:a16="http://schemas.microsoft.com/office/drawing/2014/main" id="{ACBB850F-CC05-E95A-E831-F91370AB4B64}"/>
              </a:ext>
            </a:extLst>
          </p:cNvPr>
          <p:cNvSpPr>
            <a:spLocks xmlns:a="http://schemas.openxmlformats.org/drawingml/2006/main" noGrp="1"/>
          </p:cNvSpPr>
          <p:nvPr/>
        </p:nvSpPr>
        <p:spPr>
          <a:xfrm xmlns:a="http://schemas.openxmlformats.org/drawingml/2006/main">
            <a:off x="1083427" y="2416243"/>
            <a:ext cx="1509848" cy="3231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500" b="1">
                <a:latin typeface="Gill Sans MT"/>
                <a:ea typeface="Gill Sans MT"/>
                <a:cs typeface="Gill Sans MT"/>
              </a:rPr>
              <a:t>Expression 1:</a:t>
            </a:r>
          </a:p>
        </p:txBody>
      </p:sp>
      <p:sp>
        <p:nvSpPr>
          <p:cNvPr id="32" name="TextBox 31">
            <a:extLst xmlns:a="http://schemas.openxmlformats.org/drawingml/2006/main">
              <a:ext uri="{FF2B5EF4-FFF2-40B4-BE49-F238E27FC236}">
                <a16:creationId xmlns:a16="http://schemas.microsoft.com/office/drawing/2014/main" id="{4C535677-9CEB-083F-7277-45E2B256D223}"/>
              </a:ext>
            </a:extLst>
          </p:cNvPr>
          <p:cNvSpPr>
            <a:spLocks xmlns:a="http://schemas.openxmlformats.org/drawingml/2006/main" noGrp="1"/>
          </p:cNvSpPr>
          <p:nvPr/>
        </p:nvSpPr>
        <p:spPr>
          <a:xfrm xmlns:a="http://schemas.openxmlformats.org/drawingml/2006/main">
            <a:off x="1083427" y="3671625"/>
            <a:ext cx="1509848" cy="3231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500" b="1">
                <a:latin typeface="Gill Sans MT"/>
                <a:ea typeface="Gill Sans MT"/>
                <a:cs typeface="Gill Sans MT"/>
              </a:rPr>
              <a:t>Expression 2:</a:t>
            </a:r>
          </a:p>
        </p:txBody>
      </p:sp>
      <p:sp>
        <p:nvSpPr>
          <p:cNvPr id="4" name="Slide Number Placeholder 3">
            <a:extLst xmlns:a="http://schemas.openxmlformats.org/drawingml/2006/main">
              <a:ext uri="{FF2B5EF4-FFF2-40B4-BE49-F238E27FC236}">
                <a16:creationId xmlns:a16="http://schemas.microsoft.com/office/drawing/2014/main" id="{E4152937-03AA-E5F3-EFB1-04A0F1FA5B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FAD317D-785F-D548-8C8D-E6A38DF552FC}" type="slidenum">
              <a:t>44</a:t>
            </a:fld>
          </a:p>
        </p:txBody>
      </p:sp>
      <p:sp>
        <p:nvSpPr>
          <p:cNvPr id="7" name="Title 1">
            <a:extLst xmlns:a="http://schemas.openxmlformats.org/drawingml/2006/main">
              <a:ext uri="{FF2B5EF4-FFF2-40B4-BE49-F238E27FC236}">
                <a16:creationId xmlns:a16="http://schemas.microsoft.com/office/drawing/2014/main" id="{0B1CFF9A-0ECB-D6E0-CD14-B6BEE8BCC935}"/>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a:t>
            </a:r>
            <a:r>
              <a:rPr sz="950" b="1">
                <a:solidFill>
                  <a:srgbClr val="654A9B"/>
                </a:solidFill>
              </a:rPr>
              <a:t>METHOD</a:t>
            </a:r>
          </a:p>
          <a:p xmlns:a="http://schemas.openxmlformats.org/drawingml/2006/main">
            <a:pPr>
              <a:lnSpc>
                <a:spcPct val="98000"/>
              </a:lnSpc>
              <a:buNone/>
            </a:pPr>
            <a:r>
              <a:rPr sz="2250" b="1">
                <a:solidFill>
                  <a:srgbClr val="20252C"/>
                </a:solidFill>
              </a:rPr>
              <a:t>FCL - Expression similarity</a:t>
            </a:r>
          </a:p>
        </p:txBody>
      </p:sp>
    </p:spTree>
    <p:extLst>
      <p:ext uri="{BB962C8B-B14F-4D97-AF65-F5344CB8AC3E}">
        <p14:creationId xmlns:p14="http://schemas.microsoft.com/office/powerpoint/2010/main" val="816942072"/>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6" name="Content Placeholder 2">
            <a:extLst xmlns:a="http://schemas.openxmlformats.org/drawingml/2006/main">
              <a:ext uri="{FF2B5EF4-FFF2-40B4-BE49-F238E27FC236}">
                <a16:creationId xmlns:a16="http://schemas.microsoft.com/office/drawing/2014/main" id="{FAA19255-3B22-FB5C-5DD6-D9EF59219ADF}"/>
              </a:ext>
            </a:extLst>
          </p:cNvPr>
          <p:cNvSpPr>
            <a:spLocks xmlns:a="http://schemas.openxmlformats.org/drawingml/2006/main" noGrp="1"/>
          </p:cNvSpPr>
          <p:nvPr/>
        </p:nvSpPr>
        <p:spPr>
          <a:xfrm xmlns:a="http://schemas.openxmlformats.org/drawingml/2006/main">
            <a:off x="628650" y="1174802"/>
            <a:ext cx="7886700" cy="2828788"/>
          </a:xfrm>
          <a:prstGeom xmlns:a="http://schemas.openxmlformats.org/drawingml/2006/main" prst="rect">
            <a:avLst/>
          </a:prstGeom>
        </p:spPr>
        <p:txBody>
          <a:bodyPr xmlns:a="http://schemas.openxmlformats.org/drawingml/2006/main" vert="horz" lIns="68580" tIns="34290" rIns="68580" bIns="34290">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r>
              <a:rPr sz="1800">
                <a:latin typeface="Gill Sans MT"/>
                <a:ea typeface="Gill Sans MT"/>
                <a:cs typeface="Gill Sans MT"/>
              </a:rPr>
              <a:t>Constraint in doc-constraint: </a:t>
            </a:r>
            <a:r>
              <a:rPr sz="1800">
                <a:solidFill>
                  <a:schemeClr val="accent6">
                    <a:lumMod val="75000"/>
                  </a:schemeClr>
                </a:solidFill>
                <a:latin typeface="Consolas"/>
                <a:ea typeface="Consolas"/>
                <a:cs typeface="Consolas"/>
              </a:rPr>
              <a:t>(samples &lt; features)</a:t>
            </a:r>
            <a:r>
              <a:rPr sz="1800" b="1">
                <a:solidFill>
                  <a:schemeClr val="accent6">
                    <a:lumMod val="75000"/>
                  </a:schemeClr>
                </a:solidFill>
                <a:latin typeface="Consolas"/>
                <a:ea typeface="Consolas"/>
                <a:cs typeface="Consolas"/>
              </a:rPr>
              <a:t> </a:t>
            </a:r>
            <a14:m xmlns:a14="http://schemas.microsoft.com/office/drawing/2010/main">
              <m:oMathPara xmlns:m="http://schemas.openxmlformats.org/officeDocument/2006/math">
                <m:oMath>
                  <m:r>
                    <a:rPr xmlns:a="http://schemas.openxmlformats.org/drawingml/2006/main" lang="en-US" sz="1800" b="1">
                      <a:solidFill>
                        <a:schemeClr val="accent6">
                          <a:lumMod val="75000"/>
                        </a:schemeClr>
                      </a:solidFill>
                      <a:latin typeface="Cambria Math"/>
                      <a:ea typeface="Cambria Math"/>
                      <a:cs typeface="Cambria Math"/>
                    </a:rPr>
                    <m:t>∧</m:t>
                  </m:r>
                </m:oMath>
              </m:oMathPara>
            </a14:m>
            <a:r>
              <a:rPr sz="1800">
                <a:solidFill>
                  <a:schemeClr val="accent6">
                    <a:lumMod val="75000"/>
                  </a:schemeClr>
                </a:solidFill>
                <a:latin typeface="Consolas"/>
                <a:ea typeface="Consolas"/>
                <a:cs typeface="Consolas"/>
              </a:rPr>
              <a:t> (dual = True)</a:t>
            </a:r>
          </a:p>
          <a:p xmlns:a="http://schemas.openxmlformats.org/drawingml/2006/main">
            <a:r>
              <a:rPr sz="1800">
                <a:latin typeface="Gill Sans MT"/>
                <a:ea typeface="Gill Sans MT"/>
                <a:cs typeface="Gill Sans MT"/>
              </a:rPr>
              <a:t>Expression in code: </a:t>
            </a:r>
            <a:r>
              <a:rPr sz="1800">
                <a:solidFill>
                  <a:srgbClr val="0070C0"/>
                </a:solidFill>
                <a:latin typeface="Consolas"/>
                <a:ea typeface="Consolas"/>
                <a:cs typeface="Consolas"/>
              </a:rPr>
              <a:t>n_samples</a:t>
            </a:r>
            <a:r>
              <a:rPr sz="1800">
                <a:solidFill>
                  <a:srgbClr val="0070C0"/>
                </a:solidFill>
                <a:latin typeface="Consolas"/>
                <a:ea typeface="Consolas"/>
                <a:cs typeface="Consolas"/>
              </a:rPr>
              <a:t> &gt;= </a:t>
            </a:r>
            <a:r>
              <a:rPr sz="1800">
                <a:solidFill>
                  <a:srgbClr val="0070C0"/>
                </a:solidFill>
                <a:latin typeface="Consolas"/>
                <a:ea typeface="Consolas"/>
                <a:cs typeface="Consolas"/>
              </a:rPr>
              <a:t>n_features</a:t>
            </a:r>
            <a:r>
              <a:rPr sz="1800">
                <a:solidFill>
                  <a:srgbClr val="0070C0"/>
                </a:solidFill>
                <a:latin typeface="Consolas"/>
                <a:ea typeface="Consolas"/>
                <a:cs typeface="Consolas"/>
              </a:rPr>
              <a:t>, dual = True</a:t>
            </a:r>
          </a:p>
          <a:p xmlns:a="http://schemas.openxmlformats.org/drawingml/2006/main">
            <a:pPr marL="0" indent="0">
              <a:buNone/>
            </a:pPr>
          </a:p>
          <a:p xmlns:a="http://schemas.openxmlformats.org/drawingml/2006/main">
            <a:pPr marL="0" indent="0">
              <a:buNone/>
            </a:pPr>
            <a:r>
              <a:rPr sz="1800">
                <a:latin typeface="Gill Sans MT"/>
                <a:ea typeface="Gill Sans MT"/>
                <a:cs typeface="Gill Sans MT"/>
              </a:rPr>
              <a:t>Constraint similarity can be evaluated with the following formula:</a:t>
            </a:r>
          </a:p>
        </p:txBody>
      </p:sp>
      <p:pic>
        <p:nvPicPr>
          <p:cNvPr id="12" name="Picture 6"/>
          <p:cNvPicPr>
            <a:picLocks xmlns:a="http://schemas.openxmlformats.org/drawingml/2006/main" noChangeAspect="1"/>
          </p:cNvPicPr>
          <p:nvPr/>
        </p:nvPicPr>
        <p:blipFill>
          <a:blip xmlns:r="http://schemas.openxmlformats.org/officeDocument/2006/relationships" xmlns:a="http://schemas.openxmlformats.org/drawingml/2006/main" r:embed="Ra7d7593dcb604d65"/>
          <a:stretch xmlns:a="http://schemas.openxmlformats.org/drawingml/2006/main">
            <a:fillRect l="0" t="0" r="0" b="0"/>
          </a:stretch>
        </p:blipFill>
        <p:spPr>
          <a:xfrm xmlns:a="http://schemas.openxmlformats.org/drawingml/2006/main">
            <a:off x="774099" y="2852995"/>
            <a:ext cx="5591175" cy="1476375"/>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A6AA0A03-10D0-6259-6AA4-F5FD6A3F327B}"/>
              </a:ext>
            </a:extLst>
          </p:cNvPr>
          <p:cNvSpPr>
            <a:spLocks xmlns:a="http://schemas.openxmlformats.org/drawingml/2006/main" noGrp="1"/>
          </p:cNvSpPr>
          <p:nvPr/>
        </p:nvSpPr>
        <p:spPr>
          <a:xfrm xmlns:a="http://schemas.openxmlformats.org/drawingml/2006/main">
            <a:off x="6439415" y="3452683"/>
            <a:ext cx="2336972" cy="3231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r>
                    <a:rPr xmlns:a="http://schemas.openxmlformats.org/drawingml/2006/main" lang="en-US" sz="1500" i="1">
                      <a:latin typeface="Cambria Math"/>
                      <a:ea typeface="Cambria Math"/>
                      <a:cs typeface="Cambria Math"/>
                    </a:rPr>
                    <m:t>𝜌</m:t>
                  </m:r>
                  <m:r>
                    <a:rPr xmlns:a="http://schemas.openxmlformats.org/drawingml/2006/main" lang="en-US" sz="1500" i="1">
                      <a:latin typeface="Cambria Math"/>
                      <a:ea typeface="Cambria Math"/>
                      <a:cs typeface="Cambria Math"/>
                    </a:rPr>
                    <m:t>=</m:t>
                  </m:r>
                  <m:func>
                    <m:fName>
                      <m:r>
                        <a:rPr xmlns:a="http://schemas.openxmlformats.org/drawingml/2006/main" lang="en-US" sz="1500">
                          <a:latin typeface="Cambria Math"/>
                          <a:ea typeface="Cambria Math"/>
                          <a:cs typeface="Cambria Math"/>
                        </a:rPr>
                        <m:t>min</m:t>
                      </m:r>
                    </m:fName>
                    <m:e>
                      <m:d>
                        <m:dPr>
                          <m:begChr m:val="{"/>
                          <m:endChr m:val="}"/>
                          <m:grow m:val="off"/>
                        </m:dPr>
                        <m:e>
                          <m:r>
                            <a:rPr xmlns:a="http://schemas.openxmlformats.org/drawingml/2006/main" lang="en-US" sz="1500" i="1">
                              <a:latin typeface="Cambria Math"/>
                              <a:ea typeface="Cambria Math"/>
                              <a:cs typeface="Cambria Math"/>
                            </a:rPr>
                            <m:t>0.66, 1</m:t>
                          </m:r>
                        </m:e>
                      </m:d>
                    </m:e>
                  </m:func>
                  <m:r>
                    <a:rPr xmlns:a="http://schemas.openxmlformats.org/drawingml/2006/main" lang="en-US" sz="1500" i="1">
                      <a:latin typeface="Cambria Math"/>
                      <a:ea typeface="Cambria Math"/>
                      <a:cs typeface="Cambria Math"/>
                    </a:rPr>
                    <m:t>=0.66</m:t>
                  </m:r>
                </m:oMath>
              </m:oMathPara>
            </a14:m>
          </a:p>
        </p:txBody>
      </p:sp>
      <p:sp>
        <p:nvSpPr>
          <p:cNvPr id="3" name="Slide Number Placeholder 2">
            <a:extLst xmlns:a="http://schemas.openxmlformats.org/drawingml/2006/main">
              <a:ext uri="{FF2B5EF4-FFF2-40B4-BE49-F238E27FC236}">
                <a16:creationId xmlns:a16="http://schemas.microsoft.com/office/drawing/2014/main" id="{BA5CBD0F-A0C8-3625-26FB-2D1CD5F408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FAD317D-785F-D548-8C8D-E6A38DF552FC}" type="slidenum">
              <a:t>45</a:t>
            </a:fld>
          </a:p>
        </p:txBody>
      </p:sp>
      <p:sp>
        <p:nvSpPr>
          <p:cNvPr id="8" name="Title 1">
            <a:extLst xmlns:a="http://schemas.openxmlformats.org/drawingml/2006/main">
              <a:ext uri="{FF2B5EF4-FFF2-40B4-BE49-F238E27FC236}">
                <a16:creationId xmlns:a16="http://schemas.microsoft.com/office/drawing/2014/main" id="{22B8AB9F-420F-84E1-45A4-FCED7C1093DF}"/>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a:t>
            </a:r>
            <a:r>
              <a:rPr sz="950" b="1">
                <a:solidFill>
                  <a:srgbClr val="654A9B"/>
                </a:solidFill>
              </a:rPr>
              <a:t>METHOD</a:t>
            </a:r>
          </a:p>
          <a:p xmlns:a="http://schemas.openxmlformats.org/drawingml/2006/main">
            <a:pPr>
              <a:lnSpc>
                <a:spcPct val="98000"/>
              </a:lnSpc>
              <a:buNone/>
            </a:pPr>
            <a:r>
              <a:rPr sz="2250" b="1">
                <a:solidFill>
                  <a:srgbClr val="20252C"/>
                </a:solidFill>
              </a:rPr>
              <a:t>FCL - Constraint similarity</a:t>
            </a:r>
          </a:p>
        </p:txBody>
      </p:sp>
    </p:spTree>
    <p:extLst>
      <p:ext uri="{BB962C8B-B14F-4D97-AF65-F5344CB8AC3E}">
        <p14:creationId xmlns:p14="http://schemas.microsoft.com/office/powerpoint/2010/main" val="2700595049"/>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6" name="Content Placeholder 2">
            <a:extLst xmlns:a="http://schemas.openxmlformats.org/drawingml/2006/main">
              <a:ext uri="{FF2B5EF4-FFF2-40B4-BE49-F238E27FC236}">
                <a16:creationId xmlns:a16="http://schemas.microsoft.com/office/drawing/2014/main" id="{BAA6FB43-9854-EF83-D619-71E1273F3E3B}"/>
              </a:ext>
            </a:extLst>
          </p:cNvPr>
          <p:cNvSpPr>
            <a:spLocks xmlns:a="http://schemas.openxmlformats.org/drawingml/2006/main" noGrp="1"/>
          </p:cNvSpPr>
          <p:nvPr/>
        </p:nvSpPr>
        <p:spPr>
          <a:xfrm xmlns:a="http://schemas.openxmlformats.org/drawingml/2006/main">
            <a:off x="628650" y="1143000"/>
            <a:ext cx="7886700" cy="647700"/>
          </a:xfrm>
          <a:prstGeom xmlns:a="http://schemas.openxmlformats.org/drawingml/2006/main" prst="rect">
            <a:avLst/>
          </a:prstGeom>
        </p:spPr>
        <p:txBody>
          <a:bodyPr xmlns:a="http://schemas.openxmlformats.org/drawingml/2006/main" vert="horz" wrap="square" lIns="68580" tIns="34290" rIns="68580" bIns="34290" anchor="t">
            <a:no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0"/>
              </a:spcBef>
              <a:spcAft>
                <a:spcPts val="1"/>
              </a:spcAft>
              <a:buNone/>
            </a:pPr>
            <a:r>
              <a:rPr sz="1600" b="1" i="0">
                <a:solidFill>
                  <a:srgbClr val="654A9B"/>
                </a:solidFill>
                <a:latin typeface="Arial"/>
                <a:ea typeface="Arial"/>
                <a:cs typeface="Arial"/>
              </a:rPr>
              <a:t>Constraint similarity becomes a soft membership score</a:t>
            </a:r>
          </a:p>
          <a:p xmlns:a="http://schemas.openxmlformats.org/drawingml/2006/main">
            <a:pPr marL="0" indent="0">
              <a:lnSpc>
                <a:spcPct val="100000"/>
              </a:lnSpc>
              <a:spcBef>
                <a:spcPts val="0"/>
              </a:spcBef>
              <a:spcAft>
                <a:spcPts val="0"/>
              </a:spcAft>
              <a:buNone/>
            </a:pPr>
            <a:r>
              <a:rPr sz="1350" b="0" i="0">
                <a:solidFill>
                  <a:srgbClr val="20252C"/>
                </a:solidFill>
                <a:latin typeface="Arial"/>
                <a:ea typeface="Arial"/>
                <a:cs typeface="Arial"/>
              </a:rPr>
              <a:t>ρ measures how closely a document constraint aligns with the code.</a:t>
            </a:r>
          </a:p>
        </p:txBody>
      </p:sp>
      <p:pic>
        <p:nvPicPr>
          <p:cNvPr id="13" name="Picture 2"/>
          <p:cNvPicPr>
            <a:picLocks xmlns:a="http://schemas.openxmlformats.org/drawingml/2006/main" noChangeAspect="1"/>
          </p:cNvPicPr>
          <p:nvPr/>
        </p:nvPicPr>
        <p:blipFill>
          <a:blip xmlns:r="http://schemas.openxmlformats.org/officeDocument/2006/relationships" xmlns:a="http://schemas.openxmlformats.org/drawingml/2006/main" r:embed="Rffe2c7075655406c"/>
          <a:stretch xmlns:a="http://schemas.openxmlformats.org/drawingml/2006/main">
            <a:fillRect l="0" t="0" r="0" b="0"/>
          </a:stretch>
        </p:blipFill>
        <p:spPr>
          <a:xfrm xmlns:a="http://schemas.openxmlformats.org/drawingml/2006/main">
            <a:off x="3024188" y="1852742"/>
            <a:ext cx="3095625" cy="400050"/>
          </a:xfrm>
          <a:prstGeom xmlns:a="http://schemas.openxmlformats.org/drawingml/2006/main" prst="rect">
            <a:avLst/>
          </a:prstGeom>
        </p:spPr>
      </p:pic>
      <p:sp>
        <p:nvSpPr>
          <p:cNvPr id="4" name="Content Placeholder 2">
            <a:extLst xmlns:a="http://schemas.openxmlformats.org/drawingml/2006/main">
              <a:ext uri="{FF2B5EF4-FFF2-40B4-BE49-F238E27FC236}">
                <a16:creationId xmlns:a16="http://schemas.microsoft.com/office/drawing/2014/main" id="{30321EC5-1CDE-CBBA-8BE0-E563F4F3CED7}"/>
              </a:ext>
            </a:extLst>
          </p:cNvPr>
          <p:cNvSpPr>
            <a:spLocks xmlns:a="http://schemas.openxmlformats.org/drawingml/2006/main" noGrp="1"/>
          </p:cNvSpPr>
          <p:nvPr/>
        </p:nvSpPr>
        <p:spPr>
          <a:xfrm xmlns:a="http://schemas.openxmlformats.org/drawingml/2006/main">
            <a:off x="628650" y="2686050"/>
            <a:ext cx="8333089" cy="2286000"/>
          </a:xfrm>
          <a:prstGeom xmlns:a="http://schemas.openxmlformats.org/drawingml/2006/main" prst="rect">
            <a:avLst/>
          </a:prstGeom>
        </p:spPr>
        <p:txBody>
          <a:bodyPr xmlns:a="http://schemas.openxmlformats.org/drawingml/2006/main" vert="horz" wrap="square" lIns="68580" tIns="34290" rIns="68580" bIns="34290" anchor="t">
            <a:no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0"/>
              </a:spcBef>
              <a:spcAft>
                <a:spcPts val="1"/>
              </a:spcAft>
              <a:buNone/>
            </a:pPr>
            <a:r>
              <a:rPr sz="1600" b="1" i="0">
                <a:solidFill>
                  <a:srgbClr val="654A9B"/>
                </a:solidFill>
                <a:latin typeface="Arial"/>
                <a:ea typeface="Arial"/>
                <a:cs typeface="Arial"/>
              </a:rPr>
              <a:t>Aligned expressions become the SMT input</a:t>
            </a:r>
          </a:p>
          <a:p xmlns:a="http://schemas.openxmlformats.org/drawingml/2006/main">
            <a:pPr marL="0" indent="0">
              <a:lnSpc>
                <a:spcPct val="100000"/>
              </a:lnSpc>
              <a:spcBef>
                <a:spcPts val="0"/>
              </a:spcBef>
              <a:spcAft>
                <a:spcPts val="0"/>
              </a:spcAft>
              <a:buNone/>
            </a:pPr>
            <a:r>
              <a:rPr sz="1350" b="0" i="0">
                <a:solidFill>
                  <a:srgbClr val="20252C"/>
                </a:solidFill>
                <a:latin typeface="Arial"/>
                <a:ea typeface="Arial"/>
                <a:cs typeface="Arial"/>
              </a:rPr>
              <a:t>Map each document expression to its closest code counterpart, then evaluate the modified constraint.</a:t>
            </a:r>
          </a:p>
          <a:p xmlns:a="http://schemas.openxmlformats.org/drawingml/2006/main">
            <a:pPr marL="0" indent="0">
              <a:lnSpc>
                <a:spcPct val="100000"/>
              </a:lnSpc>
              <a:spcBef>
                <a:spcPts val="72"/>
              </a:spcBef>
              <a:spcAft>
                <a:spcPts val="1"/>
              </a:spcAft>
              <a:buNone/>
            </a:pPr>
            <a:r>
              <a:rPr sz="1600" b="1" i="0">
                <a:solidFill>
                  <a:srgbClr val="654A9B"/>
                </a:solidFill>
                <a:latin typeface="Arial"/>
                <a:ea typeface="Arial"/>
                <a:cs typeface="Arial"/>
              </a:rPr>
              <a:t>A 0.85 threshold filters false positives</a:t>
            </a:r>
          </a:p>
          <a:p xmlns:a="http://schemas.openxmlformats.org/drawingml/2006/main">
            <a:pPr marL="0" indent="0">
              <a:lnSpc>
                <a:spcPct val="100000"/>
              </a:lnSpc>
              <a:spcBef>
                <a:spcPts val="0"/>
              </a:spcBef>
              <a:spcAft>
                <a:spcPts val="0"/>
              </a:spcAft>
              <a:buNone/>
            </a:pPr>
            <a:r>
              <a:rPr sz="1400" b="0" i="0">
                <a:solidFill>
                  <a:srgbClr val="20252C"/>
                </a:solidFill>
                <a:latin typeface="Arial"/>
                <a:ea typeface="Arial"/>
                <a:cs typeface="Arial"/>
              </a:rPr>
              <a:t>ρ &gt; 0.85 → discard; ρ ≤ 0.85 → accept.</a:t>
            </a:r>
          </a:p>
        </p:txBody>
      </p:sp>
      <p:sp>
        <p:nvSpPr>
          <p:cNvPr id="5" name="TextBox 4">
            <a:extLst xmlns:a="http://schemas.openxmlformats.org/drawingml/2006/main">
              <a:ext uri="{FF2B5EF4-FFF2-40B4-BE49-F238E27FC236}">
                <a16:creationId xmlns:a16="http://schemas.microsoft.com/office/drawing/2014/main" id="{382F7B96-4857-BD39-BBE5-7627C30D2156}"/>
              </a:ext>
            </a:extLst>
          </p:cNvPr>
          <p:cNvSpPr>
            <a:spLocks xmlns:a="http://schemas.openxmlformats.org/drawingml/2006/main" noGrp="1"/>
          </p:cNvSpPr>
          <p:nvPr/>
        </p:nvSpPr>
        <p:spPr>
          <a:xfrm xmlns:a="http://schemas.openxmlformats.org/drawingml/2006/main">
            <a:off x="3024188" y="2286000"/>
            <a:ext cx="2925591"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14:m xmlns:a14="http://schemas.microsoft.com/office/drawing/2010/main">
              <m:oMathPara xmlns:m="http://schemas.openxmlformats.org/officeDocument/2006/math">
                <m:oMathParaPr>
                  <m:jc m:val="centerGroup"/>
                </m:oMathParaPr>
                <m:oMath>
                  <m:r>
                    <a:rPr xmlns:a="http://schemas.openxmlformats.org/drawingml/2006/main" lang="en-US" i="1">
                      <a:latin typeface="Cambria Math"/>
                      <a:ea typeface="Cambria Math"/>
                      <a:cs typeface="Cambria Math"/>
                    </a:rPr>
                    <m:t>0.66∙</m:t>
                  </m:r>
                  <m:r>
                    <a:rPr xmlns:a="http://schemas.openxmlformats.org/drawingml/2006/main" lang="en-US" i="1">
                      <a:latin typeface="Cambria Math"/>
                      <a:ea typeface="Cambria Math"/>
                      <a:cs typeface="Cambria Math"/>
                    </a:rPr>
                    <m:t>𝑇𝑟𝑢𝑒</m:t>
                  </m:r>
                  <m:r>
                    <a:rPr xmlns:a="http://schemas.openxmlformats.org/drawingml/2006/main" lang="en-US" i="1">
                      <a:latin typeface="Cambria Math"/>
                      <a:ea typeface="Cambria Math"/>
                      <a:cs typeface="Cambria Math"/>
                    </a:rPr>
                    <m:t>=0.33∙</m:t>
                  </m:r>
                  <m:r>
                    <a:rPr xmlns:a="http://schemas.openxmlformats.org/drawingml/2006/main" lang="en-US" i="1">
                      <a:latin typeface="Cambria Math"/>
                      <a:ea typeface="Cambria Math"/>
                      <a:cs typeface="Cambria Math"/>
                    </a:rPr>
                    <m:t>𝐹𝑎𝑙𝑠𝑒</m:t>
                  </m:r>
                </m:oMath>
              </m:oMathPara>
            </a14:m>
          </a:p>
        </p:txBody>
      </p:sp>
      <p:sp>
        <p:nvSpPr>
          <p:cNvPr id="7" name="Slide Number Placeholder 6">
            <a:extLst xmlns:a="http://schemas.openxmlformats.org/drawingml/2006/main">
              <a:ext uri="{FF2B5EF4-FFF2-40B4-BE49-F238E27FC236}">
                <a16:creationId xmlns:a16="http://schemas.microsoft.com/office/drawing/2014/main" id="{C47A034E-FD93-508F-6B5F-489B4E13B46F}"/>
              </a:ext>
            </a:extLst>
          </p:cNvPr>
          <p:cNvSpPr>
            <a:spLocks xmlns:a="http://schemas.openxmlformats.org/drawingml/2006/main" noGrp="1"/>
          </p:cNvSpPr>
          <p:nvPr>
            <p:ph type="sldNum" idx="12"/>
          </p:nvPr>
        </p:nvSpPr>
        <p:spPr>
          <a:xfrm xmlns:a="http://schemas.openxmlformats.org/drawingml/2006/main">
            <a:off x="8096250" y="4857750"/>
            <a:ext cx="533400" cy="190500"/>
          </a:xfrm>
        </p:spPr>
        <p:txBody>
          <a:bodyPr xmlns:a="http://schemas.openxmlformats.org/drawingml/2006/main" wrap="square" anchor="t">
            <a:noAutofit/>
          </a:bodyPr>
          <a:lstStyle xmlns:a="http://schemas.openxmlformats.org/drawingml/2006/main"/>
          <a:p xmlns:a="http://schemas.openxmlformats.org/drawingml/2006/main">
            <a:pPr marL="0" indent="0">
              <a:lnSpc>
                <a:spcPct val="100000"/>
              </a:lnSpc>
              <a:spcBef>
                <a:spcPts val="0"/>
              </a:spcBef>
              <a:spcAft>
                <a:spcPts val="0"/>
              </a:spcAft>
              <a:buNone/>
            </a:pPr>
            <a:r>
              <a:rPr sz="950" b="0" i="0">
                <a:solidFill>
                  <a:srgbClr val="FFFFFF"/>
                </a:solidFill>
                <a:latin typeface="Arial"/>
                <a:ea typeface="Arial"/>
                <a:cs typeface="Arial"/>
              </a:rPr>
              <a:t>46</a:t>
            </a:r>
          </a:p>
        </p:txBody>
      </p:sp>
      <p:sp>
        <p:nvSpPr>
          <p:cNvPr id="10" name="Title 1">
            <a:extLst xmlns:a="http://schemas.openxmlformats.org/drawingml/2006/main">
              <a:ext uri="{FF2B5EF4-FFF2-40B4-BE49-F238E27FC236}">
                <a16:creationId xmlns:a16="http://schemas.microsoft.com/office/drawing/2014/main" id="{1328F484-8B50-0F69-D49F-EEA8F8930C5D}"/>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wrap="square" anchor="t">
            <a:noAutofit/>
          </a:bodyPr>
          <a:lstStyle xmlns:a="http://schemas.openxmlformats.org/drawingml/2006/main"/>
          <a:p xmlns:a="http://schemas.openxmlformats.org/drawingml/2006/main">
            <a:pPr marL="0" indent="0">
              <a:lnSpc>
                <a:spcPct val="100000"/>
              </a:lnSpc>
              <a:spcBef>
                <a:spcPts val="0"/>
              </a:spcBef>
              <a:spcAft>
                <a:spcPts val="0"/>
              </a:spcAft>
              <a:buNone/>
            </a:pPr>
            <a:r>
              <a:rPr sz="950" b="1" i="0">
                <a:solidFill>
                  <a:srgbClr val="654A9B"/>
                </a:solidFill>
                <a:latin typeface="Arial"/>
                <a:ea typeface="Arial"/>
                <a:cs typeface="Arial"/>
              </a:rPr>
              <a:t>03 / MPCHECKER · METHOD</a:t>
            </a:r>
          </a:p>
          <a:p xmlns:a="http://schemas.openxmlformats.org/drawingml/2006/main">
            <a:pPr marL="0" indent="0">
              <a:lnSpc>
                <a:spcPct val="100000"/>
              </a:lnSpc>
              <a:spcBef>
                <a:spcPts val="0"/>
              </a:spcBef>
              <a:spcAft>
                <a:spcPts val="0"/>
              </a:spcAft>
              <a:buNone/>
            </a:pPr>
            <a:r>
              <a:rPr sz="2200" b="1" i="0">
                <a:solidFill>
                  <a:srgbClr val="20252C"/>
                </a:solidFill>
                <a:latin typeface="Arial"/>
                <a:ea typeface="Arial"/>
                <a:cs typeface="Arial"/>
              </a:rPr>
              <a:t>FCL — Membership function</a:t>
            </a:r>
          </a:p>
        </p:txBody>
      </p:sp>
    </p:spTree>
    <p:extLst>
      <p:ext uri="{BB962C8B-B14F-4D97-AF65-F5344CB8AC3E}">
        <p14:creationId xmlns:p14="http://schemas.microsoft.com/office/powerpoint/2010/main" val="2714579531"/>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pic>
        <p:nvPicPr>
          <p:cNvPr id="13" name="Picture 5"/>
          <p:cNvPicPr>
            <a:picLocks xmlns:a="http://schemas.openxmlformats.org/drawingml/2006/main" noChangeAspect="1"/>
          </p:cNvPicPr>
          <p:nvPr/>
        </p:nvPicPr>
        <p:blipFill>
          <a:blip xmlns:r="http://schemas.openxmlformats.org/officeDocument/2006/relationships" xmlns:a="http://schemas.openxmlformats.org/drawingml/2006/main" r:embed="R0088d0428f6f4362"/>
          <a:srcRect xmlns:a="http://schemas.openxmlformats.org/drawingml/2006/main" l="6165" t="0" r="0" b="0"/>
          <a:stretch xmlns:a="http://schemas.openxmlformats.org/drawingml/2006/main">
            <a:fillRect l="0" t="0" r="0" b="0"/>
          </a:stretch>
        </p:blipFill>
        <p:spPr>
          <a:xfrm xmlns:a="http://schemas.openxmlformats.org/drawingml/2006/main">
            <a:off x="6409944" y="510778"/>
            <a:ext cx="2667762" cy="4461535"/>
          </a:xfrm>
          <a:prstGeom xmlns:a="http://schemas.openxmlformats.org/drawingml/2006/main" prst="rect">
            <a:avLst/>
          </a:prstGeom>
        </p:spPr>
      </p:pic>
      <p:sp>
        <p:nvSpPr>
          <p:cNvPr id="3" name="Content Placeholder 2">
            <a:extLst xmlns:a="http://schemas.openxmlformats.org/drawingml/2006/main">
              <a:ext uri="{FF2B5EF4-FFF2-40B4-BE49-F238E27FC236}">
                <a16:creationId xmlns:a16="http://schemas.microsoft.com/office/drawing/2014/main" id="{A876C990-1E17-353D-6C5D-4560202D84BF}"/>
              </a:ext>
            </a:extLst>
          </p:cNvPr>
          <p:cNvSpPr>
            <a:spLocks xmlns:a="http://schemas.openxmlformats.org/drawingml/2006/main" noGrp="1"/>
          </p:cNvSpPr>
          <p:nvPr>
            <p:ph idx="1"/>
          </p:nvPr>
        </p:nvSpPr>
        <p:spPr>
          <a:xfrm xmlns:a="http://schemas.openxmlformats.org/drawingml/2006/main">
            <a:off x="628650" y="1200150"/>
            <a:ext cx="5781294" cy="3143250"/>
          </a:xfrm>
        </p:spPr>
        <p:txBody>
          <a:bodyPr xmlns:a="http://schemas.openxmlformats.org/drawingml/2006/main" wrap="square" anchor="t">
            <a:noAutofit/>
          </a:bodyPr>
          <a:lstStyle xmlns:a="http://schemas.openxmlformats.org/drawingml/2006/main"/>
          <a:p xmlns:a="http://schemas.openxmlformats.org/drawingml/2006/main">
            <a:pPr marL="0" indent="0">
              <a:lnSpc>
                <a:spcPct val="100000"/>
              </a:lnSpc>
              <a:spcBef>
                <a:spcPts val="0"/>
              </a:spcBef>
              <a:spcAft>
                <a:spcPts val="1"/>
              </a:spcAft>
              <a:buNone/>
            </a:pPr>
            <a:r>
              <a:rPr sz="1550" b="1" i="0">
                <a:solidFill>
                  <a:srgbClr val="654A9B"/>
                </a:solidFill>
                <a:latin typeface="Arial"/>
                <a:ea typeface="Arial"/>
                <a:cs typeface="Arial"/>
              </a:rPr>
              <a:t>Dataset</a:t>
            </a:r>
          </a:p>
          <a:p xmlns:a="http://schemas.openxmlformats.org/drawingml/2006/main">
            <a:pPr marL="0" indent="0">
              <a:lnSpc>
                <a:spcPct val="100000"/>
              </a:lnSpc>
              <a:spcBef>
                <a:spcPts val="0"/>
              </a:spcBef>
              <a:spcAft>
                <a:spcPts val="0"/>
              </a:spcAft>
              <a:buNone/>
            </a:pPr>
            <a:r>
              <a:rPr sz="1250" b="0" i="0">
                <a:solidFill>
                  <a:srgbClr val="20252C"/>
                </a:solidFill>
                <a:latin typeface="Arial"/>
                <a:ea typeface="Arial"/>
                <a:cs typeface="Arial"/>
              </a:rPr>
              <a:t>72 real-world constraints from scikit-learn, SciPy, NumPy, and pandas.</a:t>
            </a:r>
          </a:p>
          <a:p xmlns:a="http://schemas.openxmlformats.org/drawingml/2006/main">
            <a:pPr marL="0" indent="0">
              <a:lnSpc>
                <a:spcPct val="100000"/>
              </a:lnSpc>
              <a:spcBef>
                <a:spcPts val="0"/>
              </a:spcBef>
              <a:spcAft>
                <a:spcPts val="0"/>
              </a:spcAft>
              <a:buNone/>
            </a:pPr>
            <a:r>
              <a:rPr sz="1250" b="0" i="0">
                <a:solidFill>
                  <a:srgbClr val="20252C"/>
                </a:solidFill>
                <a:latin typeface="Arial"/>
                <a:ea typeface="Arial"/>
                <a:cs typeface="Arial"/>
              </a:rPr>
              <a:t>Mutation yields 216 cases: 126 inconsistent and 90 consistent.</a:t>
            </a:r>
          </a:p>
          <a:p xmlns:a="http://schemas.openxmlformats.org/drawingml/2006/main">
            <a:pPr marL="0" indent="0">
              <a:lnSpc>
                <a:spcPct val="100000"/>
              </a:lnSpc>
              <a:spcBef>
                <a:spcPts val="6"/>
              </a:spcBef>
              <a:spcAft>
                <a:spcPts val="1"/>
              </a:spcAft>
              <a:buNone/>
            </a:pPr>
            <a:r>
              <a:rPr sz="1550" b="1" i="0">
                <a:solidFill>
                  <a:srgbClr val="654A9B"/>
                </a:solidFill>
                <a:latin typeface="Arial"/>
                <a:ea typeface="Arial"/>
                <a:cs typeface="Arial"/>
              </a:rPr>
              <a:t>Implementation</a:t>
            </a:r>
          </a:p>
          <a:p xmlns:a="http://schemas.openxmlformats.org/drawingml/2006/main">
            <a:pPr marL="0" indent="0">
              <a:lnSpc>
                <a:spcPct val="100000"/>
              </a:lnSpc>
              <a:spcBef>
                <a:spcPts val="0"/>
              </a:spcBef>
              <a:spcAft>
                <a:spcPts val="0"/>
              </a:spcAft>
              <a:buNone/>
            </a:pPr>
            <a:r>
              <a:rPr sz="1250" b="0" i="0">
                <a:solidFill>
                  <a:srgbClr val="20252C"/>
                </a:solidFill>
                <a:latin typeface="Arial"/>
                <a:ea typeface="Arial"/>
                <a:cs typeface="Arial"/>
              </a:rPr>
              <a:t>GPT-4 with the Z3 SMT solver.</a:t>
            </a:r>
          </a:p>
          <a:p xmlns:a="http://schemas.openxmlformats.org/drawingml/2006/main">
            <a:pPr marL="0" indent="0">
              <a:lnSpc>
                <a:spcPct val="100000"/>
              </a:lnSpc>
              <a:spcBef>
                <a:spcPts val="6"/>
              </a:spcBef>
              <a:spcAft>
                <a:spcPts val="1"/>
              </a:spcAft>
              <a:buNone/>
            </a:pPr>
            <a:r>
              <a:rPr sz="1550" b="1" i="0">
                <a:solidFill>
                  <a:srgbClr val="654A9B"/>
                </a:solidFill>
                <a:latin typeface="Arial"/>
                <a:ea typeface="Arial"/>
                <a:cs typeface="Arial"/>
              </a:rPr>
              <a:t>Research questions</a:t>
            </a:r>
          </a:p>
          <a:p xmlns:a="http://schemas.openxmlformats.org/drawingml/2006/main">
            <a:pPr marL="0" indent="0">
              <a:lnSpc>
                <a:spcPct val="100000"/>
              </a:lnSpc>
              <a:spcBef>
                <a:spcPts val="0"/>
              </a:spcBef>
              <a:spcAft>
                <a:spcPts val="0"/>
              </a:spcAft>
              <a:buNone/>
            </a:pPr>
            <a:r>
              <a:rPr sz="1250" b="0" i="0">
                <a:solidFill>
                  <a:srgbClr val="20252C"/>
                </a:solidFill>
                <a:latin typeface="Arial"/>
                <a:ea typeface="Arial"/>
                <a:cs typeface="Arial"/>
              </a:rPr>
              <a:t>RQ1 — How accurately are constraints extracted?</a:t>
            </a:r>
          </a:p>
          <a:p xmlns:a="http://schemas.openxmlformats.org/drawingml/2006/main">
            <a:pPr marL="0" indent="0">
              <a:lnSpc>
                <a:spcPct val="100000"/>
              </a:lnSpc>
              <a:spcBef>
                <a:spcPts val="0"/>
              </a:spcBef>
              <a:spcAft>
                <a:spcPts val="0"/>
              </a:spcAft>
              <a:buNone/>
            </a:pPr>
            <a:r>
              <a:rPr sz="1250" b="0" i="0">
                <a:solidFill>
                  <a:srgbClr val="20252C"/>
                </a:solidFill>
                <a:latin typeface="Arial"/>
                <a:ea typeface="Arial"/>
                <a:cs typeface="Arial"/>
              </a:rPr>
              <a:t>RQ2 — How well are inconsistencies detected?</a:t>
            </a:r>
          </a:p>
          <a:p xmlns:a="http://schemas.openxmlformats.org/drawingml/2006/main">
            <a:pPr marL="0" indent="0">
              <a:lnSpc>
                <a:spcPct val="100000"/>
              </a:lnSpc>
              <a:spcBef>
                <a:spcPts val="0"/>
              </a:spcBef>
              <a:spcAft>
                <a:spcPts val="0"/>
              </a:spcAft>
              <a:buNone/>
            </a:pPr>
            <a:r>
              <a:rPr sz="1250" b="0" i="0">
                <a:solidFill>
                  <a:srgbClr val="20252C"/>
                </a:solidFill>
                <a:latin typeface="Arial"/>
                <a:ea typeface="Arial"/>
                <a:cs typeface="Arial"/>
              </a:rPr>
              <a:t>RQ3 — Does MPChecker generalize to unseen issues?</a:t>
            </a:r>
          </a:p>
        </p:txBody>
      </p:sp>
      <p:sp>
        <p:nvSpPr>
          <p:cNvPr id="5" name="TextBox 4">
            <a:extLst xmlns:a="http://schemas.openxmlformats.org/drawingml/2006/main">
              <a:ext uri="{FF2B5EF4-FFF2-40B4-BE49-F238E27FC236}">
                <a16:creationId xmlns:a16="http://schemas.microsoft.com/office/drawing/2014/main" id="{E9BFDF14-A7A4-453A-3F74-E5AE594287DE}"/>
              </a:ext>
            </a:extLst>
          </p:cNvPr>
          <p:cNvSpPr>
            <a:spLocks xmlns:a="http://schemas.openxmlformats.org/drawingml/2006/main" noGrp="1"/>
          </p:cNvSpPr>
          <p:nvPr/>
        </p:nvSpPr>
        <p:spPr>
          <a:xfrm xmlns:a="http://schemas.openxmlformats.org/drawingml/2006/main">
            <a:off x="628650" y="4476750"/>
            <a:ext cx="5334000" cy="22860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nSpc>
                <a:spcPct val="100000"/>
              </a:lnSpc>
              <a:spcBef>
                <a:spcPts val="0"/>
              </a:spcBef>
              <a:spcAft>
                <a:spcPts val="0"/>
              </a:spcAft>
              <a:buNone/>
            </a:pPr>
            <a:r>
              <a:rPr sz="950" b="0" i="0">
                <a:solidFill>
                  <a:srgbClr val="20252C"/>
                </a:solidFill>
                <a:latin typeface="Arial"/>
                <a:ea typeface="Arial"/>
                <a:cs typeface="Arial"/>
              </a:rPr>
              <a:t>[1] MPChecker artifact · doi.org/10.5281/zenodo.15202267</a:t>
            </a:r>
          </a:p>
        </p:txBody>
      </p:sp>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01055c8849c94ef5"/>
          <a:srcRect xmlns:a="http://schemas.openxmlformats.org/drawingml/2006/main" l="0" t="0" r="0" b="0"/>
          <a:stretch xmlns:a="http://schemas.openxmlformats.org/drawingml/2006/main">
            <a:fillRect l="0" t="0" r="0" b="0"/>
          </a:stretch>
        </p:blipFill>
        <p:spPr>
          <a:xfrm xmlns:a="http://schemas.openxmlformats.org/drawingml/2006/main">
            <a:off x="4068890" y="376365"/>
            <a:ext cx="707149" cy="703404"/>
          </a:xfrm>
          <a:prstGeom xmlns:a="http://schemas.openxmlformats.org/drawingml/2006/main" prst="rect">
            <a:avLst/>
          </a:prstGeom>
        </p:spPr>
      </p:pic>
      <p:pic>
        <p:nvPicPr>
          <p:cNvPr id="17" name="Picture 4"/>
          <p:cNvPicPr>
            <a:picLocks xmlns:a="http://schemas.openxmlformats.org/drawingml/2006/main" noChangeAspect="1"/>
          </p:cNvPicPr>
          <p:nvPr/>
        </p:nvPicPr>
        <p:blipFill>
          <a:blip xmlns:r="http://schemas.openxmlformats.org/officeDocument/2006/relationships" xmlns:a="http://schemas.openxmlformats.org/drawingml/2006/main" r:embed="R3bc496ecfa7d4bad"/>
          <a:srcRect xmlns:a="http://schemas.openxmlformats.org/drawingml/2006/main" l="0" t="0" r="0" b="0"/>
          <a:stretch xmlns:a="http://schemas.openxmlformats.org/drawingml/2006/main">
            <a:fillRect l="0" t="0" r="0" b="0"/>
          </a:stretch>
        </p:blipFill>
        <p:spPr>
          <a:xfrm xmlns:a="http://schemas.openxmlformats.org/drawingml/2006/main">
            <a:off x="3226867" y="376366"/>
            <a:ext cx="707149" cy="703403"/>
          </a:xfrm>
          <a:prstGeom xmlns:a="http://schemas.openxmlformats.org/drawingml/2006/main" prst="rect">
            <a:avLst/>
          </a:prstGeom>
        </p:spPr>
      </p:pic>
      <p:sp>
        <p:nvSpPr>
          <p:cNvPr id="4" name="Slide Number Placeholder 6">
            <a:extLst xmlns:a="http://schemas.openxmlformats.org/drawingml/2006/main">
              <a:ext uri="{FF2B5EF4-FFF2-40B4-BE49-F238E27FC236}">
                <a16:creationId xmlns:a16="http://schemas.microsoft.com/office/drawing/2014/main" id="{E857777B-BB11-EA38-8A1B-CD9FBF3DD85A}"/>
              </a:ext>
            </a:extLst>
          </p:cNvPr>
          <p:cNvSpPr>
            <a:spLocks xmlns:a="http://schemas.openxmlformats.org/drawingml/2006/main" noGrp="1"/>
          </p:cNvSpPr>
          <p:nvPr>
            <p:ph type="sldNum" idx="12"/>
          </p:nvPr>
        </p:nvSpPr>
        <p:spPr>
          <a:xfrm xmlns:a="http://schemas.openxmlformats.org/drawingml/2006/main">
            <a:off x="6457950" y="4767263"/>
            <a:ext cx="2057400" cy="273844"/>
          </a:xfrm>
        </p:spPr>
        <p:txBody>
          <a:bodyPr xmlns:a="http://schemas.openxmlformats.org/drawingml/2006/main"/>
          <a:lstStyle xmlns:a="http://schemas.openxmlformats.org/drawingml/2006/main"/>
          <a:p xmlns:a="http://schemas.openxmlformats.org/drawingml/2006/main">
            <a:fld id="{AFAD317D-785F-D548-8C8D-E6A38DF552FC}" type="slidenum">
              <a:t>47</a:t>
            </a:fld>
          </a:p>
        </p:txBody>
      </p:sp>
      <p:sp>
        <p:nvSpPr>
          <p:cNvPr id="9" name="Title 1">
            <a:extLst xmlns:a="http://schemas.openxmlformats.org/drawingml/2006/main">
              <a:ext uri="{FF2B5EF4-FFF2-40B4-BE49-F238E27FC236}">
                <a16:creationId xmlns:a16="http://schemas.microsoft.com/office/drawing/2014/main" id="{81CF6003-D6BC-F603-4218-9AF7BF859529}"/>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a:t>
            </a:r>
            <a:r>
              <a:rPr sz="950" b="1">
                <a:solidFill>
                  <a:srgbClr val="654A9B"/>
                </a:solidFill>
              </a:rPr>
              <a:t>EVALUATION</a:t>
            </a:r>
          </a:p>
          <a:p xmlns:a="http://schemas.openxmlformats.org/drawingml/2006/main">
            <a:pPr>
              <a:lnSpc>
                <a:spcPct val="98000"/>
              </a:lnSpc>
              <a:buNone/>
            </a:pPr>
            <a:r>
              <a:rPr sz="2250" b="1">
                <a:solidFill>
                  <a:srgbClr val="20252C"/>
                </a:solidFill>
              </a:rPr>
              <a:t>Evaluation</a:t>
            </a:r>
          </a:p>
        </p:txBody>
      </p:sp>
    </p:spTree>
    <p:extLst>
      <p:ext uri="{BB962C8B-B14F-4D97-AF65-F5344CB8AC3E}">
        <p14:creationId xmlns:p14="http://schemas.microsoft.com/office/powerpoint/2010/main" val="56394553"/>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pic>
        <p:nvPicPr>
          <p:cNvPr id="11" name="Picture 4"/>
          <p:cNvPicPr>
            <a:picLocks xmlns:a="http://schemas.openxmlformats.org/drawingml/2006/main" noChangeAspect="1"/>
          </p:cNvPicPr>
          <p:nvPr/>
        </p:nvPicPr>
        <p:blipFill>
          <a:blip xmlns:r="http://schemas.openxmlformats.org/officeDocument/2006/relationships" xmlns:a="http://schemas.openxmlformats.org/drawingml/2006/main" r:embed="R9ae305d13c194c4a"/>
          <a:stretch xmlns:a="http://schemas.openxmlformats.org/drawingml/2006/main">
            <a:fillRect l="0" t="0" r="0" b="0"/>
          </a:stretch>
        </p:blipFill>
        <p:spPr>
          <a:xfrm xmlns:a="http://schemas.openxmlformats.org/drawingml/2006/main">
            <a:off x="628650" y="1277942"/>
            <a:ext cx="7317728" cy="1452513"/>
          </a:xfrm>
          <a:prstGeom xmlns:a="http://schemas.openxmlformats.org/drawingml/2006/main" prst="rect">
            <a:avLst/>
          </a:prstGeom>
        </p:spPr>
      </p:pic>
      <p:sp>
        <p:nvSpPr>
          <p:cNvPr id="6" name="Content Placeholder 2">
            <a:extLst xmlns:a="http://schemas.openxmlformats.org/drawingml/2006/main">
              <a:ext uri="{FF2B5EF4-FFF2-40B4-BE49-F238E27FC236}">
                <a16:creationId xmlns:a16="http://schemas.microsoft.com/office/drawing/2014/main" id="{5515C356-5D43-0F4E-B60C-EC811A38DCF8}"/>
              </a:ext>
            </a:extLst>
          </p:cNvPr>
          <p:cNvSpPr>
            <a:spLocks xmlns:a="http://schemas.openxmlformats.org/drawingml/2006/main" noGrp="1"/>
          </p:cNvSpPr>
          <p:nvPr/>
        </p:nvSpPr>
        <p:spPr>
          <a:xfrm xmlns:a="http://schemas.openxmlformats.org/drawingml/2006/main">
            <a:off x="180780" y="2941597"/>
            <a:ext cx="7886700" cy="1211650"/>
          </a:xfrm>
          <a:prstGeom xmlns:a="http://schemas.openxmlformats.org/drawingml/2006/main" prst="rect">
            <a:avLst/>
          </a:prstGeom>
        </p:spPr>
        <p:txBody>
          <a:bodyPr xmlns:a="http://schemas.openxmlformats.org/drawingml/2006/main" vert="horz" lIns="68580" tIns="34290" rIns="68580" bIns="34290">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lvl="1">
              <a:buNone/>
            </a:pPr>
            <a:r>
              <a:rPr sz="1800">
                <a:latin typeface="Gill Sans MT"/>
                <a:ea typeface="Gill Sans MT"/>
                <a:cs typeface="Gill Sans MT"/>
              </a:rPr>
              <a:t>Few-shot learning and </a:t>
            </a:r>
            <a:r>
              <a:rPr sz="1800">
                <a:latin typeface="Gill Sans MT"/>
                <a:ea typeface="Gill Sans MT"/>
                <a:cs typeface="Gill Sans MT"/>
              </a:rPr>
              <a:t>CoT</a:t>
            </a:r>
            <a:r>
              <a:rPr sz="1800">
                <a:latin typeface="Gill Sans MT"/>
                <a:ea typeface="Gill Sans MT"/>
                <a:cs typeface="Gill Sans MT"/>
              </a:rPr>
              <a:t> can help LLM</a:t>
            </a:r>
            <a:r>
              <a:rPr sz="1800">
                <a:latin typeface="Gill Sans MT"/>
                <a:ea typeface="Gill Sans MT"/>
                <a:cs typeface="Gill Sans MT"/>
              </a:rPr>
              <a:t> </a:t>
            </a:r>
            <a:r>
              <a:rPr sz="1800">
                <a:latin typeface="Gill Sans MT"/>
                <a:ea typeface="Gill Sans MT"/>
                <a:cs typeface="Gill Sans MT"/>
              </a:rPr>
              <a:t>in this task</a:t>
            </a:r>
          </a:p>
          <a:p xmlns:a="http://schemas.openxmlformats.org/drawingml/2006/main">
            <a:pPr lvl="1">
              <a:buNone/>
            </a:pPr>
            <a:r>
              <a:rPr sz="1800">
                <a:latin typeface="Gill Sans MT"/>
                <a:ea typeface="Gill Sans MT"/>
                <a:cs typeface="Gill Sans MT"/>
              </a:rPr>
              <a:t>66/72=</a:t>
            </a:r>
            <a:r>
              <a:rPr sz="1800">
                <a:solidFill>
                  <a:srgbClr val="FF0000"/>
                </a:solidFill>
                <a:latin typeface="Gill Sans MT"/>
                <a:ea typeface="Gill Sans MT"/>
                <a:cs typeface="Gill Sans MT"/>
              </a:rPr>
              <a:t>91.7%</a:t>
            </a:r>
            <a:r>
              <a:rPr sz="1800">
                <a:latin typeface="Gill Sans MT"/>
                <a:ea typeface="Gill Sans MT"/>
                <a:cs typeface="Gill Sans MT"/>
              </a:rPr>
              <a:t> demonstrates </a:t>
            </a:r>
            <a:r>
              <a:rPr sz="1800">
                <a:latin typeface="Gill Sans MT"/>
                <a:ea typeface="Gill Sans MT"/>
                <a:cs typeface="Gill Sans MT"/>
              </a:rPr>
              <a:t>MPChecker</a:t>
            </a:r>
            <a:r>
              <a:rPr sz="1800">
                <a:latin typeface="Gill Sans MT"/>
                <a:ea typeface="Gill Sans MT"/>
                <a:cs typeface="Gill Sans MT"/>
              </a:rPr>
              <a:t> is </a:t>
            </a:r>
            <a:r>
              <a:rPr sz="1800">
                <a:solidFill>
                  <a:srgbClr val="FF0000"/>
                </a:solidFill>
                <a:latin typeface="Gill Sans MT"/>
                <a:ea typeface="Gill Sans MT"/>
                <a:cs typeface="Gill Sans MT"/>
              </a:rPr>
              <a:t>effective</a:t>
            </a:r>
            <a:r>
              <a:rPr sz="1800">
                <a:latin typeface="Gill Sans MT"/>
                <a:ea typeface="Gill Sans MT"/>
                <a:cs typeface="Gill Sans MT"/>
              </a:rPr>
              <a:t> in extracting logical constraints from doc</a:t>
            </a:r>
          </a:p>
        </p:txBody>
      </p:sp>
      <p:sp>
        <p:nvSpPr>
          <p:cNvPr id="4" name="Slide Number Placeholder 3">
            <a:extLst xmlns:a="http://schemas.openxmlformats.org/drawingml/2006/main">
              <a:ext uri="{FF2B5EF4-FFF2-40B4-BE49-F238E27FC236}">
                <a16:creationId xmlns:a16="http://schemas.microsoft.com/office/drawing/2014/main" id="{247CBA1C-6AEA-2081-6194-801E2BCE82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FAD317D-785F-D548-8C8D-E6A38DF552FC}" type="slidenum">
              <a:t>48</a:t>
            </a:fld>
          </a:p>
        </p:txBody>
      </p:sp>
      <p:sp>
        <p:nvSpPr>
          <p:cNvPr id="9" name="Title 1">
            <a:extLst xmlns:a="http://schemas.openxmlformats.org/drawingml/2006/main">
              <a:ext uri="{FF2B5EF4-FFF2-40B4-BE49-F238E27FC236}">
                <a16:creationId xmlns:a16="http://schemas.microsoft.com/office/drawing/2014/main" id="{F10907FF-0683-A5EC-24DC-DA70B0CB1EEE}"/>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fontScale="96361"/>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a:t>
            </a:r>
            <a:r>
              <a:rPr sz="950" b="1">
                <a:solidFill>
                  <a:srgbClr val="654A9B"/>
                </a:solidFill>
              </a:rPr>
              <a:t>EVALUATION</a:t>
            </a:r>
          </a:p>
          <a:p xmlns:a="http://schemas.openxmlformats.org/drawingml/2006/main">
            <a:pPr>
              <a:lnSpc>
                <a:spcPct val="98000"/>
              </a:lnSpc>
              <a:buNone/>
            </a:pPr>
            <a:r>
              <a:rPr sz="2250" b="1">
                <a:solidFill>
                  <a:srgbClr val="20252C"/>
                </a:solidFill>
              </a:rPr>
              <a:t>RQ1: How accurately does MPChecker extract API constraints?</a:t>
            </a:r>
          </a:p>
        </p:txBody>
      </p:sp>
    </p:spTree>
    <p:extLst>
      <p:ext uri="{BB962C8B-B14F-4D97-AF65-F5344CB8AC3E}">
        <p14:creationId xmlns:p14="http://schemas.microsoft.com/office/powerpoint/2010/main" val="867119617"/>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pic>
        <p:nvPicPr>
          <p:cNvPr id="17" name="Picture 5"/>
          <p:cNvPicPr>
            <a:picLocks xmlns:a="http://schemas.openxmlformats.org/drawingml/2006/main" noChangeAspect="1"/>
          </p:cNvPicPr>
          <p:nvPr/>
        </p:nvPicPr>
        <p:blipFill>
          <a:blip xmlns:r="http://schemas.openxmlformats.org/officeDocument/2006/relationships" xmlns:a="http://schemas.openxmlformats.org/drawingml/2006/main" r:embed="R3dfb2808f90c40aa"/>
          <a:stretch xmlns:a="http://schemas.openxmlformats.org/drawingml/2006/main">
            <a:fillRect l="0" t="0" r="0" b="0"/>
          </a:stretch>
        </p:blipFill>
        <p:spPr>
          <a:xfrm xmlns:a="http://schemas.openxmlformats.org/drawingml/2006/main">
            <a:off x="576422" y="1164703"/>
            <a:ext cx="8345720" cy="1501128"/>
          </a:xfrm>
          <a:prstGeom xmlns:a="http://schemas.openxmlformats.org/drawingml/2006/main" prst="rect">
            <a:avLst/>
          </a:prstGeom>
        </p:spPr>
      </p:pic>
      <p:sp>
        <p:nvSpPr>
          <p:cNvPr id="10" name="Content Placeholder 2">
            <a:extLst xmlns:a="http://schemas.openxmlformats.org/drawingml/2006/main">
              <a:ext uri="{FF2B5EF4-FFF2-40B4-BE49-F238E27FC236}">
                <a16:creationId xmlns:a16="http://schemas.microsoft.com/office/drawing/2014/main" id="{DEB8D36C-C0E2-FF11-08DA-E9EEADE7BB78}"/>
              </a:ext>
            </a:extLst>
          </p:cNvPr>
          <p:cNvSpPr>
            <a:spLocks xmlns:a="http://schemas.openxmlformats.org/drawingml/2006/main" noGrp="1"/>
          </p:cNvSpPr>
          <p:nvPr/>
        </p:nvSpPr>
        <p:spPr>
          <a:xfrm xmlns:a="http://schemas.openxmlformats.org/drawingml/2006/main">
            <a:off x="115466" y="3020493"/>
            <a:ext cx="8253296" cy="1450870"/>
          </a:xfrm>
          <a:prstGeom xmlns:a="http://schemas.openxmlformats.org/drawingml/2006/main" prst="rect">
            <a:avLst/>
          </a:prstGeom>
        </p:spPr>
        <p:txBody>
          <a:bodyPr xmlns:a="http://schemas.openxmlformats.org/drawingml/2006/main" vert="horz" lIns="68580" tIns="34290" rIns="68580" bIns="34290">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lvl="1">
              <a:buNone/>
            </a:pPr>
            <a:r>
              <a:rPr sz="1800">
                <a:latin typeface="Gill Sans MT"/>
                <a:ea typeface="Gill Sans MT"/>
                <a:cs typeface="Gill Sans MT"/>
              </a:rPr>
              <a:t>LLM</a:t>
            </a:r>
            <a:r>
              <a:rPr sz="1800">
                <a:latin typeface="Gill Sans MT"/>
                <a:ea typeface="Gill Sans MT"/>
                <a:cs typeface="Gill Sans MT"/>
              </a:rPr>
              <a:t> </a:t>
            </a:r>
            <a:r>
              <a:rPr sz="1800">
                <a:latin typeface="Gill Sans MT"/>
                <a:ea typeface="Gill Sans MT"/>
                <a:cs typeface="Gill Sans MT"/>
              </a:rPr>
              <a:t>performs</a:t>
            </a:r>
            <a:r>
              <a:rPr sz="1800">
                <a:latin typeface="Gill Sans MT"/>
                <a:ea typeface="Gill Sans MT"/>
                <a:cs typeface="Gill Sans MT"/>
              </a:rPr>
              <a:t> </a:t>
            </a:r>
            <a:r>
              <a:rPr sz="1800">
                <a:solidFill>
                  <a:srgbClr val="FF0000"/>
                </a:solidFill>
                <a:latin typeface="Gill Sans MT"/>
                <a:ea typeface="Gill Sans MT"/>
                <a:cs typeface="Gill Sans MT"/>
              </a:rPr>
              <a:t>poorly</a:t>
            </a:r>
            <a:r>
              <a:rPr sz="1800">
                <a:latin typeface="Gill Sans MT"/>
                <a:ea typeface="Gill Sans MT"/>
                <a:cs typeface="Gill Sans MT"/>
              </a:rPr>
              <a:t> as end-to-end inconsistency checker</a:t>
            </a:r>
          </a:p>
          <a:p xmlns:a="http://schemas.openxmlformats.org/drawingml/2006/main">
            <a:pPr lvl="1">
              <a:buNone/>
            </a:pPr>
            <a:r>
              <a:rPr sz="1800">
                <a:latin typeface="Gill Sans MT"/>
                <a:ea typeface="Gill Sans MT"/>
                <a:cs typeface="Gill Sans MT"/>
              </a:rPr>
              <a:t>LLM Results: Correct conclusion + vague / incorrect reasons</a:t>
            </a:r>
          </a:p>
          <a:p xmlns:a="http://schemas.openxmlformats.org/drawingml/2006/main">
            <a:pPr lvl="1">
              <a:buNone/>
            </a:pPr>
            <a:r>
              <a:rPr sz="1800">
                <a:latin typeface="Gill Sans MT"/>
                <a:ea typeface="Gill Sans MT"/>
                <a:cs typeface="Gill Sans MT"/>
              </a:rPr>
              <a:t>117/126=</a:t>
            </a:r>
            <a:r>
              <a:rPr sz="1800">
                <a:solidFill>
                  <a:srgbClr val="FF0000"/>
                </a:solidFill>
                <a:latin typeface="Gill Sans MT"/>
                <a:ea typeface="Gill Sans MT"/>
                <a:cs typeface="Gill Sans MT"/>
              </a:rPr>
              <a:t>92.8%</a:t>
            </a:r>
            <a:r>
              <a:rPr sz="1800">
                <a:latin typeface="Gill Sans MT"/>
                <a:ea typeface="Gill Sans MT"/>
                <a:cs typeface="Gill Sans MT"/>
              </a:rPr>
              <a:t> shows </a:t>
            </a:r>
            <a:r>
              <a:rPr sz="1800">
                <a:latin typeface="Gill Sans MT"/>
                <a:ea typeface="Gill Sans MT"/>
                <a:cs typeface="Gill Sans MT"/>
              </a:rPr>
              <a:t>MPChecker</a:t>
            </a:r>
            <a:r>
              <a:rPr sz="1800">
                <a:latin typeface="Gill Sans MT"/>
                <a:ea typeface="Gill Sans MT"/>
                <a:cs typeface="Gill Sans MT"/>
              </a:rPr>
              <a:t> is </a:t>
            </a:r>
            <a:r>
              <a:rPr sz="1800">
                <a:solidFill>
                  <a:srgbClr val="FF0000"/>
                </a:solidFill>
                <a:latin typeface="Gill Sans MT"/>
                <a:ea typeface="Gill Sans MT"/>
                <a:cs typeface="Gill Sans MT"/>
              </a:rPr>
              <a:t>effective</a:t>
            </a:r>
            <a:r>
              <a:rPr sz="1800">
                <a:latin typeface="Gill Sans MT"/>
                <a:ea typeface="Gill Sans MT"/>
                <a:cs typeface="Gill Sans MT"/>
              </a:rPr>
              <a:t> in detecting inconsistent errors</a:t>
            </a:r>
          </a:p>
          <a:p xmlns:a="http://schemas.openxmlformats.org/drawingml/2006/main">
            <a:pPr lvl="1">
              <a:buNone/>
            </a:pPr>
            <a:r>
              <a:rPr sz="1800">
                <a:latin typeface="Gill Sans MT"/>
                <a:ea typeface="Gill Sans MT"/>
                <a:cs typeface="Gill Sans MT"/>
              </a:rPr>
              <a:t>Fuzzy words and fuzzy constraint logic </a:t>
            </a:r>
            <a:r>
              <a:rPr sz="1800">
                <a:solidFill>
                  <a:srgbClr val="FF0000"/>
                </a:solidFill>
                <a:latin typeface="Gill Sans MT"/>
                <a:ea typeface="Gill Sans MT"/>
                <a:cs typeface="Gill Sans MT"/>
              </a:rPr>
              <a:t>improve recall by 23.8%</a:t>
            </a:r>
          </a:p>
        </p:txBody>
      </p:sp>
      <p:sp>
        <p:nvSpPr>
          <p:cNvPr id="12" name="TextBox 11">
            <a:extLst xmlns:a="http://schemas.openxmlformats.org/drawingml/2006/main">
              <a:ext uri="{FF2B5EF4-FFF2-40B4-BE49-F238E27FC236}">
                <a16:creationId xmlns:a16="http://schemas.microsoft.com/office/drawing/2014/main" id="{AA6ED58D-E214-719A-8EAE-37F3BB1CE7CE}"/>
              </a:ext>
            </a:extLst>
          </p:cNvPr>
          <p:cNvSpPr>
            <a:spLocks xmlns:a="http://schemas.openxmlformats.org/drawingml/2006/main" noGrp="1"/>
          </p:cNvSpPr>
          <p:nvPr/>
        </p:nvSpPr>
        <p:spPr>
          <a:xfrm xmlns:a="http://schemas.openxmlformats.org/drawingml/2006/main">
            <a:off x="2876550" y="1519238"/>
            <a:ext cx="3714750" cy="2095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nSpc>
                <a:spcPct val="100000"/>
              </a:lnSpc>
              <a:spcBef>
                <a:spcPts val="0"/>
              </a:spcBef>
              <a:spcAft>
                <a:spcPts val="0"/>
              </a:spcAft>
              <a:buNone/>
            </a:pPr>
            <a:r>
              <a:rPr sz="1050" b="0" i="0">
                <a:solidFill>
                  <a:srgbClr val="0070C0"/>
                </a:solidFill>
                <a:latin typeface="Arial"/>
                <a:ea typeface="Arial"/>
                <a:cs typeface="Arial"/>
              </a:rPr>
              <a:t>raw docs + code → LLM</a:t>
            </a:r>
          </a:p>
        </p:txBody>
      </p:sp>
      <p:sp>
        <p:nvSpPr>
          <p:cNvPr id="13" name="TextBox 12">
            <a:extLst xmlns:a="http://schemas.openxmlformats.org/drawingml/2006/main">
              <a:ext uri="{FF2B5EF4-FFF2-40B4-BE49-F238E27FC236}">
                <a16:creationId xmlns:a16="http://schemas.microsoft.com/office/drawing/2014/main" id="{DB3C1921-C83A-6550-2A4B-F05140E79934}"/>
              </a:ext>
            </a:extLst>
          </p:cNvPr>
          <p:cNvSpPr>
            <a:spLocks xmlns:a="http://schemas.openxmlformats.org/drawingml/2006/main" noGrp="1"/>
          </p:cNvSpPr>
          <p:nvPr/>
        </p:nvSpPr>
        <p:spPr>
          <a:xfrm xmlns:a="http://schemas.openxmlformats.org/drawingml/2006/main">
            <a:off x="2876550" y="2290763"/>
            <a:ext cx="3714750" cy="2095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nSpc>
                <a:spcPct val="100000"/>
              </a:lnSpc>
              <a:spcBef>
                <a:spcPts val="0"/>
              </a:spcBef>
              <a:spcAft>
                <a:spcPts val="0"/>
              </a:spcAft>
              <a:buNone/>
            </a:pPr>
            <a:r>
              <a:rPr sz="1050" b="0" i="0">
                <a:solidFill>
                  <a:srgbClr val="0070C0"/>
                </a:solidFill>
                <a:latin typeface="Arial"/>
                <a:ea typeface="Arial"/>
                <a:cs typeface="Arial"/>
              </a:rPr>
              <a:t>doc + code constraints + fuzzy logic → Z3</a:t>
            </a:r>
          </a:p>
        </p:txBody>
      </p:sp>
      <p:sp>
        <p:nvSpPr>
          <p:cNvPr id="14" name="TextBox 13">
            <a:extLst xmlns:a="http://schemas.openxmlformats.org/drawingml/2006/main">
              <a:ext uri="{FF2B5EF4-FFF2-40B4-BE49-F238E27FC236}">
                <a16:creationId xmlns:a16="http://schemas.microsoft.com/office/drawing/2014/main" id="{31423EB0-2FF9-D62B-79F1-606E44C55729}"/>
              </a:ext>
            </a:extLst>
          </p:cNvPr>
          <p:cNvSpPr>
            <a:spLocks xmlns:a="http://schemas.openxmlformats.org/drawingml/2006/main" noGrp="1"/>
          </p:cNvSpPr>
          <p:nvPr/>
        </p:nvSpPr>
        <p:spPr>
          <a:xfrm xmlns:a="http://schemas.openxmlformats.org/drawingml/2006/main">
            <a:off x="2876550" y="1776413"/>
            <a:ext cx="3714750" cy="2095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nSpc>
                <a:spcPct val="100000"/>
              </a:lnSpc>
              <a:spcBef>
                <a:spcPts val="0"/>
              </a:spcBef>
              <a:spcAft>
                <a:spcPts val="0"/>
              </a:spcAft>
              <a:buNone/>
            </a:pPr>
            <a:r>
              <a:rPr sz="1050" b="0" i="0">
                <a:solidFill>
                  <a:srgbClr val="0070C0"/>
                </a:solidFill>
                <a:latin typeface="Arial"/>
                <a:ea typeface="Arial"/>
                <a:cs typeface="Arial"/>
              </a:rPr>
              <a:t>doc constraint + code → LLM</a:t>
            </a:r>
          </a:p>
        </p:txBody>
      </p:sp>
      <p:sp>
        <p:nvSpPr>
          <p:cNvPr id="15" name="TextBox 14">
            <a:extLst xmlns:a="http://schemas.openxmlformats.org/drawingml/2006/main">
              <a:ext uri="{FF2B5EF4-FFF2-40B4-BE49-F238E27FC236}">
                <a16:creationId xmlns:a16="http://schemas.microsoft.com/office/drawing/2014/main" id="{D431A140-A770-4321-8FAD-E4BBBA1B1DB2}"/>
              </a:ext>
            </a:extLst>
          </p:cNvPr>
          <p:cNvSpPr>
            <a:spLocks xmlns:a="http://schemas.openxmlformats.org/drawingml/2006/main" noGrp="1"/>
          </p:cNvSpPr>
          <p:nvPr/>
        </p:nvSpPr>
        <p:spPr>
          <a:xfrm xmlns:a="http://schemas.openxmlformats.org/drawingml/2006/main">
            <a:off x="2876550" y="2033588"/>
            <a:ext cx="3714750" cy="209550"/>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marL="0" indent="0">
              <a:lnSpc>
                <a:spcPct val="100000"/>
              </a:lnSpc>
              <a:spcBef>
                <a:spcPts val="0"/>
              </a:spcBef>
              <a:spcAft>
                <a:spcPts val="0"/>
              </a:spcAft>
              <a:buNone/>
            </a:pPr>
            <a:r>
              <a:rPr sz="1050" b="0" i="0">
                <a:solidFill>
                  <a:srgbClr val="0070C0"/>
                </a:solidFill>
                <a:latin typeface="Arial"/>
                <a:ea typeface="Arial"/>
                <a:cs typeface="Arial"/>
              </a:rPr>
              <a:t>doc + code constraints → Z3</a:t>
            </a:r>
          </a:p>
        </p:txBody>
      </p:sp>
      <p:sp>
        <p:nvSpPr>
          <p:cNvPr id="4" name="Slide Number Placeholder 3">
            <a:extLst xmlns:a="http://schemas.openxmlformats.org/drawingml/2006/main">
              <a:ext uri="{FF2B5EF4-FFF2-40B4-BE49-F238E27FC236}">
                <a16:creationId xmlns:a16="http://schemas.microsoft.com/office/drawing/2014/main" id="{15234040-A419-4E21-7796-B964FB8ADF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FAD317D-785F-D548-8C8D-E6A38DF552FC}" type="slidenum">
              <a:t>49</a:t>
            </a:fld>
          </a:p>
        </p:txBody>
      </p:sp>
      <p:sp>
        <p:nvSpPr>
          <p:cNvPr id="8" name="Title 1">
            <a:extLst xmlns:a="http://schemas.openxmlformats.org/drawingml/2006/main">
              <a:ext uri="{FF2B5EF4-FFF2-40B4-BE49-F238E27FC236}">
                <a16:creationId xmlns:a16="http://schemas.microsoft.com/office/drawing/2014/main" id="{4F704E6D-A748-6466-3FC4-A10A2B5DFED1}"/>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normAutofit fontScale="90000"/>
          </a:bodyPr>
          <a:lstStyle xmlns:a="http://schemas.openxmlformats.org/drawingml/2006/main"/>
          <a:p xmlns:a="http://schemas.openxmlformats.org/drawingml/2006/main">
            <a:pPr>
              <a:lnSpc>
                <a:spcPct val="98000"/>
              </a:lnSpc>
              <a:spcAft>
                <a:spcPts val="4"/>
              </a:spcAft>
              <a:buNone/>
            </a:pPr>
            <a:r>
              <a:rPr sz="950" b="1">
                <a:solidFill>
                  <a:srgbClr val="654A9B"/>
                </a:solidFill>
              </a:rPr>
              <a:t>03 / MPCHECKER · </a:t>
            </a:r>
            <a:r>
              <a:rPr sz="950" b="1">
                <a:solidFill>
                  <a:srgbClr val="654A9B"/>
                </a:solidFill>
              </a:rPr>
              <a:t>EVALUATION</a:t>
            </a:r>
          </a:p>
          <a:p xmlns:a="http://schemas.openxmlformats.org/drawingml/2006/main">
            <a:pPr>
              <a:lnSpc>
                <a:spcPct val="98000"/>
              </a:lnSpc>
              <a:buNone/>
            </a:pPr>
            <a:r>
              <a:rPr sz="2250" b="1">
                <a:solidFill>
                  <a:srgbClr val="20252C"/>
                </a:solidFill>
              </a:rPr>
              <a:t>RQ2: How effective is </a:t>
            </a:r>
            <a:r>
              <a:rPr sz="2250" b="1">
                <a:solidFill>
                  <a:srgbClr val="20252C"/>
                </a:solidFill>
              </a:rPr>
              <a:t>MPChecker</a:t>
            </a:r>
            <a:r>
              <a:rPr sz="2250" b="1">
                <a:solidFill>
                  <a:srgbClr val="20252C"/>
                </a:solidFill>
              </a:rPr>
              <a:t> in detecting errors related to multi-parameter constraints in API documentation?</a:t>
            </a:r>
          </a:p>
        </p:txBody>
      </p:sp>
    </p:spTree>
    <p:extLst>
      <p:ext uri="{BB962C8B-B14F-4D97-AF65-F5344CB8AC3E}">
        <p14:creationId xmlns:p14="http://schemas.microsoft.com/office/powerpoint/2010/main" val="3081065792"/>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4" name="Content Placeholder 2">
            <a:extLst xmlns:a="http://schemas.openxmlformats.org/drawingml/2006/main">
              <a:ext uri="{FF2B5EF4-FFF2-40B4-BE49-F238E27FC236}">
                <a16:creationId xmlns:a16="http://schemas.microsoft.com/office/drawing/2014/main" id="{8CD3592C-C722-9A70-021B-A4668152207C}"/>
              </a:ext>
            </a:extLst>
          </p:cNvPr>
          <p:cNvSpPr>
            <a:spLocks xmlns:a="http://schemas.openxmlformats.org/drawingml/2006/main" noGrp="1"/>
          </p:cNvSpPr>
          <p:nvPr/>
        </p:nvSpPr>
        <p:spPr>
          <a:xfrm xmlns:a="http://schemas.openxmlformats.org/drawingml/2006/main">
            <a:off x="628650" y="3026569"/>
            <a:ext cx="7886700" cy="2116931"/>
          </a:xfrm>
          <a:prstGeom xmlns:a="http://schemas.openxmlformats.org/drawingml/2006/main" prst="rect">
            <a:avLst/>
          </a:prstGeom>
        </p:spPr>
        <p:txBody>
          <a:bodyPr xmlns:a="http://schemas.openxmlformats.org/drawingml/2006/main" vert="horz" lIns="68580" tIns="34290" rIns="68580" bIns="34290">
            <a:norm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lvl="1">
              <a:buNone/>
            </a:pPr>
          </a:p>
        </p:txBody>
      </p:sp>
      <p:pic>
        <p:nvPicPr>
          <p:cNvPr id="26" name="Picture 5"/>
          <p:cNvPicPr>
            <a:picLocks xmlns:a="http://schemas.openxmlformats.org/drawingml/2006/main" noChangeAspect="1"/>
          </p:cNvPicPr>
          <p:nvPr/>
        </p:nvPicPr>
        <p:blipFill>
          <a:blip xmlns:r="http://schemas.openxmlformats.org/officeDocument/2006/relationships" xmlns:a="http://schemas.openxmlformats.org/drawingml/2006/main" r:embed="R3f6dc53e5d1e43fe"/>
          <a:stretch xmlns:a="http://schemas.openxmlformats.org/drawingml/2006/main">
            <a:fillRect l="0" t="0" r="0" b="0"/>
          </a:stretch>
        </p:blipFill>
        <p:spPr>
          <a:xfrm xmlns:a="http://schemas.openxmlformats.org/drawingml/2006/main">
            <a:off x="305827" y="2954038"/>
            <a:ext cx="1716425" cy="1837242"/>
          </a:xfrm>
          <a:prstGeom xmlns:a="http://schemas.openxmlformats.org/drawingml/2006/main" prst="rect">
            <a:avLst/>
          </a:prstGeom>
        </p:spPr>
      </p:pic>
      <p:pic>
        <p:nvPicPr>
          <p:cNvPr id="27" name="Picture 6"/>
          <p:cNvPicPr>
            <a:picLocks xmlns:a="http://schemas.openxmlformats.org/drawingml/2006/main" noChangeAspect="1"/>
          </p:cNvPicPr>
          <p:nvPr/>
        </p:nvPicPr>
        <p:blipFill>
          <a:blip xmlns:r="http://schemas.openxmlformats.org/officeDocument/2006/relationships" xmlns:a="http://schemas.openxmlformats.org/drawingml/2006/main" r:embed="Rca5958b637e1445c"/>
          <a:stretch xmlns:a="http://schemas.openxmlformats.org/drawingml/2006/main">
            <a:fillRect l="0" t="0" r="0" b="0"/>
          </a:stretch>
        </p:blipFill>
        <p:spPr>
          <a:xfrm xmlns:a="http://schemas.openxmlformats.org/drawingml/2006/main">
            <a:off x="2229247" y="2954038"/>
            <a:ext cx="2206499" cy="1882561"/>
          </a:xfrm>
          <a:prstGeom xmlns:a="http://schemas.openxmlformats.org/drawingml/2006/main" prst="rect">
            <a:avLst/>
          </a:prstGeom>
        </p:spPr>
      </p:pic>
      <p:pic>
        <p:nvPicPr>
          <p:cNvPr id="28" name="Picture 7"/>
          <p:cNvPicPr>
            <a:picLocks xmlns:a="http://schemas.openxmlformats.org/drawingml/2006/main" noChangeAspect="1"/>
          </p:cNvPicPr>
          <p:nvPr/>
        </p:nvPicPr>
        <p:blipFill>
          <a:blip xmlns:r="http://schemas.openxmlformats.org/officeDocument/2006/relationships" xmlns:a="http://schemas.openxmlformats.org/drawingml/2006/main" r:embed="R6169ebe076cb4326"/>
          <a:stretch xmlns:a="http://schemas.openxmlformats.org/drawingml/2006/main">
            <a:fillRect l="0" t="0" r="0" b="0"/>
          </a:stretch>
        </p:blipFill>
        <p:spPr>
          <a:xfrm xmlns:a="http://schemas.openxmlformats.org/drawingml/2006/main">
            <a:off x="4642742" y="2945481"/>
            <a:ext cx="2055873" cy="1698761"/>
          </a:xfrm>
          <a:prstGeom xmlns:a="http://schemas.openxmlformats.org/drawingml/2006/main" prst="rect">
            <a:avLst/>
          </a:prstGeom>
        </p:spPr>
      </p:pic>
      <p:pic>
        <p:nvPicPr>
          <p:cNvPr id="29" name="Picture 8"/>
          <p:cNvPicPr>
            <a:picLocks xmlns:a="http://schemas.openxmlformats.org/drawingml/2006/main" noChangeAspect="1"/>
          </p:cNvPicPr>
          <p:nvPr/>
        </p:nvPicPr>
        <p:blipFill>
          <a:blip xmlns:r="http://schemas.openxmlformats.org/officeDocument/2006/relationships" xmlns:a="http://schemas.openxmlformats.org/drawingml/2006/main" r:embed="Rd454334987454cba"/>
          <a:stretch xmlns:a="http://schemas.openxmlformats.org/drawingml/2006/main">
            <a:fillRect l="0" t="0" r="0" b="0"/>
          </a:stretch>
        </p:blipFill>
        <p:spPr>
          <a:xfrm xmlns:a="http://schemas.openxmlformats.org/drawingml/2006/main">
            <a:off x="6905611" y="2954037"/>
            <a:ext cx="2238389" cy="1327766"/>
          </a:xfrm>
          <a:prstGeom xmlns:a="http://schemas.openxmlformats.org/drawingml/2006/main" prst="rect">
            <a:avLst/>
          </a:prstGeom>
        </p:spPr>
      </p:pic>
      <p:pic>
        <p:nvPicPr>
          <p:cNvPr id="30" name="Picture 2"/>
          <p:cNvPicPr>
            <a:picLocks xmlns:a="http://schemas.openxmlformats.org/drawingml/2006/main" noChangeAspect="1"/>
          </p:cNvPicPr>
          <p:nvPr/>
        </p:nvPicPr>
        <p:blipFill>
          <a:blip xmlns:r="http://schemas.openxmlformats.org/officeDocument/2006/relationships" xmlns:a="http://schemas.openxmlformats.org/drawingml/2006/main" r:embed="R8cf6b2a7469a4067"/>
          <a:srcRect xmlns:a="http://schemas.openxmlformats.org/drawingml/2006/main" l="0" t="0" r="0" b="0"/>
          <a:stretch xmlns:a="http://schemas.openxmlformats.org/drawingml/2006/main">
            <a:fillRect l="0" t="0" r="0" b="0"/>
          </a:stretch>
        </p:blipFill>
        <p:spPr>
          <a:xfrm xmlns:a="http://schemas.openxmlformats.org/drawingml/2006/main">
            <a:off x="7368275" y="2452561"/>
            <a:ext cx="1147075" cy="332622"/>
          </a:xfrm>
          <a:prstGeom xmlns:a="http://schemas.openxmlformats.org/drawingml/2006/main" prst="rect">
            <a:avLst/>
          </a:prstGeom>
        </p:spPr>
      </p:pic>
      <p:pic>
        <p:nvPicPr>
          <p:cNvPr id="31" name="Picture 4"/>
          <p:cNvPicPr>
            <a:picLocks xmlns:a="http://schemas.openxmlformats.org/drawingml/2006/main" noChangeAspect="1"/>
          </p:cNvPicPr>
          <p:nvPr/>
        </p:nvPicPr>
        <p:blipFill>
          <a:blip xmlns:r="http://schemas.openxmlformats.org/officeDocument/2006/relationships" xmlns:a="http://schemas.openxmlformats.org/drawingml/2006/main" r:embed="Rd7d948e806304f6d"/>
          <a:srcRect xmlns:a="http://schemas.openxmlformats.org/drawingml/2006/main" l="0" t="0" r="0" b="0"/>
          <a:stretch xmlns:a="http://schemas.openxmlformats.org/drawingml/2006/main">
            <a:fillRect l="0" t="0" r="0" b="0"/>
          </a:stretch>
        </p:blipFill>
        <p:spPr>
          <a:xfrm xmlns:a="http://schemas.openxmlformats.org/drawingml/2006/main">
            <a:off x="5148889" y="2452561"/>
            <a:ext cx="1043577" cy="369736"/>
          </a:xfrm>
          <a:prstGeom xmlns:a="http://schemas.openxmlformats.org/drawingml/2006/main" prst="rect">
            <a:avLst/>
          </a:prstGeom>
        </p:spPr>
      </p:pic>
      <p:pic>
        <p:nvPicPr>
          <p:cNvPr id="32" name="Picture 6"/>
          <p:cNvPicPr>
            <a:picLocks xmlns:a="http://schemas.openxmlformats.org/drawingml/2006/main" noChangeAspect="1"/>
          </p:cNvPicPr>
          <p:nvPr/>
        </p:nvPicPr>
        <p:blipFill>
          <a:blip xmlns:r="http://schemas.openxmlformats.org/officeDocument/2006/relationships" xmlns:a="http://schemas.openxmlformats.org/drawingml/2006/main" r:embed="Re9f22081ab384ba4"/>
          <a:srcRect xmlns:a="http://schemas.openxmlformats.org/drawingml/2006/main" l="0" t="0" r="0" b="0"/>
          <a:stretch xmlns:a="http://schemas.openxmlformats.org/drawingml/2006/main">
            <a:fillRect l="0" t="0" r="0" b="0"/>
          </a:stretch>
        </p:blipFill>
        <p:spPr>
          <a:xfrm xmlns:a="http://schemas.openxmlformats.org/drawingml/2006/main">
            <a:off x="805932" y="2371556"/>
            <a:ext cx="688469" cy="372816"/>
          </a:xfrm>
          <a:prstGeom xmlns:a="http://schemas.openxmlformats.org/drawingml/2006/main" prst="rect">
            <a:avLst/>
          </a:prstGeom>
        </p:spPr>
      </p:pic>
      <p:pic>
        <p:nvPicPr>
          <p:cNvPr id="33" name="Picture 4"/>
          <p:cNvPicPr>
            <a:picLocks xmlns:a="http://schemas.openxmlformats.org/drawingml/2006/main" noChangeAspect="1"/>
          </p:cNvPicPr>
          <p:nvPr/>
        </p:nvPicPr>
        <p:blipFill>
          <a:blip xmlns:r="http://schemas.openxmlformats.org/officeDocument/2006/relationships" xmlns:a="http://schemas.openxmlformats.org/drawingml/2006/main" r:embed="R3a3815afd4594feb"/>
          <a:srcRect xmlns:a="http://schemas.openxmlformats.org/drawingml/2006/main" l="0" t="0" r="0" b="0"/>
          <a:stretch xmlns:a="http://schemas.openxmlformats.org/drawingml/2006/main">
            <a:fillRect l="0" t="0" r="0" b="0"/>
          </a:stretch>
        </p:blipFill>
        <p:spPr>
          <a:xfrm xmlns:a="http://schemas.openxmlformats.org/drawingml/2006/main">
            <a:off x="3081523" y="2474848"/>
            <a:ext cx="480244" cy="347449"/>
          </a:xfrm>
          <a:prstGeom xmlns:a="http://schemas.openxmlformats.org/drawingml/2006/main" prst="rect">
            <a:avLst/>
          </a:prstGeom>
        </p:spPr>
      </p:pic>
      <p:sp>
        <p:nvSpPr>
          <p:cNvPr id="5" name="Slide Number Placeholder 4">
            <a:extLst xmlns:a="http://schemas.openxmlformats.org/drawingml/2006/main">
              <a:ext uri="{FF2B5EF4-FFF2-40B4-BE49-F238E27FC236}">
                <a16:creationId xmlns:a16="http://schemas.microsoft.com/office/drawing/2014/main" id="{EF2C8D81-13AE-D0A5-409E-48A66CC619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FAD317D-785F-D548-8C8D-E6A38DF552FC}" type="slidenum">
              <a:t>50</a:t>
            </a:fld>
          </a:p>
        </p:txBody>
      </p:sp>
      <p:sp>
        <p:nvSpPr>
          <p:cNvPr id="13" name="Title 1">
            <a:extLst xmlns:a="http://schemas.openxmlformats.org/drawingml/2006/main">
              <a:ext uri="{FF2B5EF4-FFF2-40B4-BE49-F238E27FC236}">
                <a16:creationId xmlns:a16="http://schemas.microsoft.com/office/drawing/2014/main" id="{2498A2A3-936E-5CBC-45EB-A163EA42E4EB}"/>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wrap="square" anchor="t">
            <a:noAutofit/>
          </a:bodyPr>
          <a:lstStyle xmlns:a="http://schemas.openxmlformats.org/drawingml/2006/main"/>
          <a:p xmlns:a="http://schemas.openxmlformats.org/drawingml/2006/main">
            <a:pPr marL="0" indent="0">
              <a:lnSpc>
                <a:spcPct val="100000"/>
              </a:lnSpc>
              <a:spcBef>
                <a:spcPts val="0"/>
              </a:spcBef>
              <a:spcAft>
                <a:spcPts val="0"/>
              </a:spcAft>
              <a:buNone/>
            </a:pPr>
            <a:r>
              <a:rPr sz="950" b="1" i="0">
                <a:solidFill>
                  <a:srgbClr val="654A9B"/>
                </a:solidFill>
                <a:latin typeface="Arial"/>
                <a:ea typeface="Arial"/>
                <a:cs typeface="Arial"/>
              </a:rPr>
              <a:t>03 / MPCHECKER · EVALUATION</a:t>
            </a:r>
          </a:p>
          <a:p xmlns:a="http://schemas.openxmlformats.org/drawingml/2006/main">
            <a:pPr marL="0" indent="0">
              <a:lnSpc>
                <a:spcPct val="100000"/>
              </a:lnSpc>
              <a:spcBef>
                <a:spcPts val="0"/>
              </a:spcBef>
              <a:spcAft>
                <a:spcPts val="0"/>
              </a:spcAft>
              <a:buNone/>
            </a:pPr>
            <a:r>
              <a:rPr sz="2200" b="1" i="0">
                <a:solidFill>
                  <a:srgbClr val="20252C"/>
                </a:solidFill>
                <a:latin typeface="Arial"/>
                <a:ea typeface="Arial"/>
                <a:cs typeface="Arial"/>
              </a:rPr>
              <a:t>RQ3: Can MPChecker detect unknown inconsistencies?</a:t>
            </a:r>
          </a:p>
        </p:txBody>
      </p:sp>
      <p:sp>
        <p:nvSpPr>
          <p:cNvPr id="16" name="Content Placeholder 2">
            <a:extLst xmlns:a="http://schemas.openxmlformats.org/drawingml/2006/main">
              <a:ext uri="{FF2B5EF4-FFF2-40B4-BE49-F238E27FC236}">
                <a16:creationId xmlns:a16="http://schemas.microsoft.com/office/drawing/2014/main" id="{94695041-119D-8DB6-07F3-997E82B6643C}"/>
              </a:ext>
            </a:extLst>
          </p:cNvPr>
          <p:cNvSpPr>
            <a:spLocks xmlns:a="http://schemas.openxmlformats.org/drawingml/2006/main" noGrp="1"/>
          </p:cNvSpPr>
          <p:nvPr/>
        </p:nvSpPr>
        <p:spPr>
          <a:xfrm xmlns:a="http://schemas.openxmlformats.org/drawingml/2006/main">
            <a:off x="628650" y="1066800"/>
            <a:ext cx="7886700" cy="1200150"/>
          </a:xfrm>
          <a:prstGeom xmlns:a="http://schemas.openxmlformats.org/drawingml/2006/main" prst="rect">
            <a:avLst/>
          </a:prstGeom>
        </p:spPr>
        <p:txBody>
          <a:bodyPr xmlns:a="http://schemas.openxmlformats.org/drawingml/2006/main" vert="horz" wrap="square" lIns="68580" tIns="34290" rIns="68580" bIns="34290" anchor="t">
            <a:no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0"/>
              </a:spcBef>
              <a:spcAft>
                <a:spcPts val="0"/>
              </a:spcAft>
              <a:buNone/>
            </a:pPr>
            <a:r>
              <a:rPr sz="1550" b="0" i="0">
                <a:solidFill>
                  <a:srgbClr val="20252C"/>
                </a:solidFill>
                <a:latin typeface="Arial"/>
                <a:ea typeface="Arial"/>
                <a:cs typeface="Arial"/>
              </a:rPr>
              <a:t>Issue reports confirmed: 11/14 (</a:t>
            </a:r>
            <a:r>
              <a:rPr sz="1550" b="0" i="0">
                <a:solidFill>
                  <a:srgbClr val="FF0000"/>
                </a:solidFill>
                <a:latin typeface="Arial"/>
                <a:ea typeface="Arial"/>
                <a:cs typeface="Arial"/>
              </a:rPr>
              <a:t>78.6%</a:t>
            </a:r>
            <a:r>
              <a:rPr sz="1550" b="0" i="0">
                <a:solidFill>
                  <a:srgbClr val="20252C"/>
                </a:solidFill>
                <a:latin typeface="Arial"/>
                <a:ea typeface="Arial"/>
                <a:cs typeface="Arial"/>
              </a:rPr>
              <a:t>).</a:t>
            </a:r>
          </a:p>
          <a:p xmlns:a="http://schemas.openxmlformats.org/drawingml/2006/main">
            <a:pPr marL="0" indent="0">
              <a:lnSpc>
                <a:spcPct val="100000"/>
              </a:lnSpc>
              <a:spcBef>
                <a:spcPts val="0"/>
              </a:spcBef>
              <a:spcAft>
                <a:spcPts val="0"/>
              </a:spcAft>
              <a:buNone/>
            </a:pPr>
            <a:r>
              <a:rPr sz="1550" b="0" i="0">
                <a:solidFill>
                  <a:srgbClr val="20252C"/>
                </a:solidFill>
                <a:latin typeface="Arial"/>
                <a:ea typeface="Arial"/>
                <a:cs typeface="Arial"/>
              </a:rPr>
              <a:t>10/11 were resolved: </a:t>
            </a:r>
            <a:r>
              <a:rPr sz="1550" b="0" i="0">
                <a:solidFill>
                  <a:srgbClr val="FF0000"/>
                </a:solidFill>
                <a:latin typeface="Arial"/>
                <a:ea typeface="Arial"/>
                <a:cs typeface="Arial"/>
              </a:rPr>
              <a:t>7 documentation fixes; 3 code + documentation fixes</a:t>
            </a:r>
            <a:r>
              <a:rPr sz="1550" b="0" i="0">
                <a:solidFill>
                  <a:srgbClr val="20252C"/>
                </a:solidFill>
                <a:latin typeface="Arial"/>
                <a:ea typeface="Arial"/>
                <a:cs typeface="Arial"/>
              </a:rPr>
              <a:t>.</a:t>
            </a:r>
          </a:p>
          <a:p xmlns:a="http://schemas.openxmlformats.org/drawingml/2006/main">
            <a:pPr marL="0" indent="0">
              <a:lnSpc>
                <a:spcPct val="100000"/>
              </a:lnSpc>
              <a:spcBef>
                <a:spcPts val="0"/>
              </a:spcBef>
              <a:spcAft>
                <a:spcPts val="0"/>
              </a:spcAft>
              <a:buNone/>
            </a:pPr>
            <a:r>
              <a:rPr sz="1550" b="0" i="0">
                <a:solidFill>
                  <a:srgbClr val="20252C"/>
                </a:solidFill>
                <a:latin typeface="Arial"/>
                <a:ea typeface="Arial"/>
                <a:cs typeface="Arial"/>
              </a:rPr>
              <a:t>MPChecker detects previously unknown API documentation errors.</a:t>
            </a:r>
          </a:p>
          <a:p xmlns:a="http://schemas.openxmlformats.org/drawingml/2006/main">
            <a:pPr marL="0" indent="0">
              <a:lnSpc>
                <a:spcPct val="100000"/>
              </a:lnSpc>
              <a:spcBef>
                <a:spcPts val="0"/>
              </a:spcBef>
              <a:spcAft>
                <a:spcPts val="0"/>
              </a:spcAft>
              <a:buNone/>
            </a:pPr>
            <a:r>
              <a:rPr sz="1550" b="0" i="0">
                <a:solidFill>
                  <a:srgbClr val="20252C"/>
                </a:solidFill>
                <a:latin typeface="Arial"/>
                <a:ea typeface="Arial"/>
                <a:cs typeface="Arial"/>
              </a:rPr>
              <a:t>It generalizes to </a:t>
            </a:r>
            <a:r>
              <a:rPr sz="1550" b="0" i="0">
                <a:solidFill>
                  <a:srgbClr val="FF0000"/>
                </a:solidFill>
                <a:latin typeface="Arial"/>
                <a:ea typeface="Arial"/>
                <a:cs typeface="Arial"/>
              </a:rPr>
              <a:t>unseen libraries</a:t>
            </a:r>
            <a:r>
              <a:rPr sz="1550" b="0" i="0">
                <a:solidFill>
                  <a:srgbClr val="20252C"/>
                </a:solidFill>
                <a:latin typeface="Arial"/>
                <a:ea typeface="Arial"/>
                <a:cs typeface="Arial"/>
              </a:rPr>
              <a:t>.</a:t>
            </a:r>
          </a:p>
        </p:txBody>
      </p:sp>
    </p:spTree>
    <p:extLst>
      <p:ext uri="{BB962C8B-B14F-4D97-AF65-F5344CB8AC3E}">
        <p14:creationId xmlns:p14="http://schemas.microsoft.com/office/powerpoint/2010/main" val="438467842"/>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341C1A8-5A87-482E-BD6B-7478B65F82BD}"/>
              </a:ext>
            </a:extLst>
          </p:cNvPr>
          <p:cNvSpPr>
            <a:spLocks xmlns:a="http://schemas.openxmlformats.org/drawingml/2006/main" noGrp="1"/>
          </p:cNvSpPr>
          <p:nvPr>
            <p:ph type="title" idx="0"/>
          </p:nvPr>
        </p:nvSpPr>
        <p:spPr>
          <a:xfrm xmlns:a="http://schemas.openxmlformats.org/drawingml/2006/main">
            <a:off x="457200" y="190500"/>
            <a:ext cx="8229600" cy="876300"/>
          </a:xfrm>
        </p:spPr>
        <p:txBody>
          <a:bodyPr xmlns:a="http://schemas.openxmlformats.org/drawingml/2006/main"/>
          <a:lstStyle xmlns:a="http://schemas.openxmlformats.org/drawingml/2006/main"/>
          <a:p xmlns:a="http://schemas.openxmlformats.org/drawingml/2006/main">
            <a:pPr>
              <a:lnSpc>
                <a:spcPct val="98000"/>
              </a:lnSpc>
              <a:spcAft>
                <a:spcPts val="4"/>
              </a:spcAft>
              <a:buNone/>
            </a:pPr>
            <a:r>
              <a:rPr sz="950" b="1">
                <a:solidFill>
                  <a:srgbClr val="0055A5"/>
                </a:solidFill>
              </a:rPr>
              <a:t>SYNTHESIS / BOUNDARIES &amp; NEXT</a:t>
            </a:r>
          </a:p>
          <a:p xmlns:a="http://schemas.openxmlformats.org/drawingml/2006/main">
            <a:pPr>
              <a:lnSpc>
                <a:spcPct val="98000"/>
              </a:lnSpc>
              <a:buNone/>
            </a:pPr>
            <a:r>
              <a:rPr sz="2150" b="1">
                <a:solidFill>
                  <a:srgbClr val="20252C"/>
                </a:solidFill>
              </a:rPr>
              <a:t>The evidence is substantive—and deliberately bounded</a:t>
            </a:r>
          </a:p>
        </p:txBody>
      </p:sp>
      <p:sp>
        <p:nvSpPr>
          <p:cNvPr id="3" name="Content Placeholder 2">
            <a:extLst xmlns:a="http://schemas.openxmlformats.org/drawingml/2006/main">
              <a:ext uri="{FF2B5EF4-FFF2-40B4-BE49-F238E27FC236}">
                <a16:creationId xmlns:a16="http://schemas.microsoft.com/office/drawing/2014/main" id="{93188B2E-172E-4F35-AE61-2055E08986B4}"/>
              </a:ext>
            </a:extLst>
          </p:cNvPr>
          <p:cNvSpPr>
            <a:spLocks xmlns:a="http://schemas.openxmlformats.org/drawingml/2006/main" noGrp="1"/>
          </p:cNvSpPr>
          <p:nvPr>
            <p:ph idx="1"/>
          </p:nvPr>
        </p:nvSpPr>
        <p:spPr>
          <a:xfrm xmlns:a="http://schemas.openxmlformats.org/drawingml/2006/main">
            <a:off x="457200" y="1428750"/>
            <a:ext cx="4000500" cy="2571750"/>
          </a:xfrm>
        </p:spPr>
        <p:txBody>
          <a:bodyPr xmlns:a="http://schemas.openxmlformats.org/drawingml/2006/main" wrap="square" anchor="t">
            <a:noAutofit/>
          </a:bodyPr>
          <a:lstStyle xmlns:a="http://schemas.openxmlformats.org/drawingml/2006/main"/>
          <a:p xmlns:a="http://schemas.openxmlformats.org/drawingml/2006/main">
            <a:pPr marL="0" indent="0">
              <a:lnSpc>
                <a:spcPct val="103000"/>
              </a:lnSpc>
              <a:spcBef>
                <a:spcPts val="0"/>
              </a:spcBef>
              <a:spcAft>
                <a:spcPts val="1"/>
              </a:spcAft>
              <a:buNone/>
            </a:pPr>
            <a:r>
              <a:rPr sz="1700" b="1" i="0">
                <a:solidFill>
                  <a:srgbClr val="0055A5"/>
                </a:solidFill>
                <a:latin typeface="Arial"/>
                <a:ea typeface="Arial"/>
                <a:cs typeface="Arial"/>
              </a:rPr>
              <a:t>Coverage ends where observable evidence ends</a:t>
            </a:r>
          </a:p>
          <a:p xmlns:a="http://schemas.openxmlformats.org/drawingml/2006/main">
            <a:pPr marL="0" indent="0">
              <a:lnSpc>
                <a:spcPct val="103000"/>
              </a:lnSpc>
              <a:spcBef>
                <a:spcPts val="0"/>
              </a:spcBef>
              <a:spcAft>
                <a:spcPts val="0"/>
              </a:spcAft>
              <a:buNone/>
            </a:pPr>
            <a:r>
              <a:rPr sz="1400" b="0" i="0">
                <a:solidFill>
                  <a:srgbClr val="20252C"/>
                </a:solidFill>
                <a:latin typeface="Arial"/>
                <a:ea typeface="Arial"/>
                <a:cs typeface="Arial"/>
              </a:rPr>
              <a:t>Tests, extracted fact types, and explored paths bound the guarantee.</a:t>
            </a:r>
          </a:p>
          <a:p xmlns:a="http://schemas.openxmlformats.org/drawingml/2006/main">
            <a:pPr marL="0" indent="0">
              <a:lnSpc>
                <a:spcPct val="103000"/>
              </a:lnSpc>
              <a:spcBef>
                <a:spcPts val="6"/>
              </a:spcBef>
              <a:spcAft>
                <a:spcPts val="1"/>
              </a:spcAft>
              <a:buNone/>
            </a:pPr>
            <a:r>
              <a:rPr sz="1700" b="1" i="0">
                <a:solidFill>
                  <a:srgbClr val="0055A5"/>
                </a:solidFill>
                <a:latin typeface="Arial"/>
                <a:ea typeface="Arial"/>
                <a:cs typeface="Arial"/>
              </a:rPr>
              <a:t>Broader evidence can support verified repair</a:t>
            </a:r>
          </a:p>
          <a:p xmlns:a="http://schemas.openxmlformats.org/drawingml/2006/main">
            <a:pPr marL="0" indent="0">
              <a:lnSpc>
                <a:spcPct val="103000"/>
              </a:lnSpc>
              <a:spcBef>
                <a:spcPts val="0"/>
              </a:spcBef>
              <a:spcAft>
                <a:spcPts val="0"/>
              </a:spcAft>
              <a:buNone/>
            </a:pPr>
            <a:r>
              <a:rPr sz="1400" b="0" i="0">
                <a:solidFill>
                  <a:srgbClr val="20252C"/>
                </a:solidFill>
                <a:latin typeface="Arial"/>
                <a:ea typeface="Arial"/>
                <a:cs typeface="Arial"/>
              </a:rPr>
              <a:t>Extend frontends and program facts; add automatic repair, self-healing, and verifiable intermediate representations.</a:t>
            </a:r>
          </a:p>
        </p:txBody>
      </p:sp>
      <p:sp>
        <p:nvSpPr>
          <p:cNvPr id="4" name="Footer Placeholder 3">
            <a:extLst xmlns:a="http://schemas.openxmlformats.org/drawingml/2006/main">
              <a:ext uri="{FF2B5EF4-FFF2-40B4-BE49-F238E27FC236}">
                <a16:creationId xmlns:a16="http://schemas.microsoft.com/office/drawing/2014/main" id="{809FEF1E-06B8-4B90-8292-2374FD45CC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SYNTHESIS / BOUNDARIES &amp; FUTURE WORK</a:t>
            </a:r>
          </a:p>
        </p:txBody>
      </p:sp>
      <p:pic>
        <p:nvPicPr>
          <p:cNvPr id="10" name="Picture 4"/>
          <p:cNvPicPr>
            <a:picLocks xmlns:a="http://schemas.openxmlformats.org/drawingml/2006/main" noChangeAspect="1"/>
          </p:cNvPicPr>
          <p:nvPr/>
        </p:nvPicPr>
        <p:blipFill>
          <a:blip xmlns:r="http://schemas.openxmlformats.org/officeDocument/2006/relationships" xmlns:a="http://schemas.openxmlformats.org/drawingml/2006/main" r:embed="R9a70ea41d51e4624"/>
          <a:stretch xmlns:a="http://schemas.openxmlformats.org/drawingml/2006/main"/>
        </p:blipFill>
        <p:spPr>
          <a:xfrm xmlns:a="http://schemas.openxmlformats.org/drawingml/2006/main">
            <a:off x="5095875" y="1066800"/>
            <a:ext cx="3333750" cy="3333750"/>
          </a:xfrm>
          <a:prstGeom xmlns:a="http://schemas.openxmlformats.org/drawingml/2006/main" prst="rect">
            <a:avLst/>
          </a:prstGeom>
        </p:spPr>
      </p:pic>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39ee0ae53add4230"/>
          <a:stretch xmlns:a="http://schemas.openxmlformats.org/drawingml/2006/main"/>
        </p:blipFill>
        <p:spPr>
          <a:xfrm xmlns:a="http://schemas.openxmlformats.org/drawingml/2006/main">
            <a:off x="4905375" y="1571772"/>
            <a:ext cx="3714750" cy="2323805"/>
          </a:xfrm>
          <a:prstGeom xmlns:a="http://schemas.openxmlformats.org/drawingml/2006/main" prst="rect">
            <a:avLst/>
          </a:prstGeom>
        </p:spPr>
      </p:pic>
    </p:spTree>
    <p:extLst>
      <p:ext uri="{BB962C8B-B14F-4D97-AF65-F5344CB8AC3E}">
        <p14:creationId xmlns:p14="http://schemas.microsoft.com/office/powerpoint/2010/main" val="315781521"/>
      </p:ext>
    </p:extLst>
  </p:cSld>
</p:sld>
</file>

<file path=ppt/slides/slide52.xml><?xml version="1.0" encoding="utf-8"?>
<p:sld xmlns:p="http://schemas.openxmlformats.org/presentationml/2006/main" showMasterSp="0">
  <p:cSld>
    <p:bg>
      <p:bgPr>
        <a:blipFill xmlns:a="http://schemas.openxmlformats.org/drawingml/2006/main" rotWithShape="1">
          <a:blip xmlns:r="http://schemas.openxmlformats.org/officeDocument/2006/relationships" r:embed="R5dbb472b56f44dd4"/>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AF1F75-9662-49B5-A479-C9C75D6EEF74}"/>
              </a:ext>
            </a:extLst>
          </p:cNvPr>
          <p:cNvSpPr>
            <a:spLocks xmlns:a="http://schemas.openxmlformats.org/drawingml/2006/main" noGrp="1"/>
          </p:cNvSpPr>
          <p:nvPr>
            <p:ph type="ctrTitle" idx="0"/>
          </p:nvPr>
        </p:nvSpPr>
        <p:spPr>
          <a:xfrm xmlns:a="http://schemas.openxmlformats.org/drawingml/2006/main">
            <a:off x="2686050" y="1428750"/>
            <a:ext cx="6048375" cy="1809750"/>
          </a:xfrm>
        </p:spPr>
        <p:txBody>
          <a:bodyPr xmlns:a="http://schemas.openxmlformats.org/drawingml/2006/main" lIns="0" tIns="0" rIns="0" bIns="0" anchor="ctr">
            <a:normAutofit/>
          </a:bodyPr>
          <a:lstStyle xmlns:a="http://schemas.openxmlformats.org/drawingml/2006/main"/>
          <a:p xmlns:a="http://schemas.openxmlformats.org/drawingml/2006/main">
            <a:pPr>
              <a:lnSpc>
                <a:spcPct val="94000"/>
              </a:lnSpc>
              <a:spcAft>
                <a:spcPts val="5"/>
              </a:spcAft>
              <a:buNone/>
            </a:pPr>
            <a:r>
              <a:rPr sz="2700" b="1">
                <a:solidFill>
                  <a:srgbClr val="FFFFFF"/>
                </a:solidFill>
              </a:rPr>
              <a:t>Reliable evolution needs</a:t>
            </a:r>
          </a:p>
          <a:p xmlns:a="http://schemas.openxmlformats.org/drawingml/2006/main">
            <a:pPr>
              <a:lnSpc>
                <a:spcPct val="94000"/>
              </a:lnSpc>
              <a:spcAft>
                <a:spcPts val="0"/>
              </a:spcAft>
              <a:buNone/>
            </a:pPr>
            <a:r>
              <a:rPr sz="2700" b="1">
                <a:solidFill>
                  <a:srgbClr val="FFFFFF"/>
                </a:solidFill>
              </a:rPr>
              <a:t>neural flexibility,</a:t>
            </a:r>
          </a:p>
          <a:p xmlns:a="http://schemas.openxmlformats.org/drawingml/2006/main">
            <a:pPr>
              <a:lnSpc>
                <a:spcPct val="94000"/>
              </a:lnSpc>
              <a:spcAft>
                <a:spcPts val="0"/>
              </a:spcAft>
              <a:buNone/>
            </a:pPr>
            <a:r>
              <a:rPr sz="2700" b="1">
                <a:solidFill>
                  <a:srgbClr val="FFFFFF"/>
                </a:solidFill>
              </a:rPr>
              <a:t>executable evidence, and formal logic</a:t>
            </a:r>
          </a:p>
        </p:txBody>
      </p:sp>
      <p:sp>
        <p:nvSpPr>
          <p:cNvPr id="3" name="Subtitle 2">
            <a:extLst xmlns:a="http://schemas.openxmlformats.org/drawingml/2006/main">
              <a:ext uri="{FF2B5EF4-FFF2-40B4-BE49-F238E27FC236}">
                <a16:creationId xmlns:a16="http://schemas.microsoft.com/office/drawing/2014/main" id="{9C674DA4-4902-47E5-A15A-5A8E5AC5057C}"/>
              </a:ext>
            </a:extLst>
          </p:cNvPr>
          <p:cNvSpPr>
            <a:spLocks xmlns:a="http://schemas.openxmlformats.org/drawingml/2006/main" noGrp="1"/>
          </p:cNvSpPr>
          <p:nvPr>
            <p:ph type="subTitle" idx="1"/>
          </p:nvPr>
        </p:nvSpPr>
        <p:spPr>
          <a:xfrm xmlns:a="http://schemas.openxmlformats.org/drawingml/2006/main">
            <a:off x="2686050" y="3476625"/>
            <a:ext cx="5476875" cy="762000"/>
          </a:xfrm>
        </p:spPr>
        <p:txBody>
          <a:bodyPr xmlns:a="http://schemas.openxmlformats.org/drawingml/2006/main" lIns="0" tIns="0" rIns="0" bIns="0">
            <a:normAutofit/>
          </a:bodyPr>
          <a:lstStyle xmlns:a="http://schemas.openxmlformats.org/drawingml/2006/main"/>
          <a:p xmlns:a="http://schemas.openxmlformats.org/drawingml/2006/main">
            <a:pPr algn="l">
              <a:lnSpc>
                <a:spcPct val="108000"/>
              </a:lnSpc>
              <a:buNone/>
              <a:defRPr sz="1200" b="1">
                <a:solidFill>
                  <a:srgbClr val="FFFFFF"/>
                </a:solidFill>
              </a:defRPr>
            </a:pPr>
            <a:r>
              <a:rPr sz="1200" b="1">
                <a:solidFill>
                  <a:srgbClr val="FFFFFF"/>
                </a:solidFill>
              </a:rPr>
              <a:t>Xiufeng Xu</a:t>
            </a:r>
          </a:p>
          <a:p xmlns:a="http://schemas.openxmlformats.org/drawingml/2006/main">
            <a:pPr algn="l">
              <a:lnSpc>
                <a:spcPct val="108000"/>
              </a:lnSpc>
              <a:buNone/>
              <a:defRPr sz="1200" b="1">
                <a:solidFill>
                  <a:srgbClr val="FFFFFF"/>
                </a:solidFill>
              </a:defRPr>
            </a:pPr>
            <a:r>
              <a:rPr sz="1200" b="1">
                <a:solidFill>
                  <a:srgbClr val="FFFFFF"/>
                </a:solidFill>
              </a:rPr>
              <a:t>Thank you · Questions</a:t>
            </a:r>
          </a:p>
        </p:txBody>
      </p:sp>
    </p:spTree>
    <p:extLst>
      <p:ext uri="{BB962C8B-B14F-4D97-AF65-F5344CB8AC3E}">
        <p14:creationId xmlns:p14="http://schemas.microsoft.com/office/powerpoint/2010/main" val="116020714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2026-08-03T08:21:19.8010000Z</dcterms:created>
  <dcterms:modified xsi:type="dcterms:W3CDTF">2026-08-03T08:21:19.8010000Z</dcterms:modified>
</coreProperties>
</file>